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9"/>
  </p:notesMasterIdLst>
  <p:sldIdLst>
    <p:sldId id="256" r:id="rId3"/>
    <p:sldId id="257" r:id="rId4"/>
    <p:sldId id="258" r:id="rId5"/>
    <p:sldId id="259" r:id="rId6"/>
    <p:sldId id="270" r:id="rId7"/>
    <p:sldId id="263" r:id="rId8"/>
    <p:sldId id="264" r:id="rId9"/>
    <p:sldId id="269" r:id="rId10"/>
    <p:sldId id="272" r:id="rId11"/>
    <p:sldId id="265" r:id="rId12"/>
    <p:sldId id="266" r:id="rId13"/>
    <p:sldId id="267" r:id="rId14"/>
    <p:sldId id="268" r:id="rId15"/>
    <p:sldId id="273" r:id="rId16"/>
    <p:sldId id="286" r:id="rId17"/>
    <p:sldId id="287" r:id="rId18"/>
    <p:sldId id="284" r:id="rId19"/>
    <p:sldId id="285" r:id="rId20"/>
    <p:sldId id="288" r:id="rId21"/>
    <p:sldId id="289" r:id="rId22"/>
    <p:sldId id="274" r:id="rId23"/>
    <p:sldId id="275" r:id="rId24"/>
    <p:sldId id="276" r:id="rId25"/>
    <p:sldId id="277" r:id="rId26"/>
    <p:sldId id="278" r:id="rId27"/>
    <p:sldId id="279" r:id="rId28"/>
    <p:sldId id="280" r:id="rId29"/>
    <p:sldId id="281" r:id="rId30"/>
    <p:sldId id="282" r:id="rId31"/>
    <p:sldId id="283" r:id="rId32"/>
    <p:sldId id="290" r:id="rId33"/>
    <p:sldId id="291" r:id="rId34"/>
    <p:sldId id="292" r:id="rId35"/>
    <p:sldId id="293" r:id="rId36"/>
    <p:sldId id="294" r:id="rId37"/>
    <p:sldId id="295"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9D61AC-277E-CE47-B183-EDC9E90EE946}" v="9" dt="2026-05-11T18:08:22.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90"/>
    <p:restoredTop sz="94658"/>
  </p:normalViewPr>
  <p:slideViewPr>
    <p:cSldViewPr snapToGrid="0">
      <p:cViewPr varScale="1">
        <p:scale>
          <a:sx n="160" d="100"/>
          <a:sy n="160" d="100"/>
        </p:scale>
        <p:origin x="960"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ul Matkawala" userId="8fe240bc38c32bc7" providerId="LiveId" clId="{BB534352-A38E-5650-A641-A87F5789C4B8}"/>
    <pc:docChg chg="undo redo custSel addSld delSld modSld">
      <pc:chgData name="Atul Matkawala" userId="8fe240bc38c32bc7" providerId="LiveId" clId="{BB534352-A38E-5650-A641-A87F5789C4B8}" dt="2026-05-11T18:08:22.327" v="71" actId="767"/>
      <pc:docMkLst>
        <pc:docMk/>
      </pc:docMkLst>
      <pc:sldChg chg="add">
        <pc:chgData name="Atul Matkawala" userId="8fe240bc38c32bc7" providerId="LiveId" clId="{BB534352-A38E-5650-A641-A87F5789C4B8}" dt="2026-05-07T03:18:25.735" v="1" actId="26606"/>
        <pc:sldMkLst>
          <pc:docMk/>
          <pc:sldMk cId="0" sldId="273"/>
        </pc:sldMkLst>
      </pc:sldChg>
      <pc:sldChg chg="add">
        <pc:chgData name="Atul Matkawala" userId="8fe240bc38c32bc7" providerId="LiveId" clId="{BB534352-A38E-5650-A641-A87F5789C4B8}" dt="2026-05-07T03:18:25.735" v="1" actId="26606"/>
        <pc:sldMkLst>
          <pc:docMk/>
          <pc:sldMk cId="0" sldId="274"/>
        </pc:sldMkLst>
      </pc:sldChg>
      <pc:sldChg chg="add">
        <pc:chgData name="Atul Matkawala" userId="8fe240bc38c32bc7" providerId="LiveId" clId="{BB534352-A38E-5650-A641-A87F5789C4B8}" dt="2026-05-07T03:18:25.735" v="1" actId="26606"/>
        <pc:sldMkLst>
          <pc:docMk/>
          <pc:sldMk cId="0" sldId="275"/>
        </pc:sldMkLst>
      </pc:sldChg>
      <pc:sldChg chg="add">
        <pc:chgData name="Atul Matkawala" userId="8fe240bc38c32bc7" providerId="LiveId" clId="{BB534352-A38E-5650-A641-A87F5789C4B8}" dt="2026-05-07T03:18:25.735" v="1" actId="26606"/>
        <pc:sldMkLst>
          <pc:docMk/>
          <pc:sldMk cId="0" sldId="276"/>
        </pc:sldMkLst>
      </pc:sldChg>
      <pc:sldChg chg="add">
        <pc:chgData name="Atul Matkawala" userId="8fe240bc38c32bc7" providerId="LiveId" clId="{BB534352-A38E-5650-A641-A87F5789C4B8}" dt="2026-05-07T03:18:25.735" v="1" actId="26606"/>
        <pc:sldMkLst>
          <pc:docMk/>
          <pc:sldMk cId="0" sldId="277"/>
        </pc:sldMkLst>
      </pc:sldChg>
      <pc:sldChg chg="add">
        <pc:chgData name="Atul Matkawala" userId="8fe240bc38c32bc7" providerId="LiveId" clId="{BB534352-A38E-5650-A641-A87F5789C4B8}" dt="2026-05-07T03:46:40.499" v="2" actId="26606"/>
        <pc:sldMkLst>
          <pc:docMk/>
          <pc:sldMk cId="0" sldId="278"/>
        </pc:sldMkLst>
      </pc:sldChg>
      <pc:sldChg chg="add">
        <pc:chgData name="Atul Matkawala" userId="8fe240bc38c32bc7" providerId="LiveId" clId="{BB534352-A38E-5650-A641-A87F5789C4B8}" dt="2026-05-07T03:46:40.499" v="2" actId="26606"/>
        <pc:sldMkLst>
          <pc:docMk/>
          <pc:sldMk cId="0" sldId="279"/>
        </pc:sldMkLst>
      </pc:sldChg>
      <pc:sldChg chg="add">
        <pc:chgData name="Atul Matkawala" userId="8fe240bc38c32bc7" providerId="LiveId" clId="{BB534352-A38E-5650-A641-A87F5789C4B8}" dt="2026-05-07T03:46:40.499" v="2" actId="26606"/>
        <pc:sldMkLst>
          <pc:docMk/>
          <pc:sldMk cId="0" sldId="280"/>
        </pc:sldMkLst>
      </pc:sldChg>
      <pc:sldChg chg="add">
        <pc:chgData name="Atul Matkawala" userId="8fe240bc38c32bc7" providerId="LiveId" clId="{BB534352-A38E-5650-A641-A87F5789C4B8}" dt="2026-05-07T03:46:40.499" v="2" actId="26606"/>
        <pc:sldMkLst>
          <pc:docMk/>
          <pc:sldMk cId="0" sldId="281"/>
        </pc:sldMkLst>
      </pc:sldChg>
      <pc:sldChg chg="add">
        <pc:chgData name="Atul Matkawala" userId="8fe240bc38c32bc7" providerId="LiveId" clId="{BB534352-A38E-5650-A641-A87F5789C4B8}" dt="2026-05-07T03:46:40.499" v="2" actId="26606"/>
        <pc:sldMkLst>
          <pc:docMk/>
          <pc:sldMk cId="0" sldId="282"/>
        </pc:sldMkLst>
      </pc:sldChg>
      <pc:sldChg chg="add">
        <pc:chgData name="Atul Matkawala" userId="8fe240bc38c32bc7" providerId="LiveId" clId="{BB534352-A38E-5650-A641-A87F5789C4B8}" dt="2026-05-07T03:46:40.499" v="2" actId="26606"/>
        <pc:sldMkLst>
          <pc:docMk/>
          <pc:sldMk cId="0" sldId="283"/>
        </pc:sldMkLst>
      </pc:sldChg>
      <pc:sldChg chg="add">
        <pc:chgData name="Atul Matkawala" userId="8fe240bc38c32bc7" providerId="LiveId" clId="{BB534352-A38E-5650-A641-A87F5789C4B8}" dt="2026-05-07T04:10:40.226" v="3" actId="26606"/>
        <pc:sldMkLst>
          <pc:docMk/>
          <pc:sldMk cId="0" sldId="284"/>
        </pc:sldMkLst>
      </pc:sldChg>
      <pc:sldChg chg="add">
        <pc:chgData name="Atul Matkawala" userId="8fe240bc38c32bc7" providerId="LiveId" clId="{BB534352-A38E-5650-A641-A87F5789C4B8}" dt="2026-05-07T04:52:36.056" v="4" actId="26606"/>
        <pc:sldMkLst>
          <pc:docMk/>
          <pc:sldMk cId="0" sldId="285"/>
        </pc:sldMkLst>
      </pc:sldChg>
      <pc:sldChg chg="add">
        <pc:chgData name="Atul Matkawala" userId="8fe240bc38c32bc7" providerId="LiveId" clId="{BB534352-A38E-5650-A641-A87F5789C4B8}" dt="2026-05-07T05:00:43.438" v="5" actId="26606"/>
        <pc:sldMkLst>
          <pc:docMk/>
          <pc:sldMk cId="0" sldId="286"/>
        </pc:sldMkLst>
      </pc:sldChg>
      <pc:sldChg chg="add">
        <pc:chgData name="Atul Matkawala" userId="8fe240bc38c32bc7" providerId="LiveId" clId="{BB534352-A38E-5650-A641-A87F5789C4B8}" dt="2026-05-07T05:10:10.068" v="6" actId="26606"/>
        <pc:sldMkLst>
          <pc:docMk/>
          <pc:sldMk cId="0" sldId="287"/>
        </pc:sldMkLst>
      </pc:sldChg>
      <pc:sldChg chg="add">
        <pc:chgData name="Atul Matkawala" userId="8fe240bc38c32bc7" providerId="LiveId" clId="{BB534352-A38E-5650-A641-A87F5789C4B8}" dt="2026-05-07T05:10:10.068" v="6" actId="26606"/>
        <pc:sldMkLst>
          <pc:docMk/>
          <pc:sldMk cId="0" sldId="288"/>
        </pc:sldMkLst>
      </pc:sldChg>
      <pc:sldChg chg="add del">
        <pc:chgData name="Atul Matkawala" userId="8fe240bc38c32bc7" providerId="LiveId" clId="{BB534352-A38E-5650-A641-A87F5789C4B8}" dt="2026-05-07T05:37:38.273" v="9" actId="26606"/>
        <pc:sldMkLst>
          <pc:docMk/>
          <pc:sldMk cId="0" sldId="289"/>
        </pc:sldMkLst>
      </pc:sldChg>
      <pc:sldChg chg="addSp modSp add">
        <pc:chgData name="Atul Matkawala" userId="8fe240bc38c32bc7" providerId="LiveId" clId="{BB534352-A38E-5650-A641-A87F5789C4B8}" dt="2026-05-11T18:08:22.327" v="71" actId="767"/>
        <pc:sldMkLst>
          <pc:docMk/>
          <pc:sldMk cId="0" sldId="290"/>
        </pc:sldMkLst>
        <pc:spChg chg="add mod">
          <ac:chgData name="Atul Matkawala" userId="8fe240bc38c32bc7" providerId="LiveId" clId="{BB534352-A38E-5650-A641-A87F5789C4B8}" dt="2026-05-11T18:08:22.327" v="71" actId="767"/>
          <ac:spMkLst>
            <pc:docMk/>
            <pc:sldMk cId="0" sldId="290"/>
            <ac:spMk id="4" creationId="{63D2C28F-32E4-6685-B507-9734E10A9A85}"/>
          </ac:spMkLst>
        </pc:spChg>
      </pc:sldChg>
      <pc:sldChg chg="add">
        <pc:chgData name="Atul Matkawala" userId="8fe240bc38c32bc7" providerId="LiveId" clId="{BB534352-A38E-5650-A641-A87F5789C4B8}" dt="2026-05-11T17:55:02.605" v="69" actId="26606"/>
        <pc:sldMkLst>
          <pc:docMk/>
          <pc:sldMk cId="0" sldId="291"/>
        </pc:sldMkLst>
      </pc:sldChg>
      <pc:sldChg chg="add">
        <pc:chgData name="Atul Matkawala" userId="8fe240bc38c32bc7" providerId="LiveId" clId="{BB534352-A38E-5650-A641-A87F5789C4B8}" dt="2026-05-11T17:55:02.605" v="69" actId="26606"/>
        <pc:sldMkLst>
          <pc:docMk/>
          <pc:sldMk cId="0" sldId="292"/>
        </pc:sldMkLst>
      </pc:sldChg>
      <pc:sldChg chg="add">
        <pc:chgData name="Atul Matkawala" userId="8fe240bc38c32bc7" providerId="LiveId" clId="{BB534352-A38E-5650-A641-A87F5789C4B8}" dt="2026-05-11T17:55:02.605" v="69" actId="26606"/>
        <pc:sldMkLst>
          <pc:docMk/>
          <pc:sldMk cId="0" sldId="293"/>
        </pc:sldMkLst>
      </pc:sldChg>
      <pc:sldChg chg="add">
        <pc:chgData name="Atul Matkawala" userId="8fe240bc38c32bc7" providerId="LiveId" clId="{BB534352-A38E-5650-A641-A87F5789C4B8}" dt="2026-05-11T17:55:02.605" v="69" actId="26606"/>
        <pc:sldMkLst>
          <pc:docMk/>
          <pc:sldMk cId="0" sldId="294"/>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Adoption</c:v>
                </c:pt>
              </c:strCache>
            </c:strRef>
          </c:tx>
          <c:spPr>
            <a:solidFill>
              <a:schemeClr val="accent1"/>
            </a:solidFill>
            <a:ln w="9525" cap="flat">
              <a:solidFill>
                <a:srgbClr val="F9F9F9"/>
              </a:solidFill>
              <a:prstDash val="solid"/>
              <a:round/>
            </a:ln>
            <a:effectLst/>
          </c:spPr>
          <c:dPt>
            <c:idx val="0"/>
            <c:bubble3D val="0"/>
            <c:spPr>
              <a:solidFill>
                <a:srgbClr val="21D4FD"/>
              </a:solidFill>
              <a:effectLst/>
            </c:spPr>
            <c:extLst>
              <c:ext xmlns:c16="http://schemas.microsoft.com/office/drawing/2014/chart" uri="{C3380CC4-5D6E-409C-BE32-E72D297353CC}">
                <c16:uniqueId val="{00000001-96FB-8C4D-B263-AEAE604BC4F6}"/>
              </c:ext>
            </c:extLst>
          </c:dPt>
          <c:dPt>
            <c:idx val="1"/>
            <c:bubble3D val="0"/>
            <c:spPr>
              <a:solidFill>
                <a:srgbClr val="38BDF8"/>
              </a:solidFill>
              <a:effectLst/>
            </c:spPr>
            <c:extLst>
              <c:ext xmlns:c16="http://schemas.microsoft.com/office/drawing/2014/chart" uri="{C3380CC4-5D6E-409C-BE32-E72D297353CC}">
                <c16:uniqueId val="{00000003-96FB-8C4D-B263-AEAE604BC4F6}"/>
              </c:ext>
            </c:extLst>
          </c:dPt>
          <c:dPt>
            <c:idx val="2"/>
            <c:bubble3D val="0"/>
            <c:spPr>
              <a:solidFill>
                <a:srgbClr val="818CF8"/>
              </a:solidFill>
              <a:effectLst/>
            </c:spPr>
            <c:extLst>
              <c:ext xmlns:c16="http://schemas.microsoft.com/office/drawing/2014/chart" uri="{C3380CC4-5D6E-409C-BE32-E72D297353CC}">
                <c16:uniqueId val="{00000005-96FB-8C4D-B263-AEAE604BC4F6}"/>
              </c:ext>
            </c:extLst>
          </c:dPt>
          <c:dPt>
            <c:idx val="3"/>
            <c:bubble3D val="0"/>
            <c:spPr>
              <a:solidFill>
                <a:srgbClr val="1A3A5C"/>
              </a:solidFill>
              <a:effectLst/>
            </c:spPr>
            <c:extLst>
              <c:ext xmlns:c16="http://schemas.microsoft.com/office/drawing/2014/chart" uri="{C3380CC4-5D6E-409C-BE32-E72D297353CC}">
                <c16:uniqueId val="{00000007-96FB-8C4D-B263-AEAE604BC4F6}"/>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6FB-8C4D-B263-AEAE604BC4F6}"/>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6FB-8C4D-B263-AEAE604BC4F6}"/>
                </c:ext>
              </c:extLst>
            </c:dLbl>
            <c:dLbl>
              <c:idx val="2"/>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6FB-8C4D-B263-AEAE604BC4F6}"/>
                </c:ext>
              </c:extLst>
            </c:dLbl>
            <c:dLbl>
              <c:idx val="3"/>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6FB-8C4D-B263-AEAE604BC4F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Kubernetes</c:v>
                </c:pt>
                <c:pt idx="1">
                  <c:v>Docker Swarm</c:v>
                </c:pt>
                <c:pt idx="2">
                  <c:v>Mesos</c:v>
                </c:pt>
                <c:pt idx="3">
                  <c:v>Other</c:v>
                </c:pt>
              </c:strCache>
            </c:strRef>
          </c:cat>
          <c:val>
            <c:numRef>
              <c:f>Sheet1!$B$2:$B$5</c:f>
              <c:numCache>
                <c:formatCode>General</c:formatCode>
                <c:ptCount val="4"/>
                <c:pt idx="0">
                  <c:v>67</c:v>
                </c:pt>
                <c:pt idx="1">
                  <c:v>12</c:v>
                </c:pt>
                <c:pt idx="2">
                  <c:v>6</c:v>
                </c:pt>
                <c:pt idx="3">
                  <c:v>15</c:v>
                </c:pt>
              </c:numCache>
            </c:numRef>
          </c:val>
          <c:extLst>
            <c:ext xmlns:c16="http://schemas.microsoft.com/office/drawing/2014/chart" uri="{C3380CC4-5D6E-409C-BE32-E72D297353CC}">
              <c16:uniqueId val="{00000008-96FB-8C4D-B263-AEAE604BC4F6}"/>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900">
              <a:solidFill>
                <a:srgbClr val="94A3B8"/>
              </a:solidFill>
            </a:defRPr>
          </a:pPr>
          <a:endParaRPr lang="en-US"/>
        </a:p>
      </c:txPr>
    </c:legend>
    <c:plotVisOnly val="1"/>
    <c:dispBlanksAs val="span"/>
    <c:showDLblsOverMax val="1"/>
  </c:chart>
  <c:spPr>
    <a:solidFill>
      <a:srgbClr val="0F1B2D"/>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398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3AF4-FE95-07E3-03A7-D8491DBB396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CF8F214-7D57-74C1-86F0-A12C2147A6A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0EAD7E1-78C4-47E7-D3BE-6C2D32A98BB8}"/>
              </a:ext>
            </a:extLst>
          </p:cNvPr>
          <p:cNvSpPr>
            <a:spLocks noGrp="1"/>
          </p:cNvSpPr>
          <p:nvPr>
            <p:ph type="dt" sz="half" idx="10"/>
          </p:nvPr>
        </p:nvSpPr>
        <p:spPr/>
        <p:txBody>
          <a:bodyPr/>
          <a:lstStyle/>
          <a:p>
            <a:fld id="{0F3CFAD1-A876-C84C-A75C-A8AC49A4EEFA}" type="datetimeFigureOut">
              <a:rPr lang="en-US" smtClean="0"/>
              <a:t>5/21/26</a:t>
            </a:fld>
            <a:endParaRPr lang="en-US"/>
          </a:p>
        </p:txBody>
      </p:sp>
      <p:sp>
        <p:nvSpPr>
          <p:cNvPr id="5" name="Footer Placeholder 4">
            <a:extLst>
              <a:ext uri="{FF2B5EF4-FFF2-40B4-BE49-F238E27FC236}">
                <a16:creationId xmlns:a16="http://schemas.microsoft.com/office/drawing/2014/main" id="{B209BADC-185C-F150-92A2-D91D68B4FB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D0F04-46D2-9230-A4BA-6FF1353B64B3}"/>
              </a:ext>
            </a:extLst>
          </p:cNvPr>
          <p:cNvSpPr>
            <a:spLocks noGrp="1"/>
          </p:cNvSpPr>
          <p:nvPr>
            <p:ph type="sldNum" sz="quarter" idx="12"/>
          </p:nvPr>
        </p:nvSpPr>
        <p:spPr/>
        <p:txBody>
          <a:bodyPr/>
          <a:lstStyle/>
          <a:p>
            <a:fld id="{8CF7B23C-4AC3-8D43-B705-1313E3753087}" type="slidenum">
              <a:rPr lang="en-US" smtClean="0"/>
              <a:t>‹#›</a:t>
            </a:fld>
            <a:endParaRPr lang="en-US"/>
          </a:p>
        </p:txBody>
      </p:sp>
    </p:spTree>
    <p:extLst>
      <p:ext uri="{BB962C8B-B14F-4D97-AF65-F5344CB8AC3E}">
        <p14:creationId xmlns:p14="http://schemas.microsoft.com/office/powerpoint/2010/main" val="230356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F4E5-D5CC-70EB-5CCC-B264250CBF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E1ACC1-4FFA-DE03-F01D-63B560CAD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F58492-B11C-7400-8A40-456C4AA321EF}"/>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17D5A4AC-9516-EAAC-45E1-DC8FF94740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AFB14-842E-E54D-B6AF-30F03C6DFEE4}"/>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79729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A74D2-5C15-02C8-34A1-540D28C446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FCBAFF-80CF-D2BB-4B59-22013E21E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1CB07-0F45-253B-DEBF-14D06D3703D6}"/>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5A856926-970C-BB63-8CC7-DC19FC6778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7D07D-A499-CA69-9BA7-A19DE9E6DB0D}"/>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1683746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E6EED-6F85-A0F3-7186-B6978E5B95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CD1BF1-2C96-BA27-411A-97CB7B80F9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495DAE-196E-891F-BC55-D6A81045963A}"/>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101DCCF4-A09F-58F4-567B-7D9C1E3728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664AE-6FD7-09D4-5FA5-4E0A5E2ABB7B}"/>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663234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E286-E5DA-7155-19C6-9F715E3E38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97486F-1F66-8AC1-261E-8AB46AE134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8DF0BB-4229-6ADB-68E5-781B7AA30E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BAC6A8-5922-FB3B-3CEB-57F22F9429BE}"/>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6" name="Footer Placeholder 5">
            <a:extLst>
              <a:ext uri="{FF2B5EF4-FFF2-40B4-BE49-F238E27FC236}">
                <a16:creationId xmlns:a16="http://schemas.microsoft.com/office/drawing/2014/main" id="{A84CF43E-D23D-75F6-6DF0-00A6D0B4F4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66646D-B60F-D69C-311E-0666F71C801A}"/>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81758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A04A-064A-F352-A0BB-791541F013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3A8D15-B790-A22C-28DC-509294E67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A335AC-74B1-B5CF-410B-0EA5D67172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4E666E-4FCD-EE2A-803C-AEC49A3858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108FC4-834A-9393-E60F-5B30602145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4201E8-588E-4ED6-3D60-0F908FC8733B}"/>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8" name="Footer Placeholder 7">
            <a:extLst>
              <a:ext uri="{FF2B5EF4-FFF2-40B4-BE49-F238E27FC236}">
                <a16:creationId xmlns:a16="http://schemas.microsoft.com/office/drawing/2014/main" id="{D8D8A062-2C76-70BA-D409-EDF4D1DA0F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DD846F-008B-BB82-4271-7D6A6568D6D3}"/>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1278090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F9FC1-8EBA-10CF-A1C3-5B36E4C78D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6FD2-B266-B240-59BE-2F24AAB5A3B1}"/>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4" name="Footer Placeholder 3">
            <a:extLst>
              <a:ext uri="{FF2B5EF4-FFF2-40B4-BE49-F238E27FC236}">
                <a16:creationId xmlns:a16="http://schemas.microsoft.com/office/drawing/2014/main" id="{882F3989-7CA2-9234-8176-1EC0170668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B1B1E3-82D5-A385-5BB1-0C4372AAD9C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999169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45AACC-C765-D671-A4B9-AFA846B4D7A8}"/>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3" name="Footer Placeholder 2">
            <a:extLst>
              <a:ext uri="{FF2B5EF4-FFF2-40B4-BE49-F238E27FC236}">
                <a16:creationId xmlns:a16="http://schemas.microsoft.com/office/drawing/2014/main" id="{FD0D75B2-F271-4AB4-EBEC-022929CF71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B83C48-82A7-0C64-817B-D7BBFFBF9F48}"/>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2252331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CB12-E453-B8AB-0455-270380312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94E6F8-1BC9-7A89-A3B1-9FB031C600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8D6FEA-C6AA-D532-B3A9-6BA9E17D4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7BFD5-2017-348A-B2FF-4FE18C1C3332}"/>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6" name="Footer Placeholder 5">
            <a:extLst>
              <a:ext uri="{FF2B5EF4-FFF2-40B4-BE49-F238E27FC236}">
                <a16:creationId xmlns:a16="http://schemas.microsoft.com/office/drawing/2014/main" id="{EC901616-E60E-D9D2-9D4F-B97FA601AA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23D9F-7657-00EC-B80C-8BA0E6263022}"/>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162434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4C2F-8E8B-964F-EF6E-3295079436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4282DE-6CB3-AD9A-3F5D-B0B649829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542814-C72E-5BAD-9133-7DFAC4456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342A6B-8EB2-567C-83B2-8EB64AD3AC0E}"/>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6" name="Footer Placeholder 5">
            <a:extLst>
              <a:ext uri="{FF2B5EF4-FFF2-40B4-BE49-F238E27FC236}">
                <a16:creationId xmlns:a16="http://schemas.microsoft.com/office/drawing/2014/main" id="{76E0FBC5-94EF-88BB-738F-3C97E2CED0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C2B952-17CB-F828-0868-05F1FA81BF1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237257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2255F-3C4E-CE8A-B029-AF1EE413B7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6C0511-3E40-5DA7-D059-1EC03C8EF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50AEC-3D8C-86D1-75C6-9FFCAD100663}"/>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AA6D6DFB-0622-53E3-81FA-3CBB1508B4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3BB93-BAFF-1A77-5617-C7D911FBA3E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127861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47FF8E-63A9-009D-5F32-5F88F3FAF1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F65DB7-B596-982C-71D7-7102ACEFA9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48A5-C01F-40EB-1B07-4CF9A6340FC5}"/>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EC358939-34C8-C196-7445-4458EAE82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03797-54F3-D64A-D2FC-B4FE400FB33A}"/>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36995379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B84DF-B9AC-3779-9555-B07D2415A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3E74D5-873C-E239-C9D1-2DE84B868C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52C839-B729-D4D3-8B68-F8FE6FACF7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43B34417-08FB-AED1-5A2C-48840BD954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82911A-FFB0-6F57-376F-8FDF4E5164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3AED5-59BA-9B44-8D12-589F7CF581E7}" type="slidenum">
              <a:rPr lang="en-US" smtClean="0"/>
              <a:t>‹#›</a:t>
            </a:fld>
            <a:endParaRPr lang="en-US"/>
          </a:p>
        </p:txBody>
      </p:sp>
    </p:spTree>
    <p:extLst>
      <p:ext uri="{BB962C8B-B14F-4D97-AF65-F5344CB8AC3E}">
        <p14:creationId xmlns:p14="http://schemas.microsoft.com/office/powerpoint/2010/main" val="1944492954"/>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55000"/>
            </a:srgbClr>
          </a:solidFill>
          <a:ln/>
        </p:spPr>
        <p:txBody>
          <a:bodyPr/>
          <a:lstStyle/>
          <a:p>
            <a:endParaRPr lang="en-US"/>
          </a:p>
        </p:txBody>
      </p:sp>
      <p:sp>
        <p:nvSpPr>
          <p:cNvPr id="3" name="Text 1"/>
          <p:cNvSpPr/>
          <p:nvPr/>
        </p:nvSpPr>
        <p:spPr>
          <a:xfrm>
            <a:off x="731520" y="914400"/>
            <a:ext cx="7680960" cy="2011680"/>
          </a:xfrm>
          <a:prstGeom prst="rect">
            <a:avLst/>
          </a:prstGeom>
          <a:noFill/>
          <a:ln/>
        </p:spPr>
        <p:txBody>
          <a:bodyPr wrap="square" lIns="0" tIns="0" rIns="0" bIns="0" rtlCol="0" anchor="ctr"/>
          <a:lstStyle/>
          <a:p>
            <a:pPr marL="0" indent="0" algn="l">
              <a:lnSpc>
                <a:spcPct val="110000"/>
              </a:lnSpc>
              <a:buNone/>
            </a:pPr>
            <a:r>
              <a:rPr lang="en-US" sz="4200" b="1" dirty="0">
                <a:solidFill>
                  <a:srgbClr val="FFFFFF"/>
                </a:solidFill>
                <a:latin typeface="Trebuchet MS" pitchFamily="34" charset="0"/>
                <a:ea typeface="Trebuchet MS" pitchFamily="34" charset="-122"/>
                <a:cs typeface="Trebuchet MS" pitchFamily="34" charset="-120"/>
              </a:rPr>
              <a:t>Container Orchestration</a:t>
            </a:r>
            <a:endParaRPr lang="en-US" sz="4200" dirty="0"/>
          </a:p>
          <a:p>
            <a:pPr marL="0" indent="0" algn="l">
              <a:lnSpc>
                <a:spcPct val="110000"/>
              </a:lnSpc>
              <a:buNone/>
            </a:pPr>
            <a:r>
              <a:rPr lang="en-US" sz="4200" b="1" dirty="0">
                <a:solidFill>
                  <a:srgbClr val="FFFFFF"/>
                </a:solidFill>
                <a:latin typeface="Trebuchet MS" pitchFamily="34" charset="0"/>
                <a:ea typeface="Trebuchet MS" pitchFamily="34" charset="-122"/>
                <a:cs typeface="Trebuchet MS" pitchFamily="34" charset="-120"/>
              </a:rPr>
              <a:t>Technologies</a:t>
            </a:r>
            <a:endParaRPr lang="en-US" sz="4200" dirty="0"/>
          </a:p>
        </p:txBody>
      </p:sp>
      <p:sp>
        <p:nvSpPr>
          <p:cNvPr id="4" name="Text 2"/>
          <p:cNvSpPr/>
          <p:nvPr/>
        </p:nvSpPr>
        <p:spPr>
          <a:xfrm>
            <a:off x="731520" y="3108960"/>
            <a:ext cx="6400800" cy="640080"/>
          </a:xfrm>
          <a:prstGeom prst="rect">
            <a:avLst/>
          </a:prstGeom>
          <a:noFill/>
          <a:ln/>
        </p:spPr>
        <p:txBody>
          <a:bodyPr wrap="square" lIns="0" tIns="0" rIns="0" bIns="0" rtlCol="0" anchor="t"/>
          <a:lstStyle/>
          <a:p>
            <a:pPr marL="0" indent="0" algn="l">
              <a:buNone/>
            </a:pPr>
            <a:r>
              <a:rPr lang="en-US" sz="1600" dirty="0">
                <a:solidFill>
                  <a:srgbClr val="21D4FD"/>
                </a:solidFill>
                <a:latin typeface="Calibri" pitchFamily="34" charset="0"/>
                <a:ea typeface="Calibri" pitchFamily="34" charset="-122"/>
                <a:cs typeface="Calibri" pitchFamily="34" charset="-120"/>
              </a:rPr>
              <a:t>Introduction into Kubernetes, Docker Swarm, Managed Services &amp; Enterprise Platforms</a:t>
            </a:r>
            <a:endParaRPr lang="en-US" sz="1600" dirty="0"/>
          </a:p>
        </p:txBody>
      </p:sp>
      <p:sp>
        <p:nvSpPr>
          <p:cNvPr id="5" name="Text 3"/>
          <p:cNvSpPr/>
          <p:nvPr/>
        </p:nvSpPr>
        <p:spPr>
          <a:xfrm>
            <a:off x="731520" y="4114800"/>
            <a:ext cx="2743200" cy="365760"/>
          </a:xfrm>
          <a:prstGeom prst="rect">
            <a:avLst/>
          </a:prstGeom>
          <a:noFill/>
          <a:ln/>
        </p:spPr>
        <p:txBody>
          <a:bodyPr wrap="square" lIns="0" tIns="0" rIns="0" bIns="0" rtlCol="0" anchor="ctr"/>
          <a:lstStyle/>
          <a:p>
            <a:pPr marL="0" indent="0" algn="l">
              <a:buNone/>
            </a:pPr>
            <a:r>
              <a:rPr lang="en-US" sz="1300" dirty="0">
                <a:solidFill>
                  <a:srgbClr val="CBD5E1"/>
                </a:solidFill>
                <a:latin typeface="Calibri" pitchFamily="34" charset="0"/>
                <a:ea typeface="Calibri" pitchFamily="34" charset="-122"/>
                <a:cs typeface="Calibri" pitchFamily="34" charset="-120"/>
              </a:rPr>
              <a:t>May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Core Orchestration Platforms</a:t>
            </a:r>
            <a:endParaRPr lang="en-US" sz="2800" dirty="0"/>
          </a:p>
        </p:txBody>
      </p:sp>
      <p:sp>
        <p:nvSpPr>
          <p:cNvPr id="3" name="Shape 1"/>
          <p:cNvSpPr/>
          <p:nvPr/>
        </p:nvSpPr>
        <p:spPr>
          <a:xfrm>
            <a:off x="68580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960120" y="1188720"/>
            <a:ext cx="365760" cy="365760"/>
          </a:xfrm>
          <a:prstGeom prst="rect">
            <a:avLst/>
          </a:prstGeom>
        </p:spPr>
      </p:pic>
      <p:sp>
        <p:nvSpPr>
          <p:cNvPr id="5" name="Text 2"/>
          <p:cNvSpPr/>
          <p:nvPr/>
        </p:nvSpPr>
        <p:spPr>
          <a:xfrm>
            <a:off x="141732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Kubernetes</a:t>
            </a:r>
            <a:endParaRPr lang="en-US" sz="1800" dirty="0"/>
          </a:p>
        </p:txBody>
      </p:sp>
      <p:sp>
        <p:nvSpPr>
          <p:cNvPr id="6" name="Shape 3"/>
          <p:cNvSpPr/>
          <p:nvPr/>
        </p:nvSpPr>
        <p:spPr>
          <a:xfrm>
            <a:off x="960120" y="1691640"/>
            <a:ext cx="1920240" cy="256032"/>
          </a:xfrm>
          <a:prstGeom prst="rect">
            <a:avLst/>
          </a:prstGeom>
          <a:solidFill>
            <a:srgbClr val="21D4FD">
              <a:alpha val="20000"/>
            </a:srgbClr>
          </a:solidFill>
          <a:ln/>
        </p:spPr>
        <p:txBody>
          <a:bodyPr/>
          <a:lstStyle/>
          <a:p>
            <a:endParaRPr lang="en-US"/>
          </a:p>
        </p:txBody>
      </p:sp>
      <p:sp>
        <p:nvSpPr>
          <p:cNvPr id="7" name="Text 4"/>
          <p:cNvSpPr/>
          <p:nvPr/>
        </p:nvSpPr>
        <p:spPr>
          <a:xfrm>
            <a:off x="960120" y="1673352"/>
            <a:ext cx="1920240" cy="292608"/>
          </a:xfrm>
          <a:prstGeom prst="rect">
            <a:avLst/>
          </a:prstGeom>
          <a:noFill/>
          <a:ln/>
        </p:spPr>
        <p:txBody>
          <a:bodyPr wrap="square" lIns="0" tIns="0" rIns="0" bIns="0" rtlCol="0" anchor="ctr"/>
          <a:lstStyle/>
          <a:p>
            <a:pPr marL="0" indent="0" algn="ctr">
              <a:buNone/>
            </a:pPr>
            <a:r>
              <a:rPr lang="en-US" sz="1000" b="1" dirty="0">
                <a:solidFill>
                  <a:srgbClr val="21D4FD"/>
                </a:solidFill>
                <a:latin typeface="Calibri" pitchFamily="34" charset="0"/>
                <a:ea typeface="Calibri" pitchFamily="34" charset="-122"/>
                <a:cs typeface="Calibri" pitchFamily="34" charset="-120"/>
              </a:rPr>
              <a:t>Industry Standard</a:t>
            </a:r>
            <a:endParaRPr lang="en-US" sz="1000" dirty="0"/>
          </a:p>
        </p:txBody>
      </p:sp>
      <p:sp>
        <p:nvSpPr>
          <p:cNvPr id="8" name="Text 5"/>
          <p:cNvSpPr/>
          <p:nvPr/>
        </p:nvSpPr>
        <p:spPr>
          <a:xfrm>
            <a:off x="96012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Most widely adopted orchestration platform</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Massive ecosystem &amp; community</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Hybrid and multicloud support</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Highly extensible (CRDs, Operators, GitOps)</a:t>
            </a:r>
            <a:endParaRPr lang="en-US" sz="1100" dirty="0"/>
          </a:p>
        </p:txBody>
      </p:sp>
      <p:sp>
        <p:nvSpPr>
          <p:cNvPr id="9" name="Shape 6"/>
          <p:cNvSpPr/>
          <p:nvPr/>
        </p:nvSpPr>
        <p:spPr>
          <a:xfrm>
            <a:off x="356616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3840480" y="1188720"/>
            <a:ext cx="365760" cy="365760"/>
          </a:xfrm>
          <a:prstGeom prst="rect">
            <a:avLst/>
          </a:prstGeom>
        </p:spPr>
      </p:pic>
      <p:sp>
        <p:nvSpPr>
          <p:cNvPr id="11" name="Text 7"/>
          <p:cNvSpPr/>
          <p:nvPr/>
        </p:nvSpPr>
        <p:spPr>
          <a:xfrm>
            <a:off x="429768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Docker Swarm</a:t>
            </a:r>
            <a:endParaRPr lang="en-US" sz="1800" dirty="0"/>
          </a:p>
        </p:txBody>
      </p:sp>
      <p:sp>
        <p:nvSpPr>
          <p:cNvPr id="12" name="Shape 8"/>
          <p:cNvSpPr/>
          <p:nvPr/>
        </p:nvSpPr>
        <p:spPr>
          <a:xfrm>
            <a:off x="3840480" y="1691640"/>
            <a:ext cx="1920240" cy="256032"/>
          </a:xfrm>
          <a:prstGeom prst="rect">
            <a:avLst/>
          </a:prstGeom>
          <a:solidFill>
            <a:srgbClr val="38BDF8">
              <a:alpha val="20000"/>
            </a:srgbClr>
          </a:solidFill>
          <a:ln/>
        </p:spPr>
        <p:txBody>
          <a:bodyPr/>
          <a:lstStyle/>
          <a:p>
            <a:endParaRPr lang="en-US"/>
          </a:p>
        </p:txBody>
      </p:sp>
      <p:sp>
        <p:nvSpPr>
          <p:cNvPr id="13" name="Text 9"/>
          <p:cNvSpPr/>
          <p:nvPr/>
        </p:nvSpPr>
        <p:spPr>
          <a:xfrm>
            <a:off x="3840480" y="1673352"/>
            <a:ext cx="192024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Simple &amp; Native</a:t>
            </a:r>
            <a:endParaRPr lang="en-US" sz="1000" dirty="0"/>
          </a:p>
        </p:txBody>
      </p:sp>
      <p:sp>
        <p:nvSpPr>
          <p:cNvPr id="14" name="Text 10"/>
          <p:cNvSpPr/>
          <p:nvPr/>
        </p:nvSpPr>
        <p:spPr>
          <a:xfrm>
            <a:off x="384048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Docker's built-in clustering tool</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Simpler than K8s, lower learning curve</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Best for small teams &amp; simple deployments</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Less feature-rich at scale</a:t>
            </a:r>
            <a:endParaRPr lang="en-US" sz="1100" dirty="0"/>
          </a:p>
        </p:txBody>
      </p:sp>
      <p:sp>
        <p:nvSpPr>
          <p:cNvPr id="15" name="Shape 11"/>
          <p:cNvSpPr/>
          <p:nvPr/>
        </p:nvSpPr>
        <p:spPr>
          <a:xfrm>
            <a:off x="644652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720840" y="1188720"/>
            <a:ext cx="365760" cy="365760"/>
          </a:xfrm>
          <a:prstGeom prst="rect">
            <a:avLst/>
          </a:prstGeom>
        </p:spPr>
      </p:pic>
      <p:sp>
        <p:nvSpPr>
          <p:cNvPr id="17" name="Text 12"/>
          <p:cNvSpPr/>
          <p:nvPr/>
        </p:nvSpPr>
        <p:spPr>
          <a:xfrm>
            <a:off x="717804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Apache Mesos</a:t>
            </a:r>
            <a:endParaRPr lang="en-US" sz="1800" dirty="0"/>
          </a:p>
        </p:txBody>
      </p:sp>
      <p:sp>
        <p:nvSpPr>
          <p:cNvPr id="18" name="Shape 13"/>
          <p:cNvSpPr/>
          <p:nvPr/>
        </p:nvSpPr>
        <p:spPr>
          <a:xfrm>
            <a:off x="6720840" y="1691640"/>
            <a:ext cx="1920240" cy="256032"/>
          </a:xfrm>
          <a:prstGeom prst="rect">
            <a:avLst/>
          </a:prstGeom>
          <a:solidFill>
            <a:srgbClr val="818CF8">
              <a:alpha val="20000"/>
            </a:srgbClr>
          </a:solidFill>
          <a:ln/>
        </p:spPr>
        <p:txBody>
          <a:bodyPr/>
          <a:lstStyle/>
          <a:p>
            <a:endParaRPr lang="en-US"/>
          </a:p>
        </p:txBody>
      </p:sp>
      <p:sp>
        <p:nvSpPr>
          <p:cNvPr id="19" name="Text 14"/>
          <p:cNvSpPr/>
          <p:nvPr/>
        </p:nvSpPr>
        <p:spPr>
          <a:xfrm>
            <a:off x="6720840" y="1673352"/>
            <a:ext cx="1920240" cy="292608"/>
          </a:xfrm>
          <a:prstGeom prst="rect">
            <a:avLst/>
          </a:prstGeom>
          <a:noFill/>
          <a:ln/>
        </p:spPr>
        <p:txBody>
          <a:bodyPr wrap="square" lIns="0" tIns="0" rIns="0" bIns="0" rtlCol="0" anchor="ctr"/>
          <a:lstStyle/>
          <a:p>
            <a:pPr marL="0" indent="0" algn="ctr">
              <a:buNone/>
            </a:pPr>
            <a:r>
              <a:rPr lang="en-US" sz="1000" b="1" dirty="0">
                <a:solidFill>
                  <a:srgbClr val="818CF8"/>
                </a:solidFill>
                <a:latin typeface="Calibri" pitchFamily="34" charset="0"/>
                <a:ea typeface="Calibri" pitchFamily="34" charset="-122"/>
                <a:cs typeface="Calibri" pitchFamily="34" charset="-120"/>
              </a:rPr>
              <a:t>Mixed Workloads</a:t>
            </a:r>
            <a:endParaRPr lang="en-US" sz="1000" dirty="0"/>
          </a:p>
        </p:txBody>
      </p:sp>
      <p:sp>
        <p:nvSpPr>
          <p:cNvPr id="20" name="Text 15"/>
          <p:cNvSpPr/>
          <p:nvPr/>
        </p:nvSpPr>
        <p:spPr>
          <a:xfrm>
            <a:off x="672084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Distributed systems kernel</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Paired with Marathon for containers</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Handles containers + VMs + big data</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Highly scalable for large clusters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pic>
        <p:nvPicPr>
          <p:cNvPr id="2" name="Image 0" descr="/agent/turn1/workspace/images/abstract-flat-illustration-of-container-shipping-c_2026-05-05T04-48-51_image_DAS_0.jpg"/>
          <p:cNvPicPr>
            <a:picLocks noChangeAspect="1"/>
          </p:cNvPicPr>
          <p:nvPr/>
        </p:nvPicPr>
        <p:blipFill>
          <a:blip r:embed="rId3"/>
          <a:srcRect l="29259" r="29259"/>
          <a:stretch/>
        </p:blipFill>
        <p:spPr>
          <a:xfrm>
            <a:off x="0" y="0"/>
            <a:ext cx="3200400" cy="5143500"/>
          </a:xfrm>
          <a:prstGeom prst="rect">
            <a:avLst/>
          </a:prstGeom>
        </p:spPr>
      </p:pic>
      <p:sp>
        <p:nvSpPr>
          <p:cNvPr id="3" name="Shape 0"/>
          <p:cNvSpPr/>
          <p:nvPr/>
        </p:nvSpPr>
        <p:spPr>
          <a:xfrm>
            <a:off x="0" y="0"/>
            <a:ext cx="3200400" cy="5143500"/>
          </a:xfrm>
          <a:prstGeom prst="rect">
            <a:avLst/>
          </a:prstGeom>
          <a:solidFill>
            <a:srgbClr val="0F1B2D">
              <a:alpha val="60000"/>
            </a:srgbClr>
          </a:solidFill>
          <a:ln/>
        </p:spPr>
        <p:txBody>
          <a:bodyPr/>
          <a:lstStyle/>
          <a:p>
            <a:endParaRPr lang="en-US"/>
          </a:p>
        </p:txBody>
      </p:sp>
      <p:sp>
        <p:nvSpPr>
          <p:cNvPr id="4" name="Text 1"/>
          <p:cNvSpPr/>
          <p:nvPr/>
        </p:nvSpPr>
        <p:spPr>
          <a:xfrm>
            <a:off x="365760" y="1645920"/>
            <a:ext cx="2560320" cy="1463040"/>
          </a:xfrm>
          <a:prstGeom prst="rect">
            <a:avLst/>
          </a:prstGeom>
          <a:noFill/>
          <a:ln/>
        </p:spPr>
        <p:txBody>
          <a:bodyPr wrap="square" lIns="0" tIns="0" rIns="0" bIns="0" rtlCol="0" anchor="ctr"/>
          <a:lstStyle/>
          <a:p>
            <a:pPr marL="0" indent="0" algn="l">
              <a:lnSpc>
                <a:spcPct val="110000"/>
              </a:lnSpc>
              <a:buNone/>
            </a:pPr>
            <a:r>
              <a:rPr lang="en-US" sz="2600" b="1" dirty="0">
                <a:solidFill>
                  <a:srgbClr val="FFFFFF"/>
                </a:solidFill>
                <a:latin typeface="Trebuchet MS" pitchFamily="34" charset="0"/>
                <a:ea typeface="Trebuchet MS" pitchFamily="34" charset="-122"/>
                <a:cs typeface="Trebuchet MS" pitchFamily="34" charset="-120"/>
              </a:rPr>
              <a:t>Cloud &amp; Enterprise</a:t>
            </a:r>
            <a:endParaRPr lang="en-US" sz="2600" dirty="0"/>
          </a:p>
          <a:p>
            <a:pPr marL="0" indent="0" algn="l">
              <a:lnSpc>
                <a:spcPct val="110000"/>
              </a:lnSpc>
              <a:buNone/>
            </a:pPr>
            <a:r>
              <a:rPr lang="en-US" sz="2600" b="1" dirty="0">
                <a:solidFill>
                  <a:srgbClr val="FFFFFF"/>
                </a:solidFill>
                <a:latin typeface="Trebuchet MS" pitchFamily="34" charset="0"/>
                <a:ea typeface="Trebuchet MS" pitchFamily="34" charset="-122"/>
                <a:cs typeface="Trebuchet MS" pitchFamily="34" charset="-120"/>
              </a:rPr>
              <a:t>Kubernetes</a:t>
            </a:r>
            <a:endParaRPr lang="en-US" sz="2600" dirty="0"/>
          </a:p>
        </p:txBody>
      </p:sp>
      <p:sp>
        <p:nvSpPr>
          <p:cNvPr id="5" name="Text 2"/>
          <p:cNvSpPr/>
          <p:nvPr/>
        </p:nvSpPr>
        <p:spPr>
          <a:xfrm>
            <a:off x="365760" y="3108960"/>
            <a:ext cx="2560320" cy="731520"/>
          </a:xfrm>
          <a:prstGeom prst="rect">
            <a:avLst/>
          </a:prstGeom>
          <a:noFill/>
          <a:ln/>
        </p:spPr>
        <p:txBody>
          <a:bodyPr wrap="square" lIns="0" tIns="0" rIns="0" bIns="0" rtlCol="0" anchor="t"/>
          <a:lstStyle/>
          <a:p>
            <a:pPr marL="0" indent="0" algn="l">
              <a:buNone/>
            </a:pPr>
            <a:r>
              <a:rPr lang="en-US" sz="1200" dirty="0">
                <a:solidFill>
                  <a:srgbClr val="0EA5E9"/>
                </a:solidFill>
                <a:latin typeface="Calibri" pitchFamily="34" charset="0"/>
                <a:ea typeface="Calibri" pitchFamily="34" charset="-122"/>
                <a:cs typeface="Calibri" pitchFamily="34" charset="-120"/>
              </a:rPr>
              <a:t>Reducing operational overhead</a:t>
            </a:r>
            <a:endParaRPr lang="en-US" sz="1200" dirty="0"/>
          </a:p>
          <a:p>
            <a:pPr marL="0" indent="0" algn="l">
              <a:buNone/>
            </a:pPr>
            <a:r>
              <a:rPr lang="en-US" sz="1200" dirty="0">
                <a:solidFill>
                  <a:srgbClr val="0EA5E9"/>
                </a:solidFill>
                <a:latin typeface="Calibri" pitchFamily="34" charset="0"/>
                <a:ea typeface="Calibri" pitchFamily="34" charset="-122"/>
                <a:cs typeface="Calibri" pitchFamily="34" charset="-120"/>
              </a:rPr>
              <a:t>with managed platforms</a:t>
            </a:r>
            <a:endParaRPr lang="en-US" sz="1200" dirty="0"/>
          </a:p>
        </p:txBody>
      </p:sp>
      <p:sp>
        <p:nvSpPr>
          <p:cNvPr id="6" name="Text 3"/>
          <p:cNvSpPr/>
          <p:nvPr/>
        </p:nvSpPr>
        <p:spPr>
          <a:xfrm>
            <a:off x="3566160" y="457200"/>
            <a:ext cx="5212080" cy="411480"/>
          </a:xfrm>
          <a:prstGeom prst="rect">
            <a:avLst/>
          </a:prstGeom>
          <a:noFill/>
          <a:ln/>
        </p:spPr>
        <p:txBody>
          <a:bodyPr wrap="square" lIns="0" tIns="0" rIns="0" bIns="0" rtlCol="0" anchor="ctr"/>
          <a:lstStyle/>
          <a:p>
            <a:pPr marL="0" indent="0" algn="l">
              <a:buNone/>
            </a:pPr>
            <a:r>
              <a:rPr lang="en-US" sz="1800" b="1" dirty="0">
                <a:solidFill>
                  <a:srgbClr val="21D4FD"/>
                </a:solidFill>
                <a:latin typeface="Trebuchet MS" pitchFamily="34" charset="0"/>
                <a:ea typeface="Trebuchet MS" pitchFamily="34" charset="-122"/>
                <a:cs typeface="Trebuchet MS" pitchFamily="34" charset="-120"/>
              </a:rPr>
              <a:t>Managed Kubernetes Services</a:t>
            </a:r>
            <a:endParaRPr lang="en-US" sz="1800" dirty="0"/>
          </a:p>
        </p:txBody>
      </p:sp>
      <p:sp>
        <p:nvSpPr>
          <p:cNvPr id="7" name="Shape 4"/>
          <p:cNvSpPr/>
          <p:nvPr/>
        </p:nvSpPr>
        <p:spPr>
          <a:xfrm>
            <a:off x="3566160" y="914400"/>
            <a:ext cx="5212080" cy="402336"/>
          </a:xfrm>
          <a:prstGeom prst="rect">
            <a:avLst/>
          </a:prstGeom>
          <a:solidFill>
            <a:srgbClr val="0D2137"/>
          </a:solidFill>
          <a:ln/>
        </p:spPr>
        <p:txBody>
          <a:bodyPr/>
          <a:lstStyle/>
          <a:p>
            <a:endParaRPr lang="en-US"/>
          </a:p>
        </p:txBody>
      </p:sp>
      <p:sp>
        <p:nvSpPr>
          <p:cNvPr id="8" name="Text 5"/>
          <p:cNvSpPr/>
          <p:nvPr/>
        </p:nvSpPr>
        <p:spPr>
          <a:xfrm>
            <a:off x="3749040" y="914400"/>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Amazon EKS</a:t>
            </a:r>
            <a:endParaRPr lang="en-US" sz="1300" dirty="0"/>
          </a:p>
        </p:txBody>
      </p:sp>
      <p:sp>
        <p:nvSpPr>
          <p:cNvPr id="9" name="Text 6"/>
          <p:cNvSpPr/>
          <p:nvPr/>
        </p:nvSpPr>
        <p:spPr>
          <a:xfrm>
            <a:off x="5577840" y="914400"/>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AWS-managed K8s with deep AWS integration</a:t>
            </a:r>
            <a:endParaRPr lang="en-US" sz="1100" dirty="0"/>
          </a:p>
        </p:txBody>
      </p:sp>
      <p:sp>
        <p:nvSpPr>
          <p:cNvPr id="10" name="Shape 7"/>
          <p:cNvSpPr/>
          <p:nvPr/>
        </p:nvSpPr>
        <p:spPr>
          <a:xfrm>
            <a:off x="3566160" y="1389888"/>
            <a:ext cx="5212080" cy="402336"/>
          </a:xfrm>
          <a:prstGeom prst="rect">
            <a:avLst/>
          </a:prstGeom>
          <a:solidFill>
            <a:srgbClr val="0D2137"/>
          </a:solidFill>
          <a:ln/>
        </p:spPr>
        <p:txBody>
          <a:bodyPr/>
          <a:lstStyle/>
          <a:p>
            <a:endParaRPr lang="en-US"/>
          </a:p>
        </p:txBody>
      </p:sp>
      <p:sp>
        <p:nvSpPr>
          <p:cNvPr id="11" name="Text 8"/>
          <p:cNvSpPr/>
          <p:nvPr/>
        </p:nvSpPr>
        <p:spPr>
          <a:xfrm>
            <a:off x="3749040" y="1389888"/>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Google GKE</a:t>
            </a:r>
            <a:endParaRPr lang="en-US" sz="1300" dirty="0"/>
          </a:p>
        </p:txBody>
      </p:sp>
      <p:sp>
        <p:nvSpPr>
          <p:cNvPr id="12" name="Text 9"/>
          <p:cNvSpPr/>
          <p:nvPr/>
        </p:nvSpPr>
        <p:spPr>
          <a:xfrm>
            <a:off x="5577840" y="1389888"/>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Most mature managed K8s, early pioneer</a:t>
            </a:r>
            <a:endParaRPr lang="en-US" sz="1100" dirty="0"/>
          </a:p>
        </p:txBody>
      </p:sp>
      <p:sp>
        <p:nvSpPr>
          <p:cNvPr id="13" name="Shape 10"/>
          <p:cNvSpPr/>
          <p:nvPr/>
        </p:nvSpPr>
        <p:spPr>
          <a:xfrm>
            <a:off x="3566160" y="1865376"/>
            <a:ext cx="5212080" cy="402336"/>
          </a:xfrm>
          <a:prstGeom prst="rect">
            <a:avLst/>
          </a:prstGeom>
          <a:solidFill>
            <a:srgbClr val="0D2137"/>
          </a:solidFill>
          <a:ln/>
        </p:spPr>
        <p:txBody>
          <a:bodyPr/>
          <a:lstStyle/>
          <a:p>
            <a:endParaRPr lang="en-US"/>
          </a:p>
        </p:txBody>
      </p:sp>
      <p:sp>
        <p:nvSpPr>
          <p:cNvPr id="14" name="Text 11"/>
          <p:cNvSpPr/>
          <p:nvPr/>
        </p:nvSpPr>
        <p:spPr>
          <a:xfrm>
            <a:off x="3749040" y="1865376"/>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Azure AKS</a:t>
            </a:r>
            <a:endParaRPr lang="en-US" sz="1300" dirty="0"/>
          </a:p>
        </p:txBody>
      </p:sp>
      <p:sp>
        <p:nvSpPr>
          <p:cNvPr id="15" name="Text 12"/>
          <p:cNvSpPr/>
          <p:nvPr/>
        </p:nvSpPr>
        <p:spPr>
          <a:xfrm>
            <a:off x="5577840" y="1865376"/>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Microsoft's managed K8s platform</a:t>
            </a:r>
            <a:endParaRPr lang="en-US" sz="1100" dirty="0"/>
          </a:p>
        </p:txBody>
      </p:sp>
      <p:sp>
        <p:nvSpPr>
          <p:cNvPr id="16" name="Shape 13"/>
          <p:cNvSpPr/>
          <p:nvPr/>
        </p:nvSpPr>
        <p:spPr>
          <a:xfrm>
            <a:off x="3566160" y="2340864"/>
            <a:ext cx="5212080" cy="402336"/>
          </a:xfrm>
          <a:prstGeom prst="rect">
            <a:avLst/>
          </a:prstGeom>
          <a:solidFill>
            <a:srgbClr val="0D2137"/>
          </a:solidFill>
          <a:ln/>
        </p:spPr>
        <p:txBody>
          <a:bodyPr/>
          <a:lstStyle/>
          <a:p>
            <a:endParaRPr lang="en-US"/>
          </a:p>
        </p:txBody>
      </p:sp>
      <p:sp>
        <p:nvSpPr>
          <p:cNvPr id="17" name="Text 14"/>
          <p:cNvSpPr/>
          <p:nvPr/>
        </p:nvSpPr>
        <p:spPr>
          <a:xfrm>
            <a:off x="3749040" y="2340864"/>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IBM Cloud K8s</a:t>
            </a:r>
            <a:endParaRPr lang="en-US" sz="1300" dirty="0"/>
          </a:p>
        </p:txBody>
      </p:sp>
      <p:sp>
        <p:nvSpPr>
          <p:cNvPr id="18" name="Text 15"/>
          <p:cNvSpPr/>
          <p:nvPr/>
        </p:nvSpPr>
        <p:spPr>
          <a:xfrm>
            <a:off x="5577840" y="2340864"/>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IBM's managed Kubernetes offering</a:t>
            </a:r>
            <a:endParaRPr lang="en-US" sz="1100" dirty="0"/>
          </a:p>
        </p:txBody>
      </p:sp>
      <p:sp>
        <p:nvSpPr>
          <p:cNvPr id="19" name="Text 16"/>
          <p:cNvSpPr/>
          <p:nvPr/>
        </p:nvSpPr>
        <p:spPr>
          <a:xfrm>
            <a:off x="3566160" y="2999232"/>
            <a:ext cx="5212080" cy="411480"/>
          </a:xfrm>
          <a:prstGeom prst="rect">
            <a:avLst/>
          </a:prstGeom>
          <a:noFill/>
          <a:ln/>
        </p:spPr>
        <p:txBody>
          <a:bodyPr wrap="square" lIns="0" tIns="0" rIns="0" bIns="0" rtlCol="0" anchor="ctr"/>
          <a:lstStyle/>
          <a:p>
            <a:pPr marL="0" indent="0" algn="l">
              <a:buNone/>
            </a:pPr>
            <a:r>
              <a:rPr lang="en-US" sz="1800" b="1" dirty="0">
                <a:solidFill>
                  <a:srgbClr val="21D4FD"/>
                </a:solidFill>
                <a:latin typeface="Trebuchet MS" pitchFamily="34" charset="0"/>
                <a:ea typeface="Trebuchet MS" pitchFamily="34" charset="-122"/>
                <a:cs typeface="Trebuchet MS" pitchFamily="34" charset="-120"/>
              </a:rPr>
              <a:t>Enterprise Platforms</a:t>
            </a:r>
            <a:endParaRPr lang="en-US" sz="1800" dirty="0"/>
          </a:p>
        </p:txBody>
      </p:sp>
      <p:sp>
        <p:nvSpPr>
          <p:cNvPr id="20" name="Shape 17"/>
          <p:cNvSpPr/>
          <p:nvPr/>
        </p:nvSpPr>
        <p:spPr>
          <a:xfrm>
            <a:off x="3566160" y="3456432"/>
            <a:ext cx="5212080" cy="402336"/>
          </a:xfrm>
          <a:prstGeom prst="rect">
            <a:avLst/>
          </a:prstGeom>
          <a:solidFill>
            <a:srgbClr val="0D2137"/>
          </a:solidFill>
          <a:ln/>
        </p:spPr>
        <p:txBody>
          <a:bodyPr/>
          <a:lstStyle/>
          <a:p>
            <a:endParaRPr lang="en-US"/>
          </a:p>
        </p:txBody>
      </p:sp>
      <p:sp>
        <p:nvSpPr>
          <p:cNvPr id="21" name="Text 18"/>
          <p:cNvSpPr/>
          <p:nvPr/>
        </p:nvSpPr>
        <p:spPr>
          <a:xfrm>
            <a:off x="3749040" y="3456432"/>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Red Hat OpenShift</a:t>
            </a:r>
            <a:endParaRPr lang="en-US" sz="1300" dirty="0"/>
          </a:p>
        </p:txBody>
      </p:sp>
      <p:sp>
        <p:nvSpPr>
          <p:cNvPr id="22" name="Text 19"/>
          <p:cNvSpPr/>
          <p:nvPr/>
        </p:nvSpPr>
        <p:spPr>
          <a:xfrm>
            <a:off x="5577840" y="3456432"/>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Enterprise K8s with strong security &amp; CI/CD</a:t>
            </a:r>
            <a:endParaRPr lang="en-US" sz="1100" dirty="0"/>
          </a:p>
        </p:txBody>
      </p:sp>
      <p:sp>
        <p:nvSpPr>
          <p:cNvPr id="23" name="Shape 20"/>
          <p:cNvSpPr/>
          <p:nvPr/>
        </p:nvSpPr>
        <p:spPr>
          <a:xfrm>
            <a:off x="3566160" y="3931920"/>
            <a:ext cx="5212080" cy="402336"/>
          </a:xfrm>
          <a:prstGeom prst="rect">
            <a:avLst/>
          </a:prstGeom>
          <a:solidFill>
            <a:srgbClr val="0D2137"/>
          </a:solidFill>
          <a:ln/>
        </p:spPr>
        <p:txBody>
          <a:bodyPr/>
          <a:lstStyle/>
          <a:p>
            <a:endParaRPr lang="en-US"/>
          </a:p>
        </p:txBody>
      </p:sp>
      <p:sp>
        <p:nvSpPr>
          <p:cNvPr id="24" name="Text 21"/>
          <p:cNvSpPr/>
          <p:nvPr/>
        </p:nvSpPr>
        <p:spPr>
          <a:xfrm>
            <a:off x="3749040" y="3931920"/>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VMware Tanzu</a:t>
            </a:r>
            <a:endParaRPr lang="en-US" sz="1300" dirty="0"/>
          </a:p>
        </p:txBody>
      </p:sp>
      <p:sp>
        <p:nvSpPr>
          <p:cNvPr id="25" name="Text 22"/>
          <p:cNvSpPr/>
          <p:nvPr/>
        </p:nvSpPr>
        <p:spPr>
          <a:xfrm>
            <a:off x="5577840" y="3931920"/>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K8s management across on-prem and cloud</a:t>
            </a:r>
            <a:endParaRPr lang="en-US" sz="1100" dirty="0"/>
          </a:p>
        </p:txBody>
      </p:sp>
      <p:sp>
        <p:nvSpPr>
          <p:cNvPr id="26" name="Shape 23"/>
          <p:cNvSpPr/>
          <p:nvPr/>
        </p:nvSpPr>
        <p:spPr>
          <a:xfrm>
            <a:off x="3566160" y="4407408"/>
            <a:ext cx="5212080" cy="402336"/>
          </a:xfrm>
          <a:prstGeom prst="rect">
            <a:avLst/>
          </a:prstGeom>
          <a:solidFill>
            <a:srgbClr val="0D2137"/>
          </a:solidFill>
          <a:ln/>
        </p:spPr>
        <p:txBody>
          <a:bodyPr/>
          <a:lstStyle/>
          <a:p>
            <a:endParaRPr lang="en-US"/>
          </a:p>
        </p:txBody>
      </p:sp>
      <p:sp>
        <p:nvSpPr>
          <p:cNvPr id="27" name="Text 24"/>
          <p:cNvSpPr/>
          <p:nvPr/>
        </p:nvSpPr>
        <p:spPr>
          <a:xfrm>
            <a:off x="3749040" y="4407408"/>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SUSE Rancher</a:t>
            </a:r>
            <a:endParaRPr lang="en-US" sz="1300" dirty="0"/>
          </a:p>
        </p:txBody>
      </p:sp>
      <p:sp>
        <p:nvSpPr>
          <p:cNvPr id="28" name="Text 25"/>
          <p:cNvSpPr/>
          <p:nvPr/>
        </p:nvSpPr>
        <p:spPr>
          <a:xfrm>
            <a:off x="5577840" y="4407408"/>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Multi-cluster K8s for hybrid/multicloud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Technology Landscape at a Glance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1463040"/>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Category</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Technologies</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Best For</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Core Orchestrators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Kubernetes, Docker Swarm, Apache Mesos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Running containers at scale, automation</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Managed Kubernetes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EKS, GKE, AKS, IBM Cloud K8s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Reduced ops overhead for teams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extLst>
                  <a:ext uri="{0D108BD9-81ED-4DB2-BD59-A6C34878D82A}">
                    <a16:rowId xmlns:a16="http://schemas.microsoft.com/office/drawing/2014/main" val="10002"/>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Enterprise Platforms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OpenShift, Tanzu, Rancher</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Governance, security, large enterprises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extLst>
                  <a:ext uri="{0D108BD9-81ED-4DB2-BD59-A6C34878D82A}">
                    <a16:rowId xmlns:a16="http://schemas.microsoft.com/office/drawing/2014/main" val="10003"/>
                  </a:ext>
                </a:extLst>
              </a:tr>
            </a:tbl>
          </a:graphicData>
        </a:graphic>
      </p:graphicFrame>
      <p:sp>
        <p:nvSpPr>
          <p:cNvPr id="4" name="Text 1"/>
          <p:cNvSpPr/>
          <p:nvPr/>
        </p:nvSpPr>
        <p:spPr>
          <a:xfrm>
            <a:off x="548640" y="2606040"/>
            <a:ext cx="3657600" cy="365760"/>
          </a:xfrm>
          <a:prstGeom prst="rect">
            <a:avLst/>
          </a:prstGeom>
          <a:noFill/>
          <a:ln/>
        </p:spPr>
        <p:txBody>
          <a:bodyPr wrap="square" lIns="0" tIns="0" rIns="0" bIns="0" rtlCol="0" anchor="ctr"/>
          <a:lstStyle/>
          <a:p>
            <a:pPr marL="0" indent="0" algn="l">
              <a:buNone/>
            </a:pPr>
            <a:r>
              <a:rPr lang="en-US" sz="1600" b="1" dirty="0">
                <a:solidFill>
                  <a:srgbClr val="21D4FD"/>
                </a:solidFill>
                <a:latin typeface="Trebuchet MS" pitchFamily="34" charset="0"/>
                <a:ea typeface="Trebuchet MS" pitchFamily="34" charset="-122"/>
                <a:cs typeface="Trebuchet MS" pitchFamily="34" charset="-120"/>
              </a:rPr>
              <a:t>Market Adoption</a:t>
            </a:r>
            <a:endParaRPr lang="en-US" sz="1600" dirty="0"/>
          </a:p>
        </p:txBody>
      </p:sp>
      <p:graphicFrame>
        <p:nvGraphicFramePr>
          <p:cNvPr id="3" name="Chart 0"/>
          <p:cNvGraphicFramePr/>
          <p:nvPr/>
        </p:nvGraphicFramePr>
        <p:xfrm>
          <a:off x="640080" y="3017520"/>
          <a:ext cx="320040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4389120" y="2606040"/>
            <a:ext cx="4206240" cy="2103120"/>
          </a:xfrm>
          <a:prstGeom prst="rect">
            <a:avLst/>
          </a:prstGeom>
          <a:solidFill>
            <a:srgbClr val="065A82">
              <a:alpha val="40000"/>
            </a:srgbClr>
          </a:solidFill>
          <a:ln/>
        </p:spPr>
        <p:txBody>
          <a:bodyPr/>
          <a:lstStyle/>
          <a:p>
            <a:endParaRPr lang="en-US"/>
          </a:p>
        </p:txBody>
      </p:sp>
      <p:sp>
        <p:nvSpPr>
          <p:cNvPr id="7" name="Text 3"/>
          <p:cNvSpPr/>
          <p:nvPr/>
        </p:nvSpPr>
        <p:spPr>
          <a:xfrm>
            <a:off x="4663440" y="2743200"/>
            <a:ext cx="3657600" cy="320040"/>
          </a:xfrm>
          <a:prstGeom prst="rect">
            <a:avLst/>
          </a:prstGeom>
          <a:noFill/>
          <a:ln/>
        </p:spPr>
        <p:txBody>
          <a:bodyPr wrap="square" lIns="0" tIns="0" rIns="0" bIns="0" rtlCol="0" anchor="ctr"/>
          <a:lstStyle/>
          <a:p>
            <a:pPr marL="0" indent="0" algn="l">
              <a:buNone/>
            </a:pPr>
            <a:r>
              <a:rPr lang="en-US" sz="1500" b="1" dirty="0">
                <a:solidFill>
                  <a:srgbClr val="21D4FD"/>
                </a:solidFill>
                <a:latin typeface="Trebuchet MS" pitchFamily="34" charset="0"/>
                <a:ea typeface="Trebuchet MS" pitchFamily="34" charset="-122"/>
                <a:cs typeface="Trebuchet MS" pitchFamily="34" charset="-120"/>
              </a:rPr>
              <a:t>Key Insight</a:t>
            </a:r>
            <a:endParaRPr lang="en-US" sz="1500" dirty="0"/>
          </a:p>
        </p:txBody>
      </p:sp>
      <p:sp>
        <p:nvSpPr>
          <p:cNvPr id="8" name="Text 4"/>
          <p:cNvSpPr/>
          <p:nvPr/>
        </p:nvSpPr>
        <p:spPr>
          <a:xfrm>
            <a:off x="4663440" y="3108960"/>
            <a:ext cx="3657600" cy="1371600"/>
          </a:xfrm>
          <a:prstGeom prst="rect">
            <a:avLst/>
          </a:prstGeom>
          <a:noFill/>
          <a:ln/>
        </p:spPr>
        <p:txBody>
          <a:bodyPr wrap="square" lIns="0" tIns="0" rIns="0" bIns="0" rtlCol="0" anchor="t"/>
          <a:lstStyle/>
          <a:p>
            <a:pPr marL="0" indent="0" algn="l">
              <a:lnSpc>
                <a:spcPct val="130000"/>
              </a:lnSpc>
              <a:buNone/>
            </a:pPr>
            <a:r>
              <a:rPr lang="en-US" sz="1100" dirty="0">
                <a:solidFill>
                  <a:srgbClr val="E2E8F0"/>
                </a:solidFill>
                <a:latin typeface="Calibri" pitchFamily="34" charset="0"/>
                <a:ea typeface="Calibri" pitchFamily="34" charset="-122"/>
                <a:cs typeface="Calibri" pitchFamily="34" charset="-120"/>
              </a:rPr>
              <a:t>Kubernetes is the clear industry leader, with most cloud and enterprise platforms built directly on top of it. Whether managed (EKS, GKE, AKS) or extended (OpenShift, Tanzu, Rancher), the K8s ecosystem dominates container orchestration across all segments.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622A5-0F38-C0F8-1B09-FBF26093C9DF}"/>
              </a:ext>
            </a:extLst>
          </p:cNvPr>
          <p:cNvSpPr>
            <a:spLocks noGrp="1"/>
          </p:cNvSpPr>
          <p:nvPr>
            <p:ph type="ctrTitle"/>
          </p:nvPr>
        </p:nvSpPr>
        <p:spPr/>
        <p:txBody>
          <a:bodyPr/>
          <a:lstStyle/>
          <a:p>
            <a:r>
              <a:rPr lang="en-US" sz="4400" b="1" dirty="0">
                <a:solidFill>
                  <a:srgbClr val="FFFFFF"/>
                </a:solidFill>
                <a:latin typeface="Trebuchet MS" pitchFamily="34" charset="0"/>
              </a:rPr>
              <a:t>Kubernetes</a:t>
            </a:r>
          </a:p>
        </p:txBody>
      </p:sp>
      <p:sp>
        <p:nvSpPr>
          <p:cNvPr id="3" name="Subtitle 2">
            <a:extLst>
              <a:ext uri="{FF2B5EF4-FFF2-40B4-BE49-F238E27FC236}">
                <a16:creationId xmlns:a16="http://schemas.microsoft.com/office/drawing/2014/main" id="{EB068E37-8A26-4114-0B71-EF0362255F95}"/>
              </a:ext>
            </a:extLst>
          </p:cNvPr>
          <p:cNvSpPr>
            <a:spLocks noGrp="1"/>
          </p:cNvSpPr>
          <p:nvPr>
            <p:ph type="subTitle" idx="1"/>
          </p:nvPr>
        </p:nvSpPr>
        <p:spPr/>
        <p:txBody>
          <a:bodyPr/>
          <a:lstStyle/>
          <a:p>
            <a:r>
              <a:rPr lang="en-US" sz="2000" dirty="0">
                <a:solidFill>
                  <a:srgbClr val="21D4FD"/>
                </a:solidFill>
                <a:latin typeface="Calibri" pitchFamily="34" charset="0"/>
              </a:rPr>
              <a:t>Container Orchestration at Scale</a:t>
            </a:r>
          </a:p>
        </p:txBody>
      </p:sp>
    </p:spTree>
    <p:extLst>
      <p:ext uri="{BB962C8B-B14F-4D97-AF65-F5344CB8AC3E}">
        <p14:creationId xmlns:p14="http://schemas.microsoft.com/office/powerpoint/2010/main" val="464772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agent/turn2/workspace/images/isometric-3d-illustration-of-kubernetes-cluster-ar_2026-05-05T05-10-09_image_DAS_0.jpg"/>
          <p:cNvPicPr>
            <a:picLocks noChangeAspect="1"/>
          </p:cNvPicPr>
          <p:nvPr/>
        </p:nvPicPr>
        <p:blipFill>
          <a:blip r:embed="rId2"/>
          <a:srcRect l="27481" r="27481"/>
          <a:stretch/>
        </p:blipFill>
        <p:spPr>
          <a:xfrm>
            <a:off x="5669280" y="0"/>
            <a:ext cx="3474720" cy="5143500"/>
          </a:xfrm>
          <a:prstGeom prst="rect">
            <a:avLst/>
          </a:prstGeom>
        </p:spPr>
      </p:pic>
      <p:sp>
        <p:nvSpPr>
          <p:cNvPr id="3" name="Shape 0"/>
          <p:cNvSpPr/>
          <p:nvPr/>
        </p:nvSpPr>
        <p:spPr>
          <a:xfrm>
            <a:off x="5669280" y="0"/>
            <a:ext cx="3474720" cy="5143500"/>
          </a:xfrm>
          <a:prstGeom prst="rect">
            <a:avLst/>
          </a:prstGeom>
          <a:solidFill>
            <a:srgbClr val="0F1B2D">
              <a:alpha val="65000"/>
            </a:srgbClr>
          </a:solidFill>
          <a:ln/>
        </p:spPr>
        <p:txBody>
          <a:bodyPr/>
          <a:lstStyle/>
          <a:p>
            <a:endParaRPr lang="en-US"/>
          </a:p>
        </p:txBody>
      </p:sp>
      <p:sp>
        <p:nvSpPr>
          <p:cNvPr id="4" name="Text 1"/>
          <p:cNvSpPr/>
          <p:nvPr/>
        </p:nvSpPr>
        <p:spPr>
          <a:xfrm>
            <a:off x="548640" y="274320"/>
            <a:ext cx="493776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Kubernetes Architecture</a:t>
            </a:r>
            <a:endParaRPr lang="en-US" sz="2800" dirty="0"/>
          </a:p>
        </p:txBody>
      </p:sp>
      <p:sp>
        <p:nvSpPr>
          <p:cNvPr id="5" name="Text 2"/>
          <p:cNvSpPr/>
          <p:nvPr/>
        </p:nvSpPr>
        <p:spPr>
          <a:xfrm>
            <a:off x="548640" y="822960"/>
            <a:ext cx="4937760" cy="32004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How the control plane and worker nodes collaborate</a:t>
            </a:r>
            <a:endParaRPr lang="en-US" sz="1200" dirty="0"/>
          </a:p>
        </p:txBody>
      </p:sp>
      <p:pic>
        <p:nvPicPr>
          <p:cNvPr id="6" name="Image 1" descr="preencoded.png"/>
          <p:cNvPicPr>
            <a:picLocks noChangeAspect="1"/>
          </p:cNvPicPr>
          <p:nvPr/>
        </p:nvPicPr>
        <p:blipFill>
          <a:blip r:embed="rId3"/>
          <a:stretch>
            <a:fillRect/>
          </a:stretch>
        </p:blipFill>
        <p:spPr>
          <a:xfrm>
            <a:off x="548640" y="1280160"/>
            <a:ext cx="274320" cy="274320"/>
          </a:xfrm>
          <a:prstGeom prst="rect">
            <a:avLst/>
          </a:prstGeom>
        </p:spPr>
      </p:pic>
      <p:sp>
        <p:nvSpPr>
          <p:cNvPr id="7" name="Text 3"/>
          <p:cNvSpPr/>
          <p:nvPr/>
        </p:nvSpPr>
        <p:spPr>
          <a:xfrm>
            <a:off x="914400" y="1234440"/>
            <a:ext cx="27432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Control Plane</a:t>
            </a:r>
            <a:endParaRPr lang="en-US" sz="1500" dirty="0"/>
          </a:p>
        </p:txBody>
      </p:sp>
      <p:sp>
        <p:nvSpPr>
          <p:cNvPr id="8" name="Shape 4"/>
          <p:cNvSpPr/>
          <p:nvPr/>
        </p:nvSpPr>
        <p:spPr>
          <a:xfrm>
            <a:off x="548640" y="1691640"/>
            <a:ext cx="4754880" cy="329184"/>
          </a:xfrm>
          <a:prstGeom prst="rect">
            <a:avLst/>
          </a:prstGeom>
          <a:solidFill>
            <a:srgbClr val="0D2137"/>
          </a:solidFill>
          <a:ln/>
        </p:spPr>
        <p:txBody>
          <a:bodyPr/>
          <a:lstStyle/>
          <a:p>
            <a:endParaRPr lang="en-US"/>
          </a:p>
        </p:txBody>
      </p:sp>
      <p:sp>
        <p:nvSpPr>
          <p:cNvPr id="9" name="Text 5"/>
          <p:cNvSpPr/>
          <p:nvPr/>
        </p:nvSpPr>
        <p:spPr>
          <a:xfrm>
            <a:off x="731520" y="1691640"/>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API Server</a:t>
            </a:r>
            <a:endParaRPr lang="en-US" sz="1100" dirty="0"/>
          </a:p>
        </p:txBody>
      </p:sp>
      <p:sp>
        <p:nvSpPr>
          <p:cNvPr id="10" name="Text 6"/>
          <p:cNvSpPr/>
          <p:nvPr/>
        </p:nvSpPr>
        <p:spPr>
          <a:xfrm>
            <a:off x="2286000" y="1691640"/>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Central gateway for all cluster operations</a:t>
            </a:r>
            <a:endParaRPr lang="en-US" sz="1000" dirty="0"/>
          </a:p>
        </p:txBody>
      </p:sp>
      <p:sp>
        <p:nvSpPr>
          <p:cNvPr id="11" name="Shape 7"/>
          <p:cNvSpPr/>
          <p:nvPr/>
        </p:nvSpPr>
        <p:spPr>
          <a:xfrm>
            <a:off x="548640" y="2075688"/>
            <a:ext cx="4754880" cy="329184"/>
          </a:xfrm>
          <a:prstGeom prst="rect">
            <a:avLst/>
          </a:prstGeom>
          <a:solidFill>
            <a:srgbClr val="0D2137"/>
          </a:solidFill>
          <a:ln/>
        </p:spPr>
        <p:txBody>
          <a:bodyPr/>
          <a:lstStyle/>
          <a:p>
            <a:endParaRPr lang="en-US"/>
          </a:p>
        </p:txBody>
      </p:sp>
      <p:sp>
        <p:nvSpPr>
          <p:cNvPr id="12" name="Text 8"/>
          <p:cNvSpPr/>
          <p:nvPr/>
        </p:nvSpPr>
        <p:spPr>
          <a:xfrm>
            <a:off x="731520" y="2075688"/>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etcd</a:t>
            </a:r>
            <a:endParaRPr lang="en-US" sz="1100" dirty="0"/>
          </a:p>
        </p:txBody>
      </p:sp>
      <p:sp>
        <p:nvSpPr>
          <p:cNvPr id="13" name="Text 9"/>
          <p:cNvSpPr/>
          <p:nvPr/>
        </p:nvSpPr>
        <p:spPr>
          <a:xfrm>
            <a:off x="2286000" y="2075688"/>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Distributed key-value store for cluster state</a:t>
            </a:r>
            <a:endParaRPr lang="en-US" sz="1000" dirty="0"/>
          </a:p>
        </p:txBody>
      </p:sp>
      <p:sp>
        <p:nvSpPr>
          <p:cNvPr id="14" name="Shape 10"/>
          <p:cNvSpPr/>
          <p:nvPr/>
        </p:nvSpPr>
        <p:spPr>
          <a:xfrm>
            <a:off x="548640" y="2459736"/>
            <a:ext cx="4754880" cy="329184"/>
          </a:xfrm>
          <a:prstGeom prst="rect">
            <a:avLst/>
          </a:prstGeom>
          <a:solidFill>
            <a:srgbClr val="0D2137"/>
          </a:solidFill>
          <a:ln/>
        </p:spPr>
        <p:txBody>
          <a:bodyPr/>
          <a:lstStyle/>
          <a:p>
            <a:endParaRPr lang="en-US"/>
          </a:p>
        </p:txBody>
      </p:sp>
      <p:sp>
        <p:nvSpPr>
          <p:cNvPr id="15" name="Text 11"/>
          <p:cNvSpPr/>
          <p:nvPr/>
        </p:nvSpPr>
        <p:spPr>
          <a:xfrm>
            <a:off x="731520" y="2459736"/>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Scheduler</a:t>
            </a:r>
            <a:endParaRPr lang="en-US" sz="1100" dirty="0"/>
          </a:p>
        </p:txBody>
      </p:sp>
      <p:sp>
        <p:nvSpPr>
          <p:cNvPr id="16" name="Text 12"/>
          <p:cNvSpPr/>
          <p:nvPr/>
        </p:nvSpPr>
        <p:spPr>
          <a:xfrm>
            <a:off x="2286000" y="2459736"/>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Assigns pods to nodes based on resources</a:t>
            </a:r>
            <a:endParaRPr lang="en-US" sz="1000" dirty="0"/>
          </a:p>
        </p:txBody>
      </p:sp>
      <p:sp>
        <p:nvSpPr>
          <p:cNvPr id="17" name="Shape 13"/>
          <p:cNvSpPr/>
          <p:nvPr/>
        </p:nvSpPr>
        <p:spPr>
          <a:xfrm>
            <a:off x="548640" y="2843784"/>
            <a:ext cx="4754880" cy="329184"/>
          </a:xfrm>
          <a:prstGeom prst="rect">
            <a:avLst/>
          </a:prstGeom>
          <a:solidFill>
            <a:srgbClr val="0D2137"/>
          </a:solidFill>
          <a:ln/>
        </p:spPr>
        <p:txBody>
          <a:bodyPr/>
          <a:lstStyle/>
          <a:p>
            <a:endParaRPr lang="en-US"/>
          </a:p>
        </p:txBody>
      </p:sp>
      <p:sp>
        <p:nvSpPr>
          <p:cNvPr id="18" name="Text 14"/>
          <p:cNvSpPr/>
          <p:nvPr/>
        </p:nvSpPr>
        <p:spPr>
          <a:xfrm>
            <a:off x="731520" y="2843784"/>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Controller Mgr</a:t>
            </a:r>
            <a:endParaRPr lang="en-US" sz="1100" dirty="0"/>
          </a:p>
        </p:txBody>
      </p:sp>
      <p:sp>
        <p:nvSpPr>
          <p:cNvPr id="19" name="Text 15"/>
          <p:cNvSpPr/>
          <p:nvPr/>
        </p:nvSpPr>
        <p:spPr>
          <a:xfrm>
            <a:off x="2286000" y="2843784"/>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Maintains desired state via control loops</a:t>
            </a:r>
            <a:endParaRPr lang="en-US" sz="1000" dirty="0"/>
          </a:p>
        </p:txBody>
      </p:sp>
      <p:pic>
        <p:nvPicPr>
          <p:cNvPr id="20" name="Image 2" descr="preencoded.png"/>
          <p:cNvPicPr>
            <a:picLocks noChangeAspect="1"/>
          </p:cNvPicPr>
          <p:nvPr/>
        </p:nvPicPr>
        <p:blipFill>
          <a:blip r:embed="rId4"/>
          <a:stretch>
            <a:fillRect/>
          </a:stretch>
        </p:blipFill>
        <p:spPr>
          <a:xfrm>
            <a:off x="548640" y="3410712"/>
            <a:ext cx="274320" cy="274320"/>
          </a:xfrm>
          <a:prstGeom prst="rect">
            <a:avLst/>
          </a:prstGeom>
        </p:spPr>
      </p:pic>
      <p:sp>
        <p:nvSpPr>
          <p:cNvPr id="21" name="Text 16"/>
          <p:cNvSpPr/>
          <p:nvPr/>
        </p:nvSpPr>
        <p:spPr>
          <a:xfrm>
            <a:off x="914400" y="3364992"/>
            <a:ext cx="27432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Worker Nodes</a:t>
            </a:r>
            <a:endParaRPr lang="en-US" sz="1500" dirty="0"/>
          </a:p>
        </p:txBody>
      </p:sp>
      <p:sp>
        <p:nvSpPr>
          <p:cNvPr id="22" name="Shape 17"/>
          <p:cNvSpPr/>
          <p:nvPr/>
        </p:nvSpPr>
        <p:spPr>
          <a:xfrm>
            <a:off x="548640" y="3822192"/>
            <a:ext cx="4754880" cy="329184"/>
          </a:xfrm>
          <a:prstGeom prst="rect">
            <a:avLst/>
          </a:prstGeom>
          <a:solidFill>
            <a:srgbClr val="0D2137"/>
          </a:solidFill>
          <a:ln/>
        </p:spPr>
        <p:txBody>
          <a:bodyPr/>
          <a:lstStyle/>
          <a:p>
            <a:endParaRPr lang="en-US"/>
          </a:p>
        </p:txBody>
      </p:sp>
      <p:sp>
        <p:nvSpPr>
          <p:cNvPr id="23" name="Text 18"/>
          <p:cNvSpPr/>
          <p:nvPr/>
        </p:nvSpPr>
        <p:spPr>
          <a:xfrm>
            <a:off x="731520" y="3822192"/>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kubelet</a:t>
            </a:r>
            <a:endParaRPr lang="en-US" sz="1100" dirty="0"/>
          </a:p>
        </p:txBody>
      </p:sp>
      <p:sp>
        <p:nvSpPr>
          <p:cNvPr id="24" name="Text 19"/>
          <p:cNvSpPr/>
          <p:nvPr/>
        </p:nvSpPr>
        <p:spPr>
          <a:xfrm>
            <a:off x="2286000" y="3822192"/>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Agent ensuring containers run in pods</a:t>
            </a:r>
            <a:endParaRPr lang="en-US" sz="1000" dirty="0"/>
          </a:p>
        </p:txBody>
      </p:sp>
      <p:sp>
        <p:nvSpPr>
          <p:cNvPr id="25" name="Shape 20"/>
          <p:cNvSpPr/>
          <p:nvPr/>
        </p:nvSpPr>
        <p:spPr>
          <a:xfrm>
            <a:off x="548640" y="4206240"/>
            <a:ext cx="4754880" cy="329184"/>
          </a:xfrm>
          <a:prstGeom prst="rect">
            <a:avLst/>
          </a:prstGeom>
          <a:solidFill>
            <a:srgbClr val="0D2137"/>
          </a:solidFill>
          <a:ln/>
        </p:spPr>
        <p:txBody>
          <a:bodyPr/>
          <a:lstStyle/>
          <a:p>
            <a:endParaRPr lang="en-US"/>
          </a:p>
        </p:txBody>
      </p:sp>
      <p:sp>
        <p:nvSpPr>
          <p:cNvPr id="26" name="Text 21"/>
          <p:cNvSpPr/>
          <p:nvPr/>
        </p:nvSpPr>
        <p:spPr>
          <a:xfrm>
            <a:off x="731520" y="4206240"/>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kube-proxy</a:t>
            </a:r>
            <a:endParaRPr lang="en-US" sz="1100" dirty="0"/>
          </a:p>
        </p:txBody>
      </p:sp>
      <p:sp>
        <p:nvSpPr>
          <p:cNvPr id="27" name="Text 22"/>
          <p:cNvSpPr/>
          <p:nvPr/>
        </p:nvSpPr>
        <p:spPr>
          <a:xfrm>
            <a:off x="2286000" y="4206240"/>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Network proxy managing service routing</a:t>
            </a:r>
            <a:endParaRPr lang="en-US" sz="1000" dirty="0"/>
          </a:p>
        </p:txBody>
      </p:sp>
      <p:sp>
        <p:nvSpPr>
          <p:cNvPr id="28" name="Shape 23"/>
          <p:cNvSpPr/>
          <p:nvPr/>
        </p:nvSpPr>
        <p:spPr>
          <a:xfrm>
            <a:off x="548640" y="4590288"/>
            <a:ext cx="4754880" cy="329184"/>
          </a:xfrm>
          <a:prstGeom prst="rect">
            <a:avLst/>
          </a:prstGeom>
          <a:solidFill>
            <a:srgbClr val="0D2137"/>
          </a:solidFill>
          <a:ln/>
        </p:spPr>
        <p:txBody>
          <a:bodyPr/>
          <a:lstStyle/>
          <a:p>
            <a:endParaRPr lang="en-US"/>
          </a:p>
        </p:txBody>
      </p:sp>
      <p:sp>
        <p:nvSpPr>
          <p:cNvPr id="29" name="Text 24"/>
          <p:cNvSpPr/>
          <p:nvPr/>
        </p:nvSpPr>
        <p:spPr>
          <a:xfrm>
            <a:off x="731520" y="4590288"/>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Container Runtime</a:t>
            </a:r>
            <a:endParaRPr lang="en-US" sz="1100" dirty="0"/>
          </a:p>
        </p:txBody>
      </p:sp>
      <p:sp>
        <p:nvSpPr>
          <p:cNvPr id="30" name="Text 25"/>
          <p:cNvSpPr/>
          <p:nvPr/>
        </p:nvSpPr>
        <p:spPr>
          <a:xfrm>
            <a:off x="2286000" y="4590288"/>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Runs containers (containerd, CRI-O)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Core Kubernetes Components</a:t>
            </a:r>
            <a:endParaRPr lang="en-US" sz="2800" dirty="0"/>
          </a:p>
        </p:txBody>
      </p:sp>
      <p:sp>
        <p:nvSpPr>
          <p:cNvPr id="3" name="Shape 1"/>
          <p:cNvSpPr/>
          <p:nvPr/>
        </p:nvSpPr>
        <p:spPr>
          <a:xfrm>
            <a:off x="54864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4" name="Image 0" descr="preencoded.png"/>
          <p:cNvPicPr>
            <a:picLocks noChangeAspect="1"/>
          </p:cNvPicPr>
          <p:nvPr/>
        </p:nvPicPr>
        <p:blipFill>
          <a:blip r:embed="rId2"/>
          <a:stretch>
            <a:fillRect/>
          </a:stretch>
        </p:blipFill>
        <p:spPr>
          <a:xfrm>
            <a:off x="731520" y="1188720"/>
            <a:ext cx="320040" cy="320040"/>
          </a:xfrm>
          <a:prstGeom prst="rect">
            <a:avLst/>
          </a:prstGeom>
        </p:spPr>
      </p:pic>
      <p:sp>
        <p:nvSpPr>
          <p:cNvPr id="5" name="Text 2"/>
          <p:cNvSpPr/>
          <p:nvPr/>
        </p:nvSpPr>
        <p:spPr>
          <a:xfrm>
            <a:off x="1143000" y="1161288"/>
            <a:ext cx="178308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Pods</a:t>
            </a:r>
            <a:endParaRPr lang="en-US" sz="1400" dirty="0"/>
          </a:p>
        </p:txBody>
      </p:sp>
      <p:sp>
        <p:nvSpPr>
          <p:cNvPr id="6" name="Text 3"/>
          <p:cNvSpPr/>
          <p:nvPr/>
        </p:nvSpPr>
        <p:spPr>
          <a:xfrm>
            <a:off x="73152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Smallest deployable unit — one or more containers sharing network and storage</a:t>
            </a:r>
            <a:endParaRPr lang="en-US" sz="1000" dirty="0"/>
          </a:p>
        </p:txBody>
      </p:sp>
      <p:sp>
        <p:nvSpPr>
          <p:cNvPr id="7" name="Shape 4"/>
          <p:cNvSpPr/>
          <p:nvPr/>
        </p:nvSpPr>
        <p:spPr>
          <a:xfrm>
            <a:off x="338328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8" name="Image 1" descr="preencoded.png"/>
          <p:cNvPicPr>
            <a:picLocks noChangeAspect="1"/>
          </p:cNvPicPr>
          <p:nvPr/>
        </p:nvPicPr>
        <p:blipFill>
          <a:blip r:embed="rId3"/>
          <a:stretch>
            <a:fillRect/>
          </a:stretch>
        </p:blipFill>
        <p:spPr>
          <a:xfrm>
            <a:off x="3566160" y="1188720"/>
            <a:ext cx="320040" cy="320040"/>
          </a:xfrm>
          <a:prstGeom prst="rect">
            <a:avLst/>
          </a:prstGeom>
        </p:spPr>
      </p:pic>
      <p:sp>
        <p:nvSpPr>
          <p:cNvPr id="9" name="Text 5"/>
          <p:cNvSpPr/>
          <p:nvPr/>
        </p:nvSpPr>
        <p:spPr>
          <a:xfrm>
            <a:off x="3977640" y="1161288"/>
            <a:ext cx="1783080" cy="365760"/>
          </a:xfrm>
          <a:prstGeom prst="rect">
            <a:avLst/>
          </a:prstGeom>
          <a:noFill/>
          <a:ln/>
        </p:spPr>
        <p:txBody>
          <a:bodyPr wrap="square" lIns="0" tIns="0" rIns="0" bIns="0" rtlCol="0" anchor="ctr"/>
          <a:lstStyle/>
          <a:p>
            <a:pPr marL="0" indent="0" algn="l">
              <a:buNone/>
            </a:pPr>
            <a:r>
              <a:rPr lang="en-US" sz="1400" b="1" dirty="0">
                <a:solidFill>
                  <a:srgbClr val="38BDF8"/>
                </a:solidFill>
                <a:latin typeface="Trebuchet MS" pitchFamily="34" charset="0"/>
                <a:ea typeface="Trebuchet MS" pitchFamily="34" charset="-122"/>
                <a:cs typeface="Trebuchet MS" pitchFamily="34" charset="-120"/>
              </a:rPr>
              <a:t>Services</a:t>
            </a:r>
            <a:endParaRPr lang="en-US" sz="1400" dirty="0"/>
          </a:p>
        </p:txBody>
      </p:sp>
      <p:sp>
        <p:nvSpPr>
          <p:cNvPr id="10" name="Text 6"/>
          <p:cNvSpPr/>
          <p:nvPr/>
        </p:nvSpPr>
        <p:spPr>
          <a:xfrm>
            <a:off x="356616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Stable network endpoint that routes traffic to a set of pods via selectors</a:t>
            </a:r>
            <a:endParaRPr lang="en-US" sz="1000" dirty="0"/>
          </a:p>
        </p:txBody>
      </p:sp>
      <p:sp>
        <p:nvSpPr>
          <p:cNvPr id="11" name="Shape 7"/>
          <p:cNvSpPr/>
          <p:nvPr/>
        </p:nvSpPr>
        <p:spPr>
          <a:xfrm>
            <a:off x="621792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12" name="Image 2" descr="preencoded.png"/>
          <p:cNvPicPr>
            <a:picLocks noChangeAspect="1"/>
          </p:cNvPicPr>
          <p:nvPr/>
        </p:nvPicPr>
        <p:blipFill>
          <a:blip r:embed="rId4"/>
          <a:stretch>
            <a:fillRect/>
          </a:stretch>
        </p:blipFill>
        <p:spPr>
          <a:xfrm>
            <a:off x="6400800" y="1188720"/>
            <a:ext cx="320040" cy="320040"/>
          </a:xfrm>
          <a:prstGeom prst="rect">
            <a:avLst/>
          </a:prstGeom>
        </p:spPr>
      </p:pic>
      <p:sp>
        <p:nvSpPr>
          <p:cNvPr id="13" name="Text 8"/>
          <p:cNvSpPr/>
          <p:nvPr/>
        </p:nvSpPr>
        <p:spPr>
          <a:xfrm>
            <a:off x="6812280" y="1161288"/>
            <a:ext cx="1783080" cy="365760"/>
          </a:xfrm>
          <a:prstGeom prst="rect">
            <a:avLst/>
          </a:prstGeom>
          <a:noFill/>
          <a:ln/>
        </p:spPr>
        <p:txBody>
          <a:bodyPr wrap="square" lIns="0" tIns="0" rIns="0" bIns="0" rtlCol="0" anchor="ctr"/>
          <a:lstStyle/>
          <a:p>
            <a:pPr marL="0" indent="0" algn="l">
              <a:buNone/>
            </a:pPr>
            <a:r>
              <a:rPr lang="en-US" sz="1400" b="1" dirty="0">
                <a:solidFill>
                  <a:srgbClr val="818CF8"/>
                </a:solidFill>
                <a:latin typeface="Trebuchet MS" pitchFamily="34" charset="0"/>
                <a:ea typeface="Trebuchet MS" pitchFamily="34" charset="-122"/>
                <a:cs typeface="Trebuchet MS" pitchFamily="34" charset="-120"/>
              </a:rPr>
              <a:t>Deployments</a:t>
            </a:r>
            <a:endParaRPr lang="en-US" sz="1400" dirty="0"/>
          </a:p>
        </p:txBody>
      </p:sp>
      <p:sp>
        <p:nvSpPr>
          <p:cNvPr id="14" name="Text 9"/>
          <p:cNvSpPr/>
          <p:nvPr/>
        </p:nvSpPr>
        <p:spPr>
          <a:xfrm>
            <a:off x="640080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Declarative updates for pods and ReplicaSets with rolling update strategy</a:t>
            </a:r>
            <a:endParaRPr lang="en-US" sz="1000" dirty="0"/>
          </a:p>
        </p:txBody>
      </p:sp>
      <p:sp>
        <p:nvSpPr>
          <p:cNvPr id="15" name="Shape 10"/>
          <p:cNvSpPr/>
          <p:nvPr/>
        </p:nvSpPr>
        <p:spPr>
          <a:xfrm>
            <a:off x="54864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16" name="Image 3" descr="preencoded.png"/>
          <p:cNvPicPr>
            <a:picLocks noChangeAspect="1"/>
          </p:cNvPicPr>
          <p:nvPr/>
        </p:nvPicPr>
        <p:blipFill>
          <a:blip r:embed="rId5"/>
          <a:stretch>
            <a:fillRect/>
          </a:stretch>
        </p:blipFill>
        <p:spPr>
          <a:xfrm>
            <a:off x="731520" y="2788920"/>
            <a:ext cx="320040" cy="320040"/>
          </a:xfrm>
          <a:prstGeom prst="rect">
            <a:avLst/>
          </a:prstGeom>
        </p:spPr>
      </p:pic>
      <p:sp>
        <p:nvSpPr>
          <p:cNvPr id="17" name="Text 11"/>
          <p:cNvSpPr/>
          <p:nvPr/>
        </p:nvSpPr>
        <p:spPr>
          <a:xfrm>
            <a:off x="1143000" y="2761488"/>
            <a:ext cx="1783080" cy="365760"/>
          </a:xfrm>
          <a:prstGeom prst="rect">
            <a:avLst/>
          </a:prstGeom>
          <a:noFill/>
          <a:ln/>
        </p:spPr>
        <p:txBody>
          <a:bodyPr wrap="square" lIns="0" tIns="0" rIns="0" bIns="0" rtlCol="0" anchor="ctr"/>
          <a:lstStyle/>
          <a:p>
            <a:pPr marL="0" indent="0" algn="l">
              <a:buNone/>
            </a:pPr>
            <a:r>
              <a:rPr lang="en-US" sz="1400" b="1" dirty="0">
                <a:solidFill>
                  <a:srgbClr val="34D399"/>
                </a:solidFill>
                <a:latin typeface="Trebuchet MS" pitchFamily="34" charset="0"/>
                <a:ea typeface="Trebuchet MS" pitchFamily="34" charset="-122"/>
                <a:cs typeface="Trebuchet MS" pitchFamily="34" charset="-120"/>
              </a:rPr>
              <a:t>Config &amp; Secrets</a:t>
            </a:r>
            <a:endParaRPr lang="en-US" sz="1400" dirty="0"/>
          </a:p>
        </p:txBody>
      </p:sp>
      <p:sp>
        <p:nvSpPr>
          <p:cNvPr id="18" name="Text 12"/>
          <p:cNvSpPr/>
          <p:nvPr/>
        </p:nvSpPr>
        <p:spPr>
          <a:xfrm>
            <a:off x="73152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Decouple configuration and sensitive data from container images</a:t>
            </a:r>
            <a:endParaRPr lang="en-US" sz="1000" dirty="0"/>
          </a:p>
        </p:txBody>
      </p:sp>
      <p:sp>
        <p:nvSpPr>
          <p:cNvPr id="19" name="Shape 13"/>
          <p:cNvSpPr/>
          <p:nvPr/>
        </p:nvSpPr>
        <p:spPr>
          <a:xfrm>
            <a:off x="338328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20" name="Image 4" descr="preencoded.png"/>
          <p:cNvPicPr>
            <a:picLocks noChangeAspect="1"/>
          </p:cNvPicPr>
          <p:nvPr/>
        </p:nvPicPr>
        <p:blipFill>
          <a:blip r:embed="rId6"/>
          <a:stretch>
            <a:fillRect/>
          </a:stretch>
        </p:blipFill>
        <p:spPr>
          <a:xfrm>
            <a:off x="3566160" y="2788920"/>
            <a:ext cx="320040" cy="320040"/>
          </a:xfrm>
          <a:prstGeom prst="rect">
            <a:avLst/>
          </a:prstGeom>
        </p:spPr>
      </p:pic>
      <p:sp>
        <p:nvSpPr>
          <p:cNvPr id="21" name="Text 14"/>
          <p:cNvSpPr/>
          <p:nvPr/>
        </p:nvSpPr>
        <p:spPr>
          <a:xfrm>
            <a:off x="3977640" y="2761488"/>
            <a:ext cx="1783080" cy="365760"/>
          </a:xfrm>
          <a:prstGeom prst="rect">
            <a:avLst/>
          </a:prstGeom>
          <a:noFill/>
          <a:ln/>
        </p:spPr>
        <p:txBody>
          <a:bodyPr wrap="square" lIns="0" tIns="0" rIns="0" bIns="0" rtlCol="0" anchor="ctr"/>
          <a:lstStyle/>
          <a:p>
            <a:pPr marL="0" indent="0" algn="l">
              <a:buNone/>
            </a:pPr>
            <a:r>
              <a:rPr lang="en-US" sz="1400" b="1" dirty="0">
                <a:solidFill>
                  <a:srgbClr val="F59E0B"/>
                </a:solidFill>
                <a:latin typeface="Trebuchet MS" pitchFamily="34" charset="0"/>
                <a:ea typeface="Trebuchet MS" pitchFamily="34" charset="-122"/>
                <a:cs typeface="Trebuchet MS" pitchFamily="34" charset="-120"/>
              </a:rPr>
              <a:t>Namespaces</a:t>
            </a:r>
            <a:endParaRPr lang="en-US" sz="1400" dirty="0"/>
          </a:p>
        </p:txBody>
      </p:sp>
      <p:sp>
        <p:nvSpPr>
          <p:cNvPr id="22" name="Text 15"/>
          <p:cNvSpPr/>
          <p:nvPr/>
        </p:nvSpPr>
        <p:spPr>
          <a:xfrm>
            <a:off x="356616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Virtual clusters for resource isolation and multi-tenancy within a cluster</a:t>
            </a:r>
            <a:endParaRPr lang="en-US" sz="1000" dirty="0"/>
          </a:p>
        </p:txBody>
      </p:sp>
      <p:sp>
        <p:nvSpPr>
          <p:cNvPr id="23" name="Shape 16"/>
          <p:cNvSpPr/>
          <p:nvPr/>
        </p:nvSpPr>
        <p:spPr>
          <a:xfrm>
            <a:off x="621792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24" name="Image 5" descr="preencoded.png"/>
          <p:cNvPicPr>
            <a:picLocks noChangeAspect="1"/>
          </p:cNvPicPr>
          <p:nvPr/>
        </p:nvPicPr>
        <p:blipFill>
          <a:blip r:embed="rId7"/>
          <a:stretch>
            <a:fillRect/>
          </a:stretch>
        </p:blipFill>
        <p:spPr>
          <a:xfrm>
            <a:off x="6400800" y="2788920"/>
            <a:ext cx="320040" cy="320040"/>
          </a:xfrm>
          <a:prstGeom prst="rect">
            <a:avLst/>
          </a:prstGeom>
        </p:spPr>
      </p:pic>
      <p:sp>
        <p:nvSpPr>
          <p:cNvPr id="25" name="Text 17"/>
          <p:cNvSpPr/>
          <p:nvPr/>
        </p:nvSpPr>
        <p:spPr>
          <a:xfrm>
            <a:off x="6812280" y="2761488"/>
            <a:ext cx="1783080" cy="365760"/>
          </a:xfrm>
          <a:prstGeom prst="rect">
            <a:avLst/>
          </a:prstGeom>
          <a:noFill/>
          <a:ln/>
        </p:spPr>
        <p:txBody>
          <a:bodyPr wrap="square" lIns="0" tIns="0" rIns="0" bIns="0" rtlCol="0" anchor="ctr"/>
          <a:lstStyle/>
          <a:p>
            <a:pPr marL="0" indent="0" algn="l">
              <a:buNone/>
            </a:pPr>
            <a:r>
              <a:rPr lang="en-US" sz="1400" b="1" dirty="0">
                <a:solidFill>
                  <a:srgbClr val="F472B6"/>
                </a:solidFill>
                <a:latin typeface="Trebuchet MS" pitchFamily="34" charset="0"/>
                <a:ea typeface="Trebuchet MS" pitchFamily="34" charset="-122"/>
                <a:cs typeface="Trebuchet MS" pitchFamily="34" charset="-120"/>
              </a:rPr>
              <a:t>Persistent Volumes</a:t>
            </a:r>
            <a:endParaRPr lang="en-US" sz="1400" dirty="0"/>
          </a:p>
        </p:txBody>
      </p:sp>
      <p:sp>
        <p:nvSpPr>
          <p:cNvPr id="26" name="Text 18"/>
          <p:cNvSpPr/>
          <p:nvPr/>
        </p:nvSpPr>
        <p:spPr>
          <a:xfrm>
            <a:off x="640080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Storage resources decoupled from pod lifecycle for stateful workloads</a:t>
            </a:r>
            <a:endParaRPr lang="en-US" sz="1000" dirty="0"/>
          </a:p>
        </p:txBody>
      </p:sp>
      <p:pic>
        <p:nvPicPr>
          <p:cNvPr id="27" name="Image 6" descr="/agent/turn2/workspace/images/abstract-digital-illustration-of-interconnected-mi_2026-05-05T05-10-01_image_DAS_0.jpg"/>
          <p:cNvPicPr>
            <a:picLocks noChangeAspect="1"/>
          </p:cNvPicPr>
          <p:nvPr/>
        </p:nvPicPr>
        <p:blipFill>
          <a:blip r:embed="rId8"/>
          <a:srcRect t="40839" b="40839"/>
          <a:stretch/>
        </p:blipFill>
        <p:spPr>
          <a:xfrm>
            <a:off x="0" y="4069080"/>
            <a:ext cx="9144000" cy="1074420"/>
          </a:xfrm>
          <a:prstGeom prst="rect">
            <a:avLst/>
          </a:prstGeom>
        </p:spPr>
      </p:pic>
      <p:sp>
        <p:nvSpPr>
          <p:cNvPr id="28" name="Shape 19"/>
          <p:cNvSpPr/>
          <p:nvPr/>
        </p:nvSpPr>
        <p:spPr>
          <a:xfrm>
            <a:off x="0" y="4069080"/>
            <a:ext cx="9144000" cy="1074420"/>
          </a:xfrm>
          <a:prstGeom prst="rect">
            <a:avLst/>
          </a:prstGeom>
          <a:solidFill>
            <a:srgbClr val="0F1B2D">
              <a:alpha val="60000"/>
            </a:srgbClr>
          </a:solidFill>
          <a:ln/>
        </p:spPr>
        <p:txBody>
          <a:bodyPr/>
          <a:lstStyle/>
          <a:p>
            <a:endParaRPr lang="en-US"/>
          </a:p>
        </p:txBody>
      </p:sp>
      <p:sp>
        <p:nvSpPr>
          <p:cNvPr id="29" name="Text 20"/>
          <p:cNvSpPr/>
          <p:nvPr/>
        </p:nvSpPr>
        <p:spPr>
          <a:xfrm>
            <a:off x="548640" y="4206240"/>
            <a:ext cx="8046720" cy="64008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Each component works together to provide self-healing, auto-scaling container orchestration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90A954-EB40-0623-734D-E437C0F48F96}"/>
              </a:ext>
            </a:extLst>
          </p:cNvPr>
          <p:cNvPicPr>
            <a:picLocks noChangeAspect="1"/>
          </p:cNvPicPr>
          <p:nvPr/>
        </p:nvPicPr>
        <p:blipFill>
          <a:blip r:embed="rId2"/>
          <a:stretch>
            <a:fillRect/>
          </a:stretch>
        </p:blipFill>
        <p:spPr>
          <a:xfrm>
            <a:off x="685800" y="98714"/>
            <a:ext cx="7772400" cy="4946072"/>
          </a:xfrm>
          <a:prstGeom prst="rect">
            <a:avLst/>
          </a:prstGeom>
        </p:spPr>
      </p:pic>
    </p:spTree>
    <p:extLst>
      <p:ext uri="{BB962C8B-B14F-4D97-AF65-F5344CB8AC3E}">
        <p14:creationId xmlns:p14="http://schemas.microsoft.com/office/powerpoint/2010/main" val="4204158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FD3A0D-74F6-6379-962D-E17B06C18C51}"/>
              </a:ext>
            </a:extLst>
          </p:cNvPr>
          <p:cNvSpPr/>
          <p:nvPr/>
        </p:nvSpPr>
        <p:spPr>
          <a:xfrm>
            <a:off x="542261" y="215309"/>
            <a:ext cx="8277446" cy="44337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4" name="Rounded Rectangle 3">
            <a:extLst>
              <a:ext uri="{FF2B5EF4-FFF2-40B4-BE49-F238E27FC236}">
                <a16:creationId xmlns:a16="http://schemas.microsoft.com/office/drawing/2014/main" id="{DD27C621-DF8C-35D4-904C-C5A9335912BA}"/>
              </a:ext>
            </a:extLst>
          </p:cNvPr>
          <p:cNvSpPr/>
          <p:nvPr/>
        </p:nvSpPr>
        <p:spPr>
          <a:xfrm>
            <a:off x="1307805" y="933007"/>
            <a:ext cx="3405077" cy="3397103"/>
          </a:xfrm>
          <a:prstGeom prst="roundRect">
            <a:avLst/>
          </a:prstGeom>
          <a:ln w="57150">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350" dirty="0"/>
              <a:t>Master</a:t>
            </a:r>
          </a:p>
        </p:txBody>
      </p:sp>
      <p:sp>
        <p:nvSpPr>
          <p:cNvPr id="5" name="Rounded Rectangle 4">
            <a:extLst>
              <a:ext uri="{FF2B5EF4-FFF2-40B4-BE49-F238E27FC236}">
                <a16:creationId xmlns:a16="http://schemas.microsoft.com/office/drawing/2014/main" id="{10A9843E-1811-A2F9-E0EA-CD765ECC5B26}"/>
              </a:ext>
            </a:extLst>
          </p:cNvPr>
          <p:cNvSpPr/>
          <p:nvPr/>
        </p:nvSpPr>
        <p:spPr>
          <a:xfrm>
            <a:off x="5130209" y="933007"/>
            <a:ext cx="1719816" cy="33971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6" name="TextBox 5">
            <a:extLst>
              <a:ext uri="{FF2B5EF4-FFF2-40B4-BE49-F238E27FC236}">
                <a16:creationId xmlns:a16="http://schemas.microsoft.com/office/drawing/2014/main" id="{151992C7-92EB-A487-D789-56E9B558CB8E}"/>
              </a:ext>
            </a:extLst>
          </p:cNvPr>
          <p:cNvSpPr txBox="1"/>
          <p:nvPr/>
        </p:nvSpPr>
        <p:spPr>
          <a:xfrm>
            <a:off x="1251984" y="494414"/>
            <a:ext cx="1977656" cy="300082"/>
          </a:xfrm>
          <a:prstGeom prst="rect">
            <a:avLst/>
          </a:prstGeom>
          <a:noFill/>
        </p:spPr>
        <p:txBody>
          <a:bodyPr wrap="square" rtlCol="0">
            <a:spAutoFit/>
          </a:bodyPr>
          <a:lstStyle/>
          <a:p>
            <a:r>
              <a:rPr lang="en-US" sz="1350" dirty="0"/>
              <a:t>Control-Plane - Brain</a:t>
            </a:r>
          </a:p>
        </p:txBody>
      </p:sp>
      <p:sp>
        <p:nvSpPr>
          <p:cNvPr id="7" name="TextBox 6">
            <a:extLst>
              <a:ext uri="{FF2B5EF4-FFF2-40B4-BE49-F238E27FC236}">
                <a16:creationId xmlns:a16="http://schemas.microsoft.com/office/drawing/2014/main" id="{19DB8691-2EA6-4C3D-C40A-DDC384EE4930}"/>
              </a:ext>
            </a:extLst>
          </p:cNvPr>
          <p:cNvSpPr txBox="1"/>
          <p:nvPr/>
        </p:nvSpPr>
        <p:spPr>
          <a:xfrm>
            <a:off x="5422605" y="494414"/>
            <a:ext cx="1977655" cy="300082"/>
          </a:xfrm>
          <a:prstGeom prst="rect">
            <a:avLst/>
          </a:prstGeom>
          <a:noFill/>
        </p:spPr>
        <p:txBody>
          <a:bodyPr wrap="square" rtlCol="0">
            <a:spAutoFit/>
          </a:bodyPr>
          <a:lstStyle/>
          <a:p>
            <a:r>
              <a:rPr lang="en-US" sz="1350" dirty="0"/>
              <a:t>Worker Nodes - Muscles</a:t>
            </a:r>
          </a:p>
        </p:txBody>
      </p:sp>
      <p:sp>
        <p:nvSpPr>
          <p:cNvPr id="8" name="Oval 7">
            <a:extLst>
              <a:ext uri="{FF2B5EF4-FFF2-40B4-BE49-F238E27FC236}">
                <a16:creationId xmlns:a16="http://schemas.microsoft.com/office/drawing/2014/main" id="{3ED3BE5B-97FD-35CE-5070-26813FFB0A11}"/>
              </a:ext>
            </a:extLst>
          </p:cNvPr>
          <p:cNvSpPr/>
          <p:nvPr/>
        </p:nvSpPr>
        <p:spPr>
          <a:xfrm>
            <a:off x="5510324" y="1299831"/>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Container1</a:t>
            </a:r>
          </a:p>
        </p:txBody>
      </p:sp>
      <p:sp>
        <p:nvSpPr>
          <p:cNvPr id="9" name="Oval 8">
            <a:extLst>
              <a:ext uri="{FF2B5EF4-FFF2-40B4-BE49-F238E27FC236}">
                <a16:creationId xmlns:a16="http://schemas.microsoft.com/office/drawing/2014/main" id="{19C28D9C-BE08-D072-7432-E651D3F56D63}"/>
              </a:ext>
            </a:extLst>
          </p:cNvPr>
          <p:cNvSpPr/>
          <p:nvPr/>
        </p:nvSpPr>
        <p:spPr>
          <a:xfrm>
            <a:off x="5510324" y="2081324"/>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Container2</a:t>
            </a:r>
          </a:p>
        </p:txBody>
      </p:sp>
      <p:sp>
        <p:nvSpPr>
          <p:cNvPr id="10" name="Oval 9">
            <a:extLst>
              <a:ext uri="{FF2B5EF4-FFF2-40B4-BE49-F238E27FC236}">
                <a16:creationId xmlns:a16="http://schemas.microsoft.com/office/drawing/2014/main" id="{0C0C85A8-7F05-2394-5F07-AF2834C52602}"/>
              </a:ext>
            </a:extLst>
          </p:cNvPr>
          <p:cNvSpPr/>
          <p:nvPr/>
        </p:nvSpPr>
        <p:spPr>
          <a:xfrm>
            <a:off x="5510324" y="2976564"/>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Container3</a:t>
            </a:r>
          </a:p>
        </p:txBody>
      </p:sp>
      <p:sp>
        <p:nvSpPr>
          <p:cNvPr id="12" name="TextBox 11">
            <a:extLst>
              <a:ext uri="{FF2B5EF4-FFF2-40B4-BE49-F238E27FC236}">
                <a16:creationId xmlns:a16="http://schemas.microsoft.com/office/drawing/2014/main" id="{C61ED95A-0AB6-FCC6-467F-93A90D03C6F2}"/>
              </a:ext>
            </a:extLst>
          </p:cNvPr>
          <p:cNvSpPr txBox="1"/>
          <p:nvPr/>
        </p:nvSpPr>
        <p:spPr>
          <a:xfrm>
            <a:off x="478465" y="0"/>
            <a:ext cx="2296633" cy="300082"/>
          </a:xfrm>
          <a:prstGeom prst="rect">
            <a:avLst/>
          </a:prstGeom>
          <a:noFill/>
        </p:spPr>
        <p:txBody>
          <a:bodyPr wrap="square" rtlCol="0">
            <a:spAutoFit/>
          </a:bodyPr>
          <a:lstStyle/>
          <a:p>
            <a:r>
              <a:rPr lang="en-US" sz="1350" dirty="0"/>
              <a:t>Kubernetes Cluster</a:t>
            </a:r>
          </a:p>
        </p:txBody>
      </p:sp>
      <p:sp>
        <p:nvSpPr>
          <p:cNvPr id="14" name="Rounded Rectangle 13">
            <a:extLst>
              <a:ext uri="{FF2B5EF4-FFF2-40B4-BE49-F238E27FC236}">
                <a16:creationId xmlns:a16="http://schemas.microsoft.com/office/drawing/2014/main" id="{0724E84E-6258-A424-07E2-AD2821C21AD6}"/>
              </a:ext>
            </a:extLst>
          </p:cNvPr>
          <p:cNvSpPr/>
          <p:nvPr/>
        </p:nvSpPr>
        <p:spPr>
          <a:xfrm>
            <a:off x="6982933" y="933007"/>
            <a:ext cx="1719816" cy="33971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15" name="Oval 14">
            <a:extLst>
              <a:ext uri="{FF2B5EF4-FFF2-40B4-BE49-F238E27FC236}">
                <a16:creationId xmlns:a16="http://schemas.microsoft.com/office/drawing/2014/main" id="{B75C01FE-E96E-0495-1319-B5C8555C664F}"/>
              </a:ext>
            </a:extLst>
          </p:cNvPr>
          <p:cNvSpPr/>
          <p:nvPr/>
        </p:nvSpPr>
        <p:spPr>
          <a:xfrm>
            <a:off x="7122485" y="1299830"/>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Container1</a:t>
            </a:r>
          </a:p>
        </p:txBody>
      </p:sp>
      <p:sp>
        <p:nvSpPr>
          <p:cNvPr id="16" name="Oval 15">
            <a:extLst>
              <a:ext uri="{FF2B5EF4-FFF2-40B4-BE49-F238E27FC236}">
                <a16:creationId xmlns:a16="http://schemas.microsoft.com/office/drawing/2014/main" id="{551E781B-4320-0C68-52F6-7C8C803C77AC}"/>
              </a:ext>
            </a:extLst>
          </p:cNvPr>
          <p:cNvSpPr/>
          <p:nvPr/>
        </p:nvSpPr>
        <p:spPr>
          <a:xfrm>
            <a:off x="7122485" y="2195070"/>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Container2</a:t>
            </a:r>
          </a:p>
        </p:txBody>
      </p:sp>
      <p:sp>
        <p:nvSpPr>
          <p:cNvPr id="17" name="Oval 16">
            <a:extLst>
              <a:ext uri="{FF2B5EF4-FFF2-40B4-BE49-F238E27FC236}">
                <a16:creationId xmlns:a16="http://schemas.microsoft.com/office/drawing/2014/main" id="{DD02FC06-94AD-60D1-045A-C88401DFFAFB}"/>
              </a:ext>
            </a:extLst>
          </p:cNvPr>
          <p:cNvSpPr/>
          <p:nvPr/>
        </p:nvSpPr>
        <p:spPr>
          <a:xfrm>
            <a:off x="7122485" y="3144025"/>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Container3</a:t>
            </a:r>
          </a:p>
        </p:txBody>
      </p:sp>
    </p:spTree>
    <p:extLst>
      <p:ext uri="{BB962C8B-B14F-4D97-AF65-F5344CB8AC3E}">
        <p14:creationId xmlns:p14="http://schemas.microsoft.com/office/powerpoint/2010/main" val="3644099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65000"/>
            </a:srgbClr>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Kubernetes in Practice</a:t>
            </a:r>
            <a:endParaRPr lang="en-US" sz="2800" dirty="0"/>
          </a:p>
        </p:txBody>
      </p:sp>
      <p:sp>
        <p:nvSpPr>
          <p:cNvPr id="4" name="Text 2"/>
          <p:cNvSpPr/>
          <p:nvPr/>
        </p:nvSpPr>
        <p:spPr>
          <a:xfrm>
            <a:off x="548640" y="777240"/>
            <a:ext cx="82296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Common use cases and deployment patterns</a:t>
            </a:r>
            <a:endParaRPr lang="en-US" sz="1200" dirty="0"/>
          </a:p>
        </p:txBody>
      </p:sp>
      <p:sp>
        <p:nvSpPr>
          <p:cNvPr id="5" name="Shape 3"/>
          <p:cNvSpPr/>
          <p:nvPr/>
        </p:nvSpPr>
        <p:spPr>
          <a:xfrm>
            <a:off x="548640" y="123444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1371600"/>
            <a:ext cx="320040" cy="320040"/>
          </a:xfrm>
          <a:prstGeom prst="rect">
            <a:avLst/>
          </a:prstGeom>
        </p:spPr>
      </p:pic>
      <p:sp>
        <p:nvSpPr>
          <p:cNvPr id="7" name="Text 4"/>
          <p:cNvSpPr/>
          <p:nvPr/>
        </p:nvSpPr>
        <p:spPr>
          <a:xfrm>
            <a:off x="1143000" y="134416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Microservices Orchestration</a:t>
            </a:r>
            <a:endParaRPr lang="en-US" sz="1400" dirty="0"/>
          </a:p>
        </p:txBody>
      </p:sp>
      <p:sp>
        <p:nvSpPr>
          <p:cNvPr id="8" name="Text 5"/>
          <p:cNvSpPr/>
          <p:nvPr/>
        </p:nvSpPr>
        <p:spPr>
          <a:xfrm>
            <a:off x="731520" y="178308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Deploy, manage, and scale independent services with service discovery, load balancing, and health monitoring built in.</a:t>
            </a:r>
            <a:endParaRPr lang="en-US" sz="1050" dirty="0"/>
          </a:p>
        </p:txBody>
      </p:sp>
      <p:sp>
        <p:nvSpPr>
          <p:cNvPr id="9" name="Shape 6"/>
          <p:cNvSpPr/>
          <p:nvPr/>
        </p:nvSpPr>
        <p:spPr>
          <a:xfrm>
            <a:off x="4846320" y="123444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5029200" y="1371600"/>
            <a:ext cx="320040" cy="320040"/>
          </a:xfrm>
          <a:prstGeom prst="rect">
            <a:avLst/>
          </a:prstGeom>
        </p:spPr>
      </p:pic>
      <p:sp>
        <p:nvSpPr>
          <p:cNvPr id="11" name="Text 7"/>
          <p:cNvSpPr/>
          <p:nvPr/>
        </p:nvSpPr>
        <p:spPr>
          <a:xfrm>
            <a:off x="5440680" y="134416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CI/CD &amp; GitOps</a:t>
            </a:r>
            <a:endParaRPr lang="en-US" sz="1400" dirty="0"/>
          </a:p>
        </p:txBody>
      </p:sp>
      <p:sp>
        <p:nvSpPr>
          <p:cNvPr id="12" name="Text 8"/>
          <p:cNvSpPr/>
          <p:nvPr/>
        </p:nvSpPr>
        <p:spPr>
          <a:xfrm>
            <a:off x="5029200" y="178308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Automate deployments with rolling updates, canary releases, and rollbacks. Integrate with ArgoCD, Flux, and Jenkins.</a:t>
            </a:r>
            <a:endParaRPr lang="en-US" sz="1050" dirty="0"/>
          </a:p>
        </p:txBody>
      </p:sp>
      <p:sp>
        <p:nvSpPr>
          <p:cNvPr id="13" name="Shape 9"/>
          <p:cNvSpPr/>
          <p:nvPr/>
        </p:nvSpPr>
        <p:spPr>
          <a:xfrm>
            <a:off x="548640" y="288036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731520" y="3017520"/>
            <a:ext cx="320040" cy="320040"/>
          </a:xfrm>
          <a:prstGeom prst="rect">
            <a:avLst/>
          </a:prstGeom>
        </p:spPr>
      </p:pic>
      <p:sp>
        <p:nvSpPr>
          <p:cNvPr id="15" name="Text 10"/>
          <p:cNvSpPr/>
          <p:nvPr/>
        </p:nvSpPr>
        <p:spPr>
          <a:xfrm>
            <a:off x="1143000" y="299008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Auto-Scaling Workloads</a:t>
            </a:r>
            <a:endParaRPr lang="en-US" sz="1400" dirty="0"/>
          </a:p>
        </p:txBody>
      </p:sp>
      <p:sp>
        <p:nvSpPr>
          <p:cNvPr id="16" name="Text 11"/>
          <p:cNvSpPr/>
          <p:nvPr/>
        </p:nvSpPr>
        <p:spPr>
          <a:xfrm>
            <a:off x="731520" y="342900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Horizontal Pod Autoscaler adjusts replicas based on CPU, memory, or custom metrics. Cluster autoscaler adds nodes.</a:t>
            </a:r>
            <a:endParaRPr lang="en-US" sz="1050" dirty="0"/>
          </a:p>
        </p:txBody>
      </p:sp>
      <p:sp>
        <p:nvSpPr>
          <p:cNvPr id="17" name="Shape 12"/>
          <p:cNvSpPr/>
          <p:nvPr/>
        </p:nvSpPr>
        <p:spPr>
          <a:xfrm>
            <a:off x="4846320" y="288036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5029200" y="3017520"/>
            <a:ext cx="320040" cy="320040"/>
          </a:xfrm>
          <a:prstGeom prst="rect">
            <a:avLst/>
          </a:prstGeom>
        </p:spPr>
      </p:pic>
      <p:sp>
        <p:nvSpPr>
          <p:cNvPr id="19" name="Text 13"/>
          <p:cNvSpPr/>
          <p:nvPr/>
        </p:nvSpPr>
        <p:spPr>
          <a:xfrm>
            <a:off x="5440680" y="299008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Hybrid &amp; Multi-Cloud</a:t>
            </a:r>
            <a:endParaRPr lang="en-US" sz="1400" dirty="0"/>
          </a:p>
        </p:txBody>
      </p:sp>
      <p:sp>
        <p:nvSpPr>
          <p:cNvPr id="20" name="Text 14"/>
          <p:cNvSpPr/>
          <p:nvPr/>
        </p:nvSpPr>
        <p:spPr>
          <a:xfrm>
            <a:off x="5029200" y="342900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Run consistent workloads across on-premises, AWS, Azure, and GCP with federation and service mesh integration.</a:t>
            </a:r>
            <a:endParaRPr lang="en-US" sz="1050" dirty="0"/>
          </a:p>
        </p:txBody>
      </p:sp>
      <p:sp>
        <p:nvSpPr>
          <p:cNvPr id="21" name="Text 15"/>
          <p:cNvSpPr/>
          <p:nvPr/>
        </p:nvSpPr>
        <p:spPr>
          <a:xfrm>
            <a:off x="548640" y="4572000"/>
            <a:ext cx="8046720" cy="320040"/>
          </a:xfrm>
          <a:prstGeom prst="rect">
            <a:avLst/>
          </a:prstGeom>
          <a:noFill/>
          <a:ln/>
        </p:spPr>
        <p:txBody>
          <a:bodyPr wrap="square" lIns="0" tIns="0" rIns="0" bIns="0" rtlCol="0" anchor="ctr"/>
          <a:lstStyle/>
          <a:p>
            <a:pPr marL="0" indent="0" algn="ctr">
              <a:buNone/>
            </a:pPr>
            <a:r>
              <a:rPr lang="en-US" sz="1000" i="1" dirty="0">
                <a:solidFill>
                  <a:srgbClr val="CBD5E1"/>
                </a:solidFill>
                <a:latin typeface="Calibri" pitchFamily="34" charset="0"/>
                <a:ea typeface="Calibri" pitchFamily="34" charset="-122"/>
                <a:cs typeface="Calibri" pitchFamily="34" charset="-120"/>
              </a:rPr>
              <a:t>Kubernetes powers 96% of organizations using containers in production (CNCF Survey 2024)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50292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Prerequisites &amp; Setup</a:t>
            </a:r>
            <a:endParaRPr lang="en-US" sz="2800" dirty="0"/>
          </a:p>
        </p:txBody>
      </p:sp>
      <p:sp>
        <p:nvSpPr>
          <p:cNvPr id="3" name="Text 1"/>
          <p:cNvSpPr/>
          <p:nvPr/>
        </p:nvSpPr>
        <p:spPr>
          <a:xfrm>
            <a:off x="548640" y="777240"/>
            <a:ext cx="50292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What you need before enabling Kubernetes</a:t>
            </a:r>
            <a:endParaRPr lang="en-US" sz="1200" dirty="0"/>
          </a:p>
        </p:txBody>
      </p:sp>
      <p:pic>
        <p:nvPicPr>
          <p:cNvPr id="4" name="Image 0" descr="/agent/turn3/workspace/images/flat-isometric-illustration-of-a-macbook-laptop-sc_2026-05-05T05-30-22_image_DAS_0.jpg"/>
          <p:cNvPicPr>
            <a:picLocks noChangeAspect="1"/>
          </p:cNvPicPr>
          <p:nvPr/>
        </p:nvPicPr>
        <p:blipFill>
          <a:blip r:embed="rId2"/>
          <a:srcRect l="28074" r="28074"/>
          <a:stretch/>
        </p:blipFill>
        <p:spPr>
          <a:xfrm>
            <a:off x="5760720" y="0"/>
            <a:ext cx="3383280" cy="5143500"/>
          </a:xfrm>
          <a:prstGeom prst="rect">
            <a:avLst/>
          </a:prstGeom>
        </p:spPr>
      </p:pic>
      <p:sp>
        <p:nvSpPr>
          <p:cNvPr id="5" name="Shape 2"/>
          <p:cNvSpPr/>
          <p:nvPr/>
        </p:nvSpPr>
        <p:spPr>
          <a:xfrm>
            <a:off x="5760720" y="0"/>
            <a:ext cx="3383280" cy="5143500"/>
          </a:xfrm>
          <a:prstGeom prst="rect">
            <a:avLst/>
          </a:prstGeom>
          <a:solidFill>
            <a:srgbClr val="0F1B2D">
              <a:alpha val="70000"/>
            </a:srgbClr>
          </a:solidFill>
          <a:ln/>
        </p:spPr>
        <p:txBody>
          <a:bodyPr/>
          <a:lstStyle/>
          <a:p>
            <a:endParaRPr lang="en-US"/>
          </a:p>
        </p:txBody>
      </p:sp>
      <p:sp>
        <p:nvSpPr>
          <p:cNvPr id="6" name="Shape 3"/>
          <p:cNvSpPr/>
          <p:nvPr/>
        </p:nvSpPr>
        <p:spPr>
          <a:xfrm>
            <a:off x="548640" y="1234440"/>
            <a:ext cx="4937760" cy="640080"/>
          </a:xfrm>
          <a:prstGeom prst="rect">
            <a:avLst/>
          </a:prstGeom>
          <a:solidFill>
            <a:srgbClr val="0D2137"/>
          </a:solidFill>
          <a:ln/>
        </p:spPr>
        <p:txBody>
          <a:bodyPr/>
          <a:lstStyle/>
          <a:p>
            <a:endParaRPr lang="en-US"/>
          </a:p>
        </p:txBody>
      </p:sp>
      <p:pic>
        <p:nvPicPr>
          <p:cNvPr id="7" name="Image 1" descr="preencoded.png"/>
          <p:cNvPicPr>
            <a:picLocks noChangeAspect="1"/>
          </p:cNvPicPr>
          <p:nvPr/>
        </p:nvPicPr>
        <p:blipFill>
          <a:blip r:embed="rId3"/>
          <a:stretch>
            <a:fillRect/>
          </a:stretch>
        </p:blipFill>
        <p:spPr>
          <a:xfrm>
            <a:off x="731520" y="1371600"/>
            <a:ext cx="365760" cy="365760"/>
          </a:xfrm>
          <a:prstGeom prst="rect">
            <a:avLst/>
          </a:prstGeom>
        </p:spPr>
      </p:pic>
      <p:sp>
        <p:nvSpPr>
          <p:cNvPr id="8" name="Text 4"/>
          <p:cNvSpPr/>
          <p:nvPr/>
        </p:nvSpPr>
        <p:spPr>
          <a:xfrm>
            <a:off x="1234440" y="1280160"/>
            <a:ext cx="1828800" cy="320040"/>
          </a:xfrm>
          <a:prstGeom prst="rect">
            <a:avLst/>
          </a:prstGeom>
          <a:noFill/>
          <a:ln/>
        </p:spPr>
        <p:txBody>
          <a:bodyPr wrap="square" lIns="0" tIns="0" rIns="0" bIns="0" rtlCol="0" anchor="ctr"/>
          <a:lstStyle/>
          <a:p>
            <a:pPr marL="0" indent="0" algn="l">
              <a:buNone/>
            </a:pPr>
            <a:r>
              <a:rPr lang="en-US" sz="1400" b="1" dirty="0">
                <a:solidFill>
                  <a:srgbClr val="CBD5E1"/>
                </a:solidFill>
                <a:latin typeface="Trebuchet MS" pitchFamily="34" charset="0"/>
                <a:ea typeface="Trebuchet MS" pitchFamily="34" charset="-122"/>
                <a:cs typeface="Trebuchet MS" pitchFamily="34" charset="-120"/>
              </a:rPr>
              <a:t>macOS</a:t>
            </a:r>
            <a:endParaRPr lang="en-US" sz="1400" dirty="0"/>
          </a:p>
        </p:txBody>
      </p:sp>
      <p:sp>
        <p:nvSpPr>
          <p:cNvPr id="9" name="Text 5"/>
          <p:cNvSpPr/>
          <p:nvPr/>
        </p:nvSpPr>
        <p:spPr>
          <a:xfrm>
            <a:off x="1234440" y="1554480"/>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macOS 12 (Monterey) or later recommended</a:t>
            </a:r>
            <a:endParaRPr lang="en-US" sz="1000" dirty="0"/>
          </a:p>
        </p:txBody>
      </p:sp>
      <p:sp>
        <p:nvSpPr>
          <p:cNvPr id="10" name="Shape 6"/>
          <p:cNvSpPr/>
          <p:nvPr/>
        </p:nvSpPr>
        <p:spPr>
          <a:xfrm>
            <a:off x="548640" y="1984248"/>
            <a:ext cx="4937760" cy="640080"/>
          </a:xfrm>
          <a:prstGeom prst="rect">
            <a:avLst/>
          </a:prstGeom>
          <a:solidFill>
            <a:srgbClr val="0D2137"/>
          </a:solidFill>
          <a:ln/>
        </p:spPr>
        <p:txBody>
          <a:bodyPr/>
          <a:lstStyle/>
          <a:p>
            <a:endParaRPr lang="en-US"/>
          </a:p>
        </p:txBody>
      </p:sp>
      <p:pic>
        <p:nvPicPr>
          <p:cNvPr id="11" name="Image 2" descr="preencoded.png"/>
          <p:cNvPicPr>
            <a:picLocks noChangeAspect="1"/>
          </p:cNvPicPr>
          <p:nvPr/>
        </p:nvPicPr>
        <p:blipFill>
          <a:blip r:embed="rId4"/>
          <a:stretch>
            <a:fillRect/>
          </a:stretch>
        </p:blipFill>
        <p:spPr>
          <a:xfrm>
            <a:off x="731520" y="2121408"/>
            <a:ext cx="365760" cy="365760"/>
          </a:xfrm>
          <a:prstGeom prst="rect">
            <a:avLst/>
          </a:prstGeom>
        </p:spPr>
      </p:pic>
      <p:sp>
        <p:nvSpPr>
          <p:cNvPr id="12" name="Text 7"/>
          <p:cNvSpPr/>
          <p:nvPr/>
        </p:nvSpPr>
        <p:spPr>
          <a:xfrm>
            <a:off x="1234440" y="2029968"/>
            <a:ext cx="1828800" cy="320040"/>
          </a:xfrm>
          <a:prstGeom prst="rect">
            <a:avLst/>
          </a:prstGeom>
          <a:noFill/>
          <a:ln/>
        </p:spPr>
        <p:txBody>
          <a:bodyPr wrap="square" lIns="0" tIns="0" rIns="0" bIns="0" rtlCol="0" anchor="ctr"/>
          <a:lstStyle/>
          <a:p>
            <a:pPr marL="0" indent="0" algn="l">
              <a:buNone/>
            </a:pPr>
            <a:r>
              <a:rPr lang="en-US" sz="1400" b="1" dirty="0">
                <a:solidFill>
                  <a:srgbClr val="2496ED"/>
                </a:solidFill>
                <a:latin typeface="Trebuchet MS" pitchFamily="34" charset="0"/>
                <a:ea typeface="Trebuchet MS" pitchFamily="34" charset="-122"/>
                <a:cs typeface="Trebuchet MS" pitchFamily="34" charset="-120"/>
              </a:rPr>
              <a:t>Docker Desktop</a:t>
            </a:r>
            <a:endParaRPr lang="en-US" sz="1400" dirty="0"/>
          </a:p>
        </p:txBody>
      </p:sp>
      <p:sp>
        <p:nvSpPr>
          <p:cNvPr id="13" name="Text 8"/>
          <p:cNvSpPr/>
          <p:nvPr/>
        </p:nvSpPr>
        <p:spPr>
          <a:xfrm>
            <a:off x="1234440" y="2304288"/>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Version 4.x+ installed and running</a:t>
            </a:r>
            <a:endParaRPr lang="en-US" sz="1000" dirty="0"/>
          </a:p>
        </p:txBody>
      </p:sp>
      <p:sp>
        <p:nvSpPr>
          <p:cNvPr id="14" name="Shape 9"/>
          <p:cNvSpPr/>
          <p:nvPr/>
        </p:nvSpPr>
        <p:spPr>
          <a:xfrm>
            <a:off x="548640" y="2734056"/>
            <a:ext cx="4937760" cy="640080"/>
          </a:xfrm>
          <a:prstGeom prst="rect">
            <a:avLst/>
          </a:prstGeom>
          <a:solidFill>
            <a:srgbClr val="0D2137"/>
          </a:solidFill>
          <a:ln/>
        </p:spPr>
        <p:txBody>
          <a:bodyPr/>
          <a:lstStyle/>
          <a:p>
            <a:endParaRPr lang="en-US"/>
          </a:p>
        </p:txBody>
      </p:sp>
      <p:pic>
        <p:nvPicPr>
          <p:cNvPr id="15" name="Image 3" descr="preencoded.png"/>
          <p:cNvPicPr>
            <a:picLocks noChangeAspect="1"/>
          </p:cNvPicPr>
          <p:nvPr/>
        </p:nvPicPr>
        <p:blipFill>
          <a:blip r:embed="rId5"/>
          <a:stretch>
            <a:fillRect/>
          </a:stretch>
        </p:blipFill>
        <p:spPr>
          <a:xfrm>
            <a:off x="731520" y="2871216"/>
            <a:ext cx="365760" cy="365760"/>
          </a:xfrm>
          <a:prstGeom prst="rect">
            <a:avLst/>
          </a:prstGeom>
        </p:spPr>
      </p:pic>
      <p:sp>
        <p:nvSpPr>
          <p:cNvPr id="16" name="Text 10"/>
          <p:cNvSpPr/>
          <p:nvPr/>
        </p:nvSpPr>
        <p:spPr>
          <a:xfrm>
            <a:off x="1234440" y="2779776"/>
            <a:ext cx="1828800" cy="320040"/>
          </a:xfrm>
          <a:prstGeom prst="rect">
            <a:avLst/>
          </a:prstGeom>
          <a:noFill/>
          <a:ln/>
        </p:spPr>
        <p:txBody>
          <a:bodyPr wrap="square" lIns="0" tIns="0" rIns="0" bIns="0" rtlCol="0" anchor="ctr"/>
          <a:lstStyle/>
          <a:p>
            <a:pPr marL="0" indent="0" algn="l">
              <a:buNone/>
            </a:pPr>
            <a:r>
              <a:rPr lang="en-US" sz="1400" b="1" dirty="0">
                <a:solidFill>
                  <a:srgbClr val="F59E0B"/>
                </a:solidFill>
                <a:latin typeface="Trebuchet MS" pitchFamily="34" charset="0"/>
                <a:ea typeface="Trebuchet MS" pitchFamily="34" charset="-122"/>
                <a:cs typeface="Trebuchet MS" pitchFamily="34" charset="-120"/>
              </a:rPr>
              <a:t>Memory</a:t>
            </a:r>
            <a:endParaRPr lang="en-US" sz="1400" dirty="0"/>
          </a:p>
        </p:txBody>
      </p:sp>
      <p:sp>
        <p:nvSpPr>
          <p:cNvPr id="17" name="Text 11"/>
          <p:cNvSpPr/>
          <p:nvPr/>
        </p:nvSpPr>
        <p:spPr>
          <a:xfrm>
            <a:off x="1234440" y="3054096"/>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Minimum 4 GB RAM allocated to Docker (6 GB+ recommended)</a:t>
            </a:r>
            <a:endParaRPr lang="en-US" sz="1000" dirty="0"/>
          </a:p>
        </p:txBody>
      </p:sp>
      <p:sp>
        <p:nvSpPr>
          <p:cNvPr id="18" name="Shape 12"/>
          <p:cNvSpPr/>
          <p:nvPr/>
        </p:nvSpPr>
        <p:spPr>
          <a:xfrm>
            <a:off x="548640" y="3483864"/>
            <a:ext cx="4937760" cy="640080"/>
          </a:xfrm>
          <a:prstGeom prst="rect">
            <a:avLst/>
          </a:prstGeom>
          <a:solidFill>
            <a:srgbClr val="0D2137"/>
          </a:solidFill>
          <a:ln/>
        </p:spPr>
        <p:txBody>
          <a:bodyPr/>
          <a:lstStyle/>
          <a:p>
            <a:endParaRPr lang="en-US"/>
          </a:p>
        </p:txBody>
      </p:sp>
      <p:pic>
        <p:nvPicPr>
          <p:cNvPr id="19" name="Image 4" descr="preencoded.png"/>
          <p:cNvPicPr>
            <a:picLocks noChangeAspect="1"/>
          </p:cNvPicPr>
          <p:nvPr/>
        </p:nvPicPr>
        <p:blipFill>
          <a:blip r:embed="rId6"/>
          <a:stretch>
            <a:fillRect/>
          </a:stretch>
        </p:blipFill>
        <p:spPr>
          <a:xfrm>
            <a:off x="731520" y="3621024"/>
            <a:ext cx="365760" cy="365760"/>
          </a:xfrm>
          <a:prstGeom prst="rect">
            <a:avLst/>
          </a:prstGeom>
        </p:spPr>
      </p:pic>
      <p:sp>
        <p:nvSpPr>
          <p:cNvPr id="20" name="Text 13"/>
          <p:cNvSpPr/>
          <p:nvPr/>
        </p:nvSpPr>
        <p:spPr>
          <a:xfrm>
            <a:off x="1234440" y="3529584"/>
            <a:ext cx="1828800" cy="320040"/>
          </a:xfrm>
          <a:prstGeom prst="rect">
            <a:avLst/>
          </a:prstGeom>
          <a:noFill/>
          <a:ln/>
        </p:spPr>
        <p:txBody>
          <a:bodyPr wrap="square" lIns="0" tIns="0" rIns="0" bIns="0" rtlCol="0" anchor="ctr"/>
          <a:lstStyle/>
          <a:p>
            <a:pPr marL="0" indent="0" algn="l">
              <a:buNone/>
            </a:pPr>
            <a:r>
              <a:rPr lang="en-US" sz="1400" b="1" dirty="0">
                <a:solidFill>
                  <a:srgbClr val="818CF8"/>
                </a:solidFill>
                <a:latin typeface="Trebuchet MS" pitchFamily="34" charset="0"/>
                <a:ea typeface="Trebuchet MS" pitchFamily="34" charset="-122"/>
                <a:cs typeface="Trebuchet MS" pitchFamily="34" charset="-120"/>
              </a:rPr>
              <a:t>Disk Space</a:t>
            </a:r>
            <a:endParaRPr lang="en-US" sz="1400" dirty="0"/>
          </a:p>
        </p:txBody>
      </p:sp>
      <p:sp>
        <p:nvSpPr>
          <p:cNvPr id="21" name="Text 14"/>
          <p:cNvSpPr/>
          <p:nvPr/>
        </p:nvSpPr>
        <p:spPr>
          <a:xfrm>
            <a:off x="1234440" y="3803904"/>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At least 20 GB free for images and volumes</a:t>
            </a:r>
            <a:endParaRPr lang="en-US" sz="1000" dirty="0"/>
          </a:p>
        </p:txBody>
      </p:sp>
      <p:sp>
        <p:nvSpPr>
          <p:cNvPr id="22" name="Shape 15"/>
          <p:cNvSpPr/>
          <p:nvPr/>
        </p:nvSpPr>
        <p:spPr>
          <a:xfrm>
            <a:off x="548640" y="4325112"/>
            <a:ext cx="4937760" cy="502920"/>
          </a:xfrm>
          <a:prstGeom prst="rect">
            <a:avLst/>
          </a:prstGeom>
          <a:solidFill>
            <a:srgbClr val="065A82">
              <a:alpha val="50000"/>
            </a:srgbClr>
          </a:solidFill>
          <a:ln/>
        </p:spPr>
        <p:txBody>
          <a:bodyPr/>
          <a:lstStyle/>
          <a:p>
            <a:endParaRPr lang="en-US"/>
          </a:p>
        </p:txBody>
      </p:sp>
      <p:sp>
        <p:nvSpPr>
          <p:cNvPr id="23" name="Text 16"/>
          <p:cNvSpPr/>
          <p:nvPr/>
        </p:nvSpPr>
        <p:spPr>
          <a:xfrm>
            <a:off x="731520" y="4370832"/>
            <a:ext cx="4572000" cy="411480"/>
          </a:xfrm>
          <a:prstGeom prst="rect">
            <a:avLst/>
          </a:prstGeom>
          <a:noFill/>
          <a:ln/>
        </p:spPr>
        <p:txBody>
          <a:bodyPr wrap="square" lIns="0" tIns="0" rIns="0" bIns="0" rtlCol="0" anchor="ctr"/>
          <a:lstStyle/>
          <a:p>
            <a:pPr marL="0" indent="0" algn="l">
              <a:lnSpc>
                <a:spcPct val="120000"/>
              </a:lnSpc>
              <a:buNone/>
            </a:pPr>
            <a:r>
              <a:rPr lang="en-US" sz="1000" i="1" dirty="0">
                <a:solidFill>
                  <a:srgbClr val="21D4FD"/>
                </a:solidFill>
                <a:latin typeface="Calibri" pitchFamily="34" charset="0"/>
                <a:ea typeface="Calibri" pitchFamily="34" charset="-122"/>
                <a:cs typeface="Calibri" pitchFamily="34" charset="-120"/>
              </a:rPr>
              <a:t>Tip: Open Docker Desktop &gt; Settings &gt; Resources to allocate CPU and memory before enabling Kubernetes.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Enable Kubernetes in Docker Desktop</a:t>
            </a:r>
            <a:endParaRPr lang="en-US" sz="2800" dirty="0"/>
          </a:p>
        </p:txBody>
      </p:sp>
      <p:sp>
        <p:nvSpPr>
          <p:cNvPr id="3" name="Text 1"/>
          <p:cNvSpPr/>
          <p:nvPr/>
        </p:nvSpPr>
        <p:spPr>
          <a:xfrm>
            <a:off x="548640" y="777240"/>
            <a:ext cx="82296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Step-by-step walkthrough</a:t>
            </a:r>
            <a:endParaRPr lang="en-US" sz="1200" dirty="0"/>
          </a:p>
        </p:txBody>
      </p:sp>
      <p:sp>
        <p:nvSpPr>
          <p:cNvPr id="4" name="Shape 2"/>
          <p:cNvSpPr/>
          <p:nvPr/>
        </p:nvSpPr>
        <p:spPr>
          <a:xfrm>
            <a:off x="548640" y="1234440"/>
            <a:ext cx="365760" cy="365760"/>
          </a:xfrm>
          <a:prstGeom prst="ellipse">
            <a:avLst/>
          </a:prstGeom>
          <a:solidFill>
            <a:srgbClr val="21D4FD"/>
          </a:solidFill>
          <a:ln/>
        </p:spPr>
        <p:txBody>
          <a:bodyPr/>
          <a:lstStyle/>
          <a:p>
            <a:endParaRPr lang="en-US"/>
          </a:p>
        </p:txBody>
      </p:sp>
      <p:sp>
        <p:nvSpPr>
          <p:cNvPr id="5" name="Text 3"/>
          <p:cNvSpPr/>
          <p:nvPr/>
        </p:nvSpPr>
        <p:spPr>
          <a:xfrm>
            <a:off x="548640" y="1234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1</a:t>
            </a:r>
            <a:endParaRPr lang="en-US" sz="1600" dirty="0"/>
          </a:p>
        </p:txBody>
      </p:sp>
      <p:sp>
        <p:nvSpPr>
          <p:cNvPr id="6" name="Text 4"/>
          <p:cNvSpPr/>
          <p:nvPr/>
        </p:nvSpPr>
        <p:spPr>
          <a:xfrm>
            <a:off x="1051560" y="1216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Open Docker Desktop</a:t>
            </a:r>
            <a:endParaRPr lang="en-US" sz="1400" dirty="0"/>
          </a:p>
        </p:txBody>
      </p:sp>
      <p:sp>
        <p:nvSpPr>
          <p:cNvPr id="7" name="Text 5"/>
          <p:cNvSpPr/>
          <p:nvPr/>
        </p:nvSpPr>
        <p:spPr>
          <a:xfrm>
            <a:off x="1051560" y="1554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Click the Docker whale icon in your macOS menu bar, or launch from Applications.</a:t>
            </a:r>
            <a:endParaRPr lang="en-US" sz="1000" dirty="0"/>
          </a:p>
        </p:txBody>
      </p:sp>
      <p:sp>
        <p:nvSpPr>
          <p:cNvPr id="8" name="Shape 6"/>
          <p:cNvSpPr/>
          <p:nvPr/>
        </p:nvSpPr>
        <p:spPr>
          <a:xfrm>
            <a:off x="548640" y="2377440"/>
            <a:ext cx="365760" cy="365760"/>
          </a:xfrm>
          <a:prstGeom prst="ellipse">
            <a:avLst/>
          </a:prstGeom>
          <a:solidFill>
            <a:srgbClr val="21D4FD"/>
          </a:solidFill>
          <a:ln/>
        </p:spPr>
        <p:txBody>
          <a:bodyPr/>
          <a:lstStyle/>
          <a:p>
            <a:endParaRPr lang="en-US"/>
          </a:p>
        </p:txBody>
      </p:sp>
      <p:sp>
        <p:nvSpPr>
          <p:cNvPr id="9" name="Text 7"/>
          <p:cNvSpPr/>
          <p:nvPr/>
        </p:nvSpPr>
        <p:spPr>
          <a:xfrm>
            <a:off x="548640" y="2377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2</a:t>
            </a:r>
            <a:endParaRPr lang="en-US" sz="1600" dirty="0"/>
          </a:p>
        </p:txBody>
      </p:sp>
      <p:sp>
        <p:nvSpPr>
          <p:cNvPr id="10" name="Text 8"/>
          <p:cNvSpPr/>
          <p:nvPr/>
        </p:nvSpPr>
        <p:spPr>
          <a:xfrm>
            <a:off x="1051560" y="2359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Go to Settings</a:t>
            </a:r>
            <a:endParaRPr lang="en-US" sz="1400" dirty="0"/>
          </a:p>
        </p:txBody>
      </p:sp>
      <p:sp>
        <p:nvSpPr>
          <p:cNvPr id="11" name="Text 9"/>
          <p:cNvSpPr/>
          <p:nvPr/>
        </p:nvSpPr>
        <p:spPr>
          <a:xfrm>
            <a:off x="1051560" y="2697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Click the gear icon (top-right) to open the Settings panel.</a:t>
            </a:r>
            <a:endParaRPr lang="en-US" sz="1000" dirty="0"/>
          </a:p>
        </p:txBody>
      </p:sp>
      <p:sp>
        <p:nvSpPr>
          <p:cNvPr id="12" name="Shape 10"/>
          <p:cNvSpPr/>
          <p:nvPr/>
        </p:nvSpPr>
        <p:spPr>
          <a:xfrm>
            <a:off x="548640" y="3520440"/>
            <a:ext cx="365760" cy="365760"/>
          </a:xfrm>
          <a:prstGeom prst="ellipse">
            <a:avLst/>
          </a:prstGeom>
          <a:solidFill>
            <a:srgbClr val="21D4FD"/>
          </a:solidFill>
          <a:ln/>
        </p:spPr>
        <p:txBody>
          <a:bodyPr/>
          <a:lstStyle/>
          <a:p>
            <a:endParaRPr lang="en-US"/>
          </a:p>
        </p:txBody>
      </p:sp>
      <p:sp>
        <p:nvSpPr>
          <p:cNvPr id="13" name="Text 11"/>
          <p:cNvSpPr/>
          <p:nvPr/>
        </p:nvSpPr>
        <p:spPr>
          <a:xfrm>
            <a:off x="548640" y="3520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3</a:t>
            </a:r>
            <a:endParaRPr lang="en-US" sz="1600" dirty="0"/>
          </a:p>
        </p:txBody>
      </p:sp>
      <p:sp>
        <p:nvSpPr>
          <p:cNvPr id="14" name="Text 12"/>
          <p:cNvSpPr/>
          <p:nvPr/>
        </p:nvSpPr>
        <p:spPr>
          <a:xfrm>
            <a:off x="1051560" y="3502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Navigate to Kubernetes</a:t>
            </a:r>
            <a:endParaRPr lang="en-US" sz="1400" dirty="0"/>
          </a:p>
        </p:txBody>
      </p:sp>
      <p:sp>
        <p:nvSpPr>
          <p:cNvPr id="15" name="Text 13"/>
          <p:cNvSpPr/>
          <p:nvPr/>
        </p:nvSpPr>
        <p:spPr>
          <a:xfrm>
            <a:off x="1051560" y="3840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In the left sidebar, click "Kubernetes" under the Settings menu.</a:t>
            </a:r>
            <a:endParaRPr lang="en-US" sz="1000" dirty="0"/>
          </a:p>
        </p:txBody>
      </p:sp>
      <p:sp>
        <p:nvSpPr>
          <p:cNvPr id="16" name="Shape 14"/>
          <p:cNvSpPr/>
          <p:nvPr/>
        </p:nvSpPr>
        <p:spPr>
          <a:xfrm>
            <a:off x="4754880" y="1234440"/>
            <a:ext cx="365760" cy="365760"/>
          </a:xfrm>
          <a:prstGeom prst="ellipse">
            <a:avLst/>
          </a:prstGeom>
          <a:solidFill>
            <a:srgbClr val="21D4FD"/>
          </a:solidFill>
          <a:ln/>
        </p:spPr>
        <p:txBody>
          <a:bodyPr/>
          <a:lstStyle/>
          <a:p>
            <a:endParaRPr lang="en-US"/>
          </a:p>
        </p:txBody>
      </p:sp>
      <p:sp>
        <p:nvSpPr>
          <p:cNvPr id="17" name="Text 15"/>
          <p:cNvSpPr/>
          <p:nvPr/>
        </p:nvSpPr>
        <p:spPr>
          <a:xfrm>
            <a:off x="4754880" y="1234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4</a:t>
            </a:r>
            <a:endParaRPr lang="en-US" sz="1600" dirty="0"/>
          </a:p>
        </p:txBody>
      </p:sp>
      <p:sp>
        <p:nvSpPr>
          <p:cNvPr id="18" name="Text 16"/>
          <p:cNvSpPr/>
          <p:nvPr/>
        </p:nvSpPr>
        <p:spPr>
          <a:xfrm>
            <a:off x="5257800" y="1216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Enable Kubernetes</a:t>
            </a:r>
            <a:endParaRPr lang="en-US" sz="1400" dirty="0"/>
          </a:p>
        </p:txBody>
      </p:sp>
      <p:sp>
        <p:nvSpPr>
          <p:cNvPr id="19" name="Text 17"/>
          <p:cNvSpPr/>
          <p:nvPr/>
        </p:nvSpPr>
        <p:spPr>
          <a:xfrm>
            <a:off x="5257800" y="1554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Check the box "Enable Kubernetes" and click "Apply &amp; Restart".</a:t>
            </a:r>
            <a:endParaRPr lang="en-US" sz="1000" dirty="0"/>
          </a:p>
        </p:txBody>
      </p:sp>
      <p:sp>
        <p:nvSpPr>
          <p:cNvPr id="20" name="Shape 18"/>
          <p:cNvSpPr/>
          <p:nvPr/>
        </p:nvSpPr>
        <p:spPr>
          <a:xfrm>
            <a:off x="4754880" y="2377440"/>
            <a:ext cx="365760" cy="365760"/>
          </a:xfrm>
          <a:prstGeom prst="ellipse">
            <a:avLst/>
          </a:prstGeom>
          <a:solidFill>
            <a:srgbClr val="21D4FD"/>
          </a:solidFill>
          <a:ln/>
        </p:spPr>
        <p:txBody>
          <a:bodyPr/>
          <a:lstStyle/>
          <a:p>
            <a:endParaRPr lang="en-US"/>
          </a:p>
        </p:txBody>
      </p:sp>
      <p:sp>
        <p:nvSpPr>
          <p:cNvPr id="21" name="Text 19"/>
          <p:cNvSpPr/>
          <p:nvPr/>
        </p:nvSpPr>
        <p:spPr>
          <a:xfrm>
            <a:off x="4754880" y="2377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5</a:t>
            </a:r>
            <a:endParaRPr lang="en-US" sz="1600" dirty="0"/>
          </a:p>
        </p:txBody>
      </p:sp>
      <p:sp>
        <p:nvSpPr>
          <p:cNvPr id="22" name="Text 20"/>
          <p:cNvSpPr/>
          <p:nvPr/>
        </p:nvSpPr>
        <p:spPr>
          <a:xfrm>
            <a:off x="5257800" y="2359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Wait for Installation</a:t>
            </a:r>
            <a:endParaRPr lang="en-US" sz="1400" dirty="0"/>
          </a:p>
        </p:txBody>
      </p:sp>
      <p:sp>
        <p:nvSpPr>
          <p:cNvPr id="23" name="Text 21"/>
          <p:cNvSpPr/>
          <p:nvPr/>
        </p:nvSpPr>
        <p:spPr>
          <a:xfrm>
            <a:off x="5257800" y="2697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Docker will download K8s components. The status bar shows "Kubernetes running" when ready (2-5 min).</a:t>
            </a:r>
            <a:endParaRPr lang="en-US" sz="1000" dirty="0"/>
          </a:p>
        </p:txBody>
      </p:sp>
      <p:sp>
        <p:nvSpPr>
          <p:cNvPr id="24" name="Shape 22"/>
          <p:cNvSpPr/>
          <p:nvPr/>
        </p:nvSpPr>
        <p:spPr>
          <a:xfrm>
            <a:off x="548640" y="4572000"/>
            <a:ext cx="8046720" cy="320040"/>
          </a:xfrm>
          <a:prstGeom prst="rect">
            <a:avLst/>
          </a:prstGeom>
          <a:solidFill>
            <a:srgbClr val="065A82">
              <a:alpha val="50000"/>
            </a:srgbClr>
          </a:solidFill>
          <a:ln/>
        </p:spPr>
        <p:txBody>
          <a:bodyPr/>
          <a:lstStyle/>
          <a:p>
            <a:endParaRPr lang="en-US"/>
          </a:p>
        </p:txBody>
      </p:sp>
      <p:pic>
        <p:nvPicPr>
          <p:cNvPr id="25" name="Image 0" descr="preencoded.png"/>
          <p:cNvPicPr>
            <a:picLocks noChangeAspect="1"/>
          </p:cNvPicPr>
          <p:nvPr/>
        </p:nvPicPr>
        <p:blipFill>
          <a:blip r:embed="rId2"/>
          <a:stretch>
            <a:fillRect/>
          </a:stretch>
        </p:blipFill>
        <p:spPr>
          <a:xfrm>
            <a:off x="685800" y="4617720"/>
            <a:ext cx="228600" cy="228600"/>
          </a:xfrm>
          <a:prstGeom prst="rect">
            <a:avLst/>
          </a:prstGeom>
        </p:spPr>
      </p:pic>
      <p:sp>
        <p:nvSpPr>
          <p:cNvPr id="26" name="Text 23"/>
          <p:cNvSpPr/>
          <p:nvPr/>
        </p:nvSpPr>
        <p:spPr>
          <a:xfrm>
            <a:off x="1005840" y="4572000"/>
            <a:ext cx="7315200" cy="320040"/>
          </a:xfrm>
          <a:prstGeom prst="rect">
            <a:avLst/>
          </a:prstGeom>
          <a:noFill/>
          <a:ln/>
        </p:spPr>
        <p:txBody>
          <a:bodyPr wrap="square" lIns="0" tIns="0" rIns="0" bIns="0" rtlCol="0" anchor="ctr"/>
          <a:lstStyle/>
          <a:p>
            <a:pPr marL="0" indent="0" algn="l">
              <a:buNone/>
            </a:pPr>
            <a:r>
              <a:rPr lang="en-US" sz="1000" dirty="0">
                <a:solidFill>
                  <a:srgbClr val="34D399"/>
                </a:solidFill>
                <a:latin typeface="Calibri" pitchFamily="34" charset="0"/>
                <a:ea typeface="Calibri" pitchFamily="34" charset="-122"/>
                <a:cs typeface="Calibri" pitchFamily="34" charset="-120"/>
              </a:rPr>
              <a:t>Both Docker and Kubernetes icons in the menu bar should show green when ready.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50292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Verify &amp; Get Started</a:t>
            </a:r>
            <a:endParaRPr lang="en-US" sz="2800" dirty="0"/>
          </a:p>
        </p:txBody>
      </p:sp>
      <p:sp>
        <p:nvSpPr>
          <p:cNvPr id="3" name="Text 1"/>
          <p:cNvSpPr/>
          <p:nvPr/>
        </p:nvSpPr>
        <p:spPr>
          <a:xfrm>
            <a:off x="548640" y="777240"/>
            <a:ext cx="50292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Terminal commands to confirm your cluster is running</a:t>
            </a:r>
            <a:endParaRPr lang="en-US" sz="1200" dirty="0"/>
          </a:p>
        </p:txBody>
      </p:sp>
      <p:pic>
        <p:nvPicPr>
          <p:cNvPr id="4" name="Image 0" descr="/agent/turn3/workspace/images/dark-terminal-console-window-showing-green-and-cya_2026-05-05T05-30-29_image_DAS_0.jpg"/>
          <p:cNvPicPr>
            <a:picLocks noChangeAspect="1"/>
          </p:cNvPicPr>
          <p:nvPr/>
        </p:nvPicPr>
        <p:blipFill>
          <a:blip r:embed="rId2"/>
          <a:srcRect l="28074" r="28074"/>
          <a:stretch/>
        </p:blipFill>
        <p:spPr>
          <a:xfrm>
            <a:off x="5760720" y="0"/>
            <a:ext cx="3383280" cy="5143500"/>
          </a:xfrm>
          <a:prstGeom prst="rect">
            <a:avLst/>
          </a:prstGeom>
        </p:spPr>
      </p:pic>
      <p:sp>
        <p:nvSpPr>
          <p:cNvPr id="5" name="Shape 2"/>
          <p:cNvSpPr/>
          <p:nvPr/>
        </p:nvSpPr>
        <p:spPr>
          <a:xfrm>
            <a:off x="5760720" y="0"/>
            <a:ext cx="3383280" cy="5143500"/>
          </a:xfrm>
          <a:prstGeom prst="rect">
            <a:avLst/>
          </a:prstGeom>
          <a:solidFill>
            <a:srgbClr val="0F1B2D">
              <a:alpha val="75000"/>
            </a:srgbClr>
          </a:solidFill>
          <a:ln/>
        </p:spPr>
        <p:txBody>
          <a:bodyPr/>
          <a:lstStyle/>
          <a:p>
            <a:endParaRPr lang="en-US"/>
          </a:p>
        </p:txBody>
      </p:sp>
      <p:sp>
        <p:nvSpPr>
          <p:cNvPr id="6" name="Text 3"/>
          <p:cNvSpPr/>
          <p:nvPr/>
        </p:nvSpPr>
        <p:spPr>
          <a:xfrm>
            <a:off x="548640" y="1143000"/>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Check kubectl version</a:t>
            </a:r>
            <a:endParaRPr lang="en-US" sz="900" dirty="0"/>
          </a:p>
        </p:txBody>
      </p:sp>
      <p:sp>
        <p:nvSpPr>
          <p:cNvPr id="7" name="Shape 4"/>
          <p:cNvSpPr/>
          <p:nvPr/>
        </p:nvSpPr>
        <p:spPr>
          <a:xfrm>
            <a:off x="548640" y="1325880"/>
            <a:ext cx="4937760" cy="365760"/>
          </a:xfrm>
          <a:prstGeom prst="rect">
            <a:avLst/>
          </a:prstGeom>
          <a:solidFill>
            <a:srgbClr val="0A1628"/>
          </a:solidFill>
          <a:ln/>
        </p:spPr>
        <p:txBody>
          <a:bodyPr/>
          <a:lstStyle/>
          <a:p>
            <a:endParaRPr lang="en-US"/>
          </a:p>
        </p:txBody>
      </p:sp>
      <p:sp>
        <p:nvSpPr>
          <p:cNvPr id="8" name="Text 5"/>
          <p:cNvSpPr/>
          <p:nvPr/>
        </p:nvSpPr>
        <p:spPr>
          <a:xfrm>
            <a:off x="685800" y="1344168"/>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version --client</a:t>
            </a:r>
            <a:endParaRPr lang="en-US" sz="800" dirty="0"/>
          </a:p>
        </p:txBody>
      </p:sp>
      <p:sp>
        <p:nvSpPr>
          <p:cNvPr id="9" name="Text 6"/>
          <p:cNvSpPr/>
          <p:nvPr/>
        </p:nvSpPr>
        <p:spPr>
          <a:xfrm>
            <a:off x="685800" y="1499616"/>
            <a:ext cx="4663440" cy="137160"/>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Client Version: v1.29.x</a:t>
            </a:r>
            <a:endParaRPr lang="en-US" sz="750" dirty="0"/>
          </a:p>
        </p:txBody>
      </p:sp>
      <p:sp>
        <p:nvSpPr>
          <p:cNvPr id="10" name="Text 7"/>
          <p:cNvSpPr/>
          <p:nvPr/>
        </p:nvSpPr>
        <p:spPr>
          <a:xfrm>
            <a:off x="548640" y="1764792"/>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Verify cluster is running</a:t>
            </a:r>
            <a:endParaRPr lang="en-US" sz="900" dirty="0"/>
          </a:p>
        </p:txBody>
      </p:sp>
      <p:sp>
        <p:nvSpPr>
          <p:cNvPr id="11" name="Shape 8"/>
          <p:cNvSpPr/>
          <p:nvPr/>
        </p:nvSpPr>
        <p:spPr>
          <a:xfrm>
            <a:off x="548640" y="1947672"/>
            <a:ext cx="4937760" cy="448056"/>
          </a:xfrm>
          <a:prstGeom prst="rect">
            <a:avLst/>
          </a:prstGeom>
          <a:solidFill>
            <a:srgbClr val="0A1628"/>
          </a:solidFill>
          <a:ln/>
        </p:spPr>
        <p:txBody>
          <a:bodyPr/>
          <a:lstStyle/>
          <a:p>
            <a:endParaRPr lang="en-US"/>
          </a:p>
        </p:txBody>
      </p:sp>
      <p:sp>
        <p:nvSpPr>
          <p:cNvPr id="12" name="Text 9"/>
          <p:cNvSpPr/>
          <p:nvPr/>
        </p:nvSpPr>
        <p:spPr>
          <a:xfrm>
            <a:off x="685800" y="1965960"/>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cluster-info</a:t>
            </a:r>
            <a:endParaRPr lang="en-US" sz="800" dirty="0"/>
          </a:p>
        </p:txBody>
      </p:sp>
      <p:sp>
        <p:nvSpPr>
          <p:cNvPr id="13" name="Text 10"/>
          <p:cNvSpPr/>
          <p:nvPr/>
        </p:nvSpPr>
        <p:spPr>
          <a:xfrm>
            <a:off x="685800" y="2121408"/>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Kubernetes control plane is running at</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https://127.0.0.1:6443</a:t>
            </a:r>
            <a:endParaRPr lang="en-US" sz="750" dirty="0"/>
          </a:p>
        </p:txBody>
      </p:sp>
      <p:sp>
        <p:nvSpPr>
          <p:cNvPr id="14" name="Text 11"/>
          <p:cNvSpPr/>
          <p:nvPr/>
        </p:nvSpPr>
        <p:spPr>
          <a:xfrm>
            <a:off x="548640" y="2468880"/>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List cluster nodes</a:t>
            </a:r>
            <a:endParaRPr lang="en-US" sz="900" dirty="0"/>
          </a:p>
        </p:txBody>
      </p:sp>
      <p:sp>
        <p:nvSpPr>
          <p:cNvPr id="15" name="Shape 12"/>
          <p:cNvSpPr/>
          <p:nvPr/>
        </p:nvSpPr>
        <p:spPr>
          <a:xfrm>
            <a:off x="548640" y="2651760"/>
            <a:ext cx="4937760" cy="448056"/>
          </a:xfrm>
          <a:prstGeom prst="rect">
            <a:avLst/>
          </a:prstGeom>
          <a:solidFill>
            <a:srgbClr val="0A1628"/>
          </a:solidFill>
          <a:ln/>
        </p:spPr>
        <p:txBody>
          <a:bodyPr/>
          <a:lstStyle/>
          <a:p>
            <a:endParaRPr lang="en-US"/>
          </a:p>
        </p:txBody>
      </p:sp>
      <p:sp>
        <p:nvSpPr>
          <p:cNvPr id="16" name="Text 13"/>
          <p:cNvSpPr/>
          <p:nvPr/>
        </p:nvSpPr>
        <p:spPr>
          <a:xfrm>
            <a:off x="685800" y="2670048"/>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get nodes</a:t>
            </a:r>
            <a:endParaRPr lang="en-US" sz="800" dirty="0"/>
          </a:p>
        </p:txBody>
      </p:sp>
      <p:sp>
        <p:nvSpPr>
          <p:cNvPr id="17" name="Text 14"/>
          <p:cNvSpPr/>
          <p:nvPr/>
        </p:nvSpPr>
        <p:spPr>
          <a:xfrm>
            <a:off x="685800" y="2825496"/>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NAME              STATUS   ROLES</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docker-desktop    Ready    control-plane</a:t>
            </a:r>
            <a:endParaRPr lang="en-US" sz="750" dirty="0"/>
          </a:p>
        </p:txBody>
      </p:sp>
      <p:sp>
        <p:nvSpPr>
          <p:cNvPr id="18" name="Text 15"/>
          <p:cNvSpPr/>
          <p:nvPr/>
        </p:nvSpPr>
        <p:spPr>
          <a:xfrm>
            <a:off x="548640" y="3172968"/>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Deploy your first app</a:t>
            </a:r>
            <a:endParaRPr lang="en-US" sz="900" dirty="0"/>
          </a:p>
        </p:txBody>
      </p:sp>
      <p:sp>
        <p:nvSpPr>
          <p:cNvPr id="19" name="Shape 16"/>
          <p:cNvSpPr/>
          <p:nvPr/>
        </p:nvSpPr>
        <p:spPr>
          <a:xfrm>
            <a:off x="548640" y="3355848"/>
            <a:ext cx="4937760" cy="566928"/>
          </a:xfrm>
          <a:prstGeom prst="rect">
            <a:avLst/>
          </a:prstGeom>
          <a:solidFill>
            <a:srgbClr val="0A1628"/>
          </a:solidFill>
          <a:ln/>
        </p:spPr>
        <p:txBody>
          <a:bodyPr/>
          <a:lstStyle/>
          <a:p>
            <a:endParaRPr lang="en-US"/>
          </a:p>
        </p:txBody>
      </p:sp>
      <p:sp>
        <p:nvSpPr>
          <p:cNvPr id="20" name="Text 17"/>
          <p:cNvSpPr/>
          <p:nvPr/>
        </p:nvSpPr>
        <p:spPr>
          <a:xfrm>
            <a:off x="685800" y="3374136"/>
            <a:ext cx="4663440" cy="256032"/>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create deployment nginx --image=nginx</a:t>
            </a:r>
            <a:endParaRPr lang="en-US" sz="800" dirty="0"/>
          </a:p>
          <a:p>
            <a:pPr marL="0" indent="0" algn="l">
              <a:buNone/>
            </a:pPr>
            <a:r>
              <a:rPr lang="en-US" sz="800" dirty="0">
                <a:solidFill>
                  <a:srgbClr val="34D399"/>
                </a:solidFill>
                <a:latin typeface="Consolas" pitchFamily="34" charset="0"/>
                <a:ea typeface="Consolas" pitchFamily="34" charset="-122"/>
                <a:cs typeface="Consolas" pitchFamily="34" charset="-120"/>
              </a:rPr>
              <a:t>kubectl expose deployment nginx --port=80 --type=NodePort</a:t>
            </a:r>
            <a:endParaRPr lang="en-US" sz="800" dirty="0"/>
          </a:p>
        </p:txBody>
      </p:sp>
      <p:sp>
        <p:nvSpPr>
          <p:cNvPr id="21" name="Text 18"/>
          <p:cNvSpPr/>
          <p:nvPr/>
        </p:nvSpPr>
        <p:spPr>
          <a:xfrm>
            <a:off x="685800" y="3648456"/>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deployment.apps/nginx created</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service/nginx exposed</a:t>
            </a:r>
            <a:endParaRPr lang="en-US" sz="750" dirty="0"/>
          </a:p>
        </p:txBody>
      </p:sp>
      <p:sp>
        <p:nvSpPr>
          <p:cNvPr id="22" name="Text 19"/>
          <p:cNvSpPr/>
          <p:nvPr/>
        </p:nvSpPr>
        <p:spPr>
          <a:xfrm>
            <a:off x="548640" y="3995928"/>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Check running pods</a:t>
            </a:r>
            <a:endParaRPr lang="en-US" sz="900" dirty="0"/>
          </a:p>
        </p:txBody>
      </p:sp>
      <p:sp>
        <p:nvSpPr>
          <p:cNvPr id="23" name="Shape 20"/>
          <p:cNvSpPr/>
          <p:nvPr/>
        </p:nvSpPr>
        <p:spPr>
          <a:xfrm>
            <a:off x="548640" y="4178808"/>
            <a:ext cx="4937760" cy="448056"/>
          </a:xfrm>
          <a:prstGeom prst="rect">
            <a:avLst/>
          </a:prstGeom>
          <a:solidFill>
            <a:srgbClr val="0A1628"/>
          </a:solidFill>
          <a:ln/>
        </p:spPr>
        <p:txBody>
          <a:bodyPr/>
          <a:lstStyle/>
          <a:p>
            <a:endParaRPr lang="en-US"/>
          </a:p>
        </p:txBody>
      </p:sp>
      <p:sp>
        <p:nvSpPr>
          <p:cNvPr id="24" name="Text 21"/>
          <p:cNvSpPr/>
          <p:nvPr/>
        </p:nvSpPr>
        <p:spPr>
          <a:xfrm>
            <a:off x="685800" y="4197096"/>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get pods</a:t>
            </a:r>
            <a:endParaRPr lang="en-US" sz="800" dirty="0"/>
          </a:p>
        </p:txBody>
      </p:sp>
      <p:sp>
        <p:nvSpPr>
          <p:cNvPr id="25" name="Text 22"/>
          <p:cNvSpPr/>
          <p:nvPr/>
        </p:nvSpPr>
        <p:spPr>
          <a:xfrm>
            <a:off x="685800" y="4352544"/>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NAME                    READY   STATUS    AGE</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nginx-xxx-yyy           1/1     Running   10s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914400"/>
          </a:xfrm>
        </p:spPr>
        <p:txBody>
          <a:bodyPr anchor="ctr"/>
          <a:lstStyle/>
          <a:p>
            <a:pPr algn="ctr"/>
            <a:r>
              <a:rPr lang="en-US" sz="4000" b="1">
                <a:solidFill>
                  <a:srgbClr val="FFFFFF"/>
                </a:solidFill>
                <a:latin typeface="Trebuchet MS" pitchFamily="34" charset="0"/>
              </a:rPr>
              <a:t>YAML for Kubernetes</a:t>
            </a:r>
          </a:p>
        </p:txBody>
      </p:sp>
      <p:sp>
        <p:nvSpPr>
          <p:cNvPr id="3" name="Subtitle 2"/>
          <p:cNvSpPr>
            <a:spLocks noGrp="1"/>
          </p:cNvSpPr>
          <p:nvPr>
            <p:ph type="subTitle" idx="1"/>
          </p:nvPr>
        </p:nvSpPr>
        <p:spPr>
          <a:xfrm>
            <a:off x="685800" y="2514600"/>
            <a:ext cx="7772400" cy="548640"/>
          </a:xfrm>
        </p:spPr>
        <p:txBody>
          <a:bodyPr anchor="t"/>
          <a:lstStyle/>
          <a:p>
            <a:pPr algn="ctr"/>
            <a:r>
              <a:rPr lang="en-US" sz="2000">
                <a:solidFill>
                  <a:srgbClr val="21D4FD"/>
                </a:solidFill>
                <a:latin typeface="Calibri" pitchFamily="34" charset="0"/>
              </a:rPr>
              <a:t>The Language Behind Every Kubernetes Manifest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Lists &amp;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Two core data structures — ordered sequences and key-value maps</a:t>
            </a:r>
          </a:p>
        </p:txBody>
      </p:sp>
      <p:sp>
        <p:nvSpPr>
          <p:cNvPr id="10" name="ListLabel"/>
          <p:cNvSpPr/>
          <p:nvPr/>
        </p:nvSpPr>
        <p:spPr>
          <a:xfrm>
            <a:off x="548640" y="8686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Lists / Arrays  (ordered sequence)</a:t>
            </a:r>
          </a:p>
        </p:txBody>
      </p:sp>
      <p:sp>
        <p:nvSpPr>
          <p:cNvPr id="11" name="ListCode"/>
          <p:cNvSpPr/>
          <p:nvPr/>
        </p:nvSpPr>
        <p:spPr>
          <a:xfrm>
            <a:off x="548640" y="1143000"/>
            <a:ext cx="3886200" cy="118872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900">
                <a:solidFill>
                  <a:srgbClr val="21D4FD"/>
                </a:solidFill>
                <a:latin typeface="Consolas" pitchFamily="49" charset="0"/>
              </a:rPr>
              <a:t>fruits</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apple</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banana</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cherry</a:t>
            </a:r>
          </a:p>
          <a:p>
            <a:pPr algn="l">
              <a:buNone/>
            </a:pPr>
            <a:endParaRPr lang="en-US" sz="400"/>
          </a:p>
          <a:p>
            <a:pPr algn="l">
              <a:buNone/>
            </a:pPr>
            <a:r>
              <a:rPr lang="en-US" sz="750" i="1">
                <a:solidFill>
                  <a:srgbClr val="94A3B8"/>
                </a:solidFill>
                <a:latin typeface="Calibri" pitchFamily="34" charset="0"/>
              </a:rPr>
              <a:t>Each </a:t>
            </a:r>
            <a:r>
              <a:rPr lang="en-US" sz="750" i="1">
                <a:solidFill>
                  <a:srgbClr val="F96167"/>
                </a:solidFill>
                <a:latin typeface="Calibri" pitchFamily="34" charset="0"/>
              </a:rPr>
              <a:t>-</a:t>
            </a:r>
            <a:r>
              <a:rPr lang="en-US" sz="750" i="1">
                <a:solidFill>
                  <a:srgbClr val="94A3B8"/>
                </a:solidFill>
                <a:latin typeface="Calibri" pitchFamily="34" charset="0"/>
              </a:rPr>
              <a:t> (dash + space) marks one item in the list</a:t>
            </a:r>
          </a:p>
        </p:txBody>
      </p:sp>
      <p:sp>
        <p:nvSpPr>
          <p:cNvPr id="20" name="DictLabel"/>
          <p:cNvSpPr/>
          <p:nvPr/>
        </p:nvSpPr>
        <p:spPr>
          <a:xfrm>
            <a:off x="4709160" y="868680"/>
            <a:ext cx="38862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Dictionaries / Maps  (key → value)</a:t>
            </a:r>
          </a:p>
        </p:txBody>
      </p:sp>
      <p:sp>
        <p:nvSpPr>
          <p:cNvPr id="21" name="DictCode"/>
          <p:cNvSpPr/>
          <p:nvPr/>
        </p:nvSpPr>
        <p:spPr>
          <a:xfrm>
            <a:off x="4709160" y="1143000"/>
            <a:ext cx="3886200" cy="1188720"/>
          </a:xfrm>
          <a:prstGeom prst="roundRect">
            <a:avLst>
              <a:gd name="adj" fmla="val 5000"/>
            </a:avLst>
          </a:prstGeom>
          <a:solidFill>
            <a:srgbClr val="0A1628"/>
          </a:solidFill>
          <a:ln w="15875">
            <a:solidFill>
              <a:srgbClr val="21D4FD"/>
            </a:solidFill>
          </a:ln>
        </p:spPr>
        <p:txBody>
          <a:bodyPr wrap="square" lIns="114300" tIns="68580" rIns="114300" bIns="68580" rtlCol="0" anchor="t"/>
          <a:lstStyle/>
          <a:p>
            <a:pPr algn="l">
              <a:buNone/>
            </a:pPr>
            <a:r>
              <a:rPr lang="en-US" sz="900">
                <a:solidFill>
                  <a:srgbClr val="21D4FD"/>
                </a:solidFill>
                <a:latin typeface="Consolas" pitchFamily="49" charset="0"/>
              </a:rPr>
              <a:t>person</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Alice</a:t>
            </a:r>
          </a:p>
          <a:p>
            <a:pPr algn="l">
              <a:buNone/>
            </a:pPr>
            <a:r>
              <a:rPr lang="en-US" sz="900">
                <a:solidFill>
                  <a:srgbClr val="CBD5E1"/>
                </a:solidFill>
                <a:latin typeface="Consolas" pitchFamily="49" charset="0"/>
              </a:rPr>
              <a:t>  </a:t>
            </a:r>
            <a:r>
              <a:rPr lang="en-US" sz="900">
                <a:solidFill>
                  <a:srgbClr val="21D4FD"/>
                </a:solidFill>
                <a:latin typeface="Consolas" pitchFamily="49" charset="0"/>
              </a:rPr>
              <a:t>age</a:t>
            </a:r>
            <a:r>
              <a:rPr lang="en-US" sz="900">
                <a:solidFill>
                  <a:srgbClr val="CBD5E1"/>
                </a:solidFill>
                <a:latin typeface="Consolas" pitchFamily="49" charset="0"/>
              </a:rPr>
              <a:t>: </a:t>
            </a:r>
            <a:r>
              <a:rPr lang="en-US" sz="900">
                <a:solidFill>
                  <a:srgbClr val="F9E795"/>
                </a:solidFill>
                <a:latin typeface="Consolas" pitchFamily="49" charset="0"/>
              </a:rPr>
              <a:t>30</a:t>
            </a:r>
          </a:p>
          <a:p>
            <a:pPr algn="l">
              <a:buNone/>
            </a:pPr>
            <a:r>
              <a:rPr lang="en-US" sz="900">
                <a:solidFill>
                  <a:srgbClr val="CBD5E1"/>
                </a:solidFill>
                <a:latin typeface="Consolas" pitchFamily="49" charset="0"/>
              </a:rPr>
              <a:t>  </a:t>
            </a:r>
            <a:r>
              <a:rPr lang="en-US" sz="900">
                <a:solidFill>
                  <a:srgbClr val="21D4FD"/>
                </a:solidFill>
                <a:latin typeface="Consolas" pitchFamily="49" charset="0"/>
              </a:rPr>
              <a:t>city</a:t>
            </a:r>
            <a:r>
              <a:rPr lang="en-US" sz="900">
                <a:solidFill>
                  <a:srgbClr val="CBD5E1"/>
                </a:solidFill>
                <a:latin typeface="Consolas" pitchFamily="49" charset="0"/>
              </a:rPr>
              <a:t>: </a:t>
            </a:r>
            <a:r>
              <a:rPr lang="en-US" sz="900">
                <a:solidFill>
                  <a:srgbClr val="34D399"/>
                </a:solidFill>
                <a:latin typeface="Consolas" pitchFamily="49" charset="0"/>
              </a:rPr>
              <a:t>New York</a:t>
            </a:r>
          </a:p>
          <a:p>
            <a:pPr algn="l">
              <a:buNone/>
            </a:pPr>
            <a:endParaRPr lang="en-US" sz="400"/>
          </a:p>
          <a:p>
            <a:pPr algn="l">
              <a:buNone/>
            </a:pPr>
            <a:r>
              <a:rPr lang="en-US" sz="750" i="1">
                <a:solidFill>
                  <a:srgbClr val="94A3B8"/>
                </a:solidFill>
                <a:latin typeface="Calibri" pitchFamily="34" charset="0"/>
              </a:rPr>
              <a:t>Each indented key: value pair is a property of the parent</a:t>
            </a:r>
          </a:p>
        </p:txBody>
      </p:sp>
      <p:sp>
        <p:nvSpPr>
          <p:cNvPr id="50" name="DiagLabel"/>
          <p:cNvSpPr/>
          <p:nvPr/>
        </p:nvSpPr>
        <p:spPr>
          <a:xfrm>
            <a:off x="548640" y="24688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How a Dictionary Maps Keys to Values</a:t>
            </a:r>
          </a:p>
        </p:txBody>
      </p:sp>
      <p:sp>
        <p:nvSpPr>
          <p:cNvPr id="51" name="DiagBG"/>
          <p:cNvSpPr/>
          <p:nvPr/>
        </p:nvSpPr>
        <p:spPr>
          <a:xfrm>
            <a:off x="548640" y="2743200"/>
            <a:ext cx="8046720" cy="1554480"/>
          </a:xfrm>
          <a:prstGeom prst="roundRect">
            <a:avLst>
              <a:gd name="adj" fmla="val 4000"/>
            </a:avLst>
          </a:prstGeom>
          <a:solidFill>
            <a:srgbClr val="0A1628"/>
          </a:solidFill>
          <a:ln w="12700">
            <a:solidFill>
              <a:srgbClr val="1A2A44"/>
            </a:solidFill>
          </a:ln>
        </p:spPr>
        <p:txBody>
          <a:bodyPr/>
          <a:lstStyle/>
          <a:p>
            <a:endParaRPr lang="en-US"/>
          </a:p>
        </p:txBody>
      </p:sp>
      <p:sp>
        <p:nvSpPr>
          <p:cNvPr id="52" name="DiagParent"/>
          <p:cNvSpPr/>
          <p:nvPr/>
        </p:nvSpPr>
        <p:spPr>
          <a:xfrm>
            <a:off x="731520" y="2834640"/>
            <a:ext cx="1188720" cy="365760"/>
          </a:xfrm>
          <a:prstGeom prst="roundRect">
            <a:avLst>
              <a:gd name="adj" fmla="val 15000"/>
            </a:avLst>
          </a:prstGeom>
          <a:solidFill>
            <a:srgbClr val="162D50"/>
          </a:solidFill>
          <a:ln w="15875">
            <a:solidFill>
              <a:srgbClr val="F9E795"/>
            </a:solidFill>
          </a:ln>
        </p:spPr>
        <p:txBody>
          <a:bodyPr wrap="square" lIns="0" tIns="0" rIns="0" bIns="0" rtlCol="0" anchor="ctr"/>
          <a:lstStyle/>
          <a:p>
            <a:pPr algn="ctr">
              <a:buNone/>
            </a:pPr>
            <a:r>
              <a:rPr lang="en-US" sz="1100" b="1">
                <a:solidFill>
                  <a:srgbClr val="F9E795"/>
                </a:solidFill>
                <a:latin typeface="Consolas" pitchFamily="49" charset="0"/>
              </a:rPr>
              <a:t>person</a:t>
            </a:r>
          </a:p>
        </p:txBody>
      </p:sp>
      <p:sp>
        <p:nvSpPr>
          <p:cNvPr id="60" name="K1"/>
          <p:cNvSpPr/>
          <p:nvPr/>
        </p:nvSpPr>
        <p:spPr>
          <a:xfrm>
            <a:off x="2651760" y="28346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name</a:t>
            </a:r>
          </a:p>
        </p:txBody>
      </p:sp>
      <p:sp>
        <p:nvSpPr>
          <p:cNvPr id="61" name="K2"/>
          <p:cNvSpPr/>
          <p:nvPr/>
        </p:nvSpPr>
        <p:spPr>
          <a:xfrm>
            <a:off x="2651760" y="32918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age</a:t>
            </a:r>
          </a:p>
        </p:txBody>
      </p:sp>
      <p:sp>
        <p:nvSpPr>
          <p:cNvPr id="62" name="K3"/>
          <p:cNvSpPr/>
          <p:nvPr/>
        </p:nvSpPr>
        <p:spPr>
          <a:xfrm>
            <a:off x="2651760" y="37490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city</a:t>
            </a:r>
          </a:p>
        </p:txBody>
      </p:sp>
      <p:sp>
        <p:nvSpPr>
          <p:cNvPr id="70" name="Arr1"/>
          <p:cNvSpPr/>
          <p:nvPr/>
        </p:nvSpPr>
        <p:spPr>
          <a:xfrm>
            <a:off x="4114800" y="28346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71" name="Arr2"/>
          <p:cNvSpPr/>
          <p:nvPr/>
        </p:nvSpPr>
        <p:spPr>
          <a:xfrm>
            <a:off x="4114800" y="32918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72" name="Arr3"/>
          <p:cNvSpPr/>
          <p:nvPr/>
        </p:nvSpPr>
        <p:spPr>
          <a:xfrm>
            <a:off x="4114800" y="37490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80" name="V1"/>
          <p:cNvSpPr/>
          <p:nvPr/>
        </p:nvSpPr>
        <p:spPr>
          <a:xfrm>
            <a:off x="5120640" y="28346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Alice</a:t>
            </a:r>
          </a:p>
        </p:txBody>
      </p:sp>
      <p:sp>
        <p:nvSpPr>
          <p:cNvPr id="81" name="V2"/>
          <p:cNvSpPr/>
          <p:nvPr/>
        </p:nvSpPr>
        <p:spPr>
          <a:xfrm>
            <a:off x="5120640" y="32918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30</a:t>
            </a:r>
          </a:p>
        </p:txBody>
      </p:sp>
      <p:sp>
        <p:nvSpPr>
          <p:cNvPr id="82" name="V3"/>
          <p:cNvSpPr/>
          <p:nvPr/>
        </p:nvSpPr>
        <p:spPr>
          <a:xfrm>
            <a:off x="5120640" y="37490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New York</a:t>
            </a:r>
          </a:p>
        </p:txBody>
      </p:sp>
      <p:sp>
        <p:nvSpPr>
          <p:cNvPr id="90" name="KeyHdr"/>
          <p:cNvSpPr/>
          <p:nvPr/>
        </p:nvSpPr>
        <p:spPr>
          <a:xfrm>
            <a:off x="2651760" y="4160520"/>
            <a:ext cx="1371600" cy="182880"/>
          </a:xfrm>
          <a:prstGeom prst="rect">
            <a:avLst/>
          </a:prstGeom>
          <a:noFill/>
          <a:ln/>
        </p:spPr>
        <p:txBody>
          <a:bodyPr wrap="square" lIns="0" tIns="0" rIns="0" bIns="0" rtlCol="0" anchor="t"/>
          <a:lstStyle/>
          <a:p>
            <a:pPr algn="ctr">
              <a:buNone/>
            </a:pPr>
            <a:r>
              <a:rPr lang="en-US" sz="800" b="1">
                <a:solidFill>
                  <a:srgbClr val="21D4FD"/>
                </a:solidFill>
                <a:latin typeface="Calibri" pitchFamily="34" charset="0"/>
              </a:rPr>
              <a:t>KEYS</a:t>
            </a:r>
          </a:p>
        </p:txBody>
      </p:sp>
      <p:sp>
        <p:nvSpPr>
          <p:cNvPr id="91" name="ValHdr"/>
          <p:cNvSpPr/>
          <p:nvPr/>
        </p:nvSpPr>
        <p:spPr>
          <a:xfrm>
            <a:off x="5120640" y="4160520"/>
            <a:ext cx="1371600" cy="182880"/>
          </a:xfrm>
          <a:prstGeom prst="rect">
            <a:avLst/>
          </a:prstGeom>
          <a:noFill/>
          <a:ln/>
        </p:spPr>
        <p:txBody>
          <a:bodyPr wrap="square" lIns="0" tIns="0" rIns="0" bIns="0" rtlCol="0" anchor="t"/>
          <a:lstStyle/>
          <a:p>
            <a:pPr algn="ctr">
              <a:buNone/>
            </a:pPr>
            <a:r>
              <a:rPr lang="en-US" sz="800" b="1">
                <a:solidFill>
                  <a:srgbClr val="34D399"/>
                </a:solidFill>
                <a:latin typeface="Calibri" pitchFamily="34" charset="0"/>
              </a:rPr>
              <a:t>VALUES</a:t>
            </a:r>
          </a:p>
        </p:txBody>
      </p:sp>
      <p:sp>
        <p:nvSpPr>
          <p:cNvPr id="95" name="ConnArrow"/>
          <p:cNvSpPr/>
          <p:nvPr/>
        </p:nvSpPr>
        <p:spPr>
          <a:xfrm>
            <a:off x="1920240" y="2834640"/>
            <a:ext cx="731520" cy="1280160"/>
          </a:xfrm>
          <a:prstGeom prst="rect">
            <a:avLst/>
          </a:prstGeom>
          <a:noFill/>
          <a:ln/>
        </p:spPr>
        <p:txBody>
          <a:bodyPr wrap="square" lIns="0" tIns="0" rIns="0" bIns="0" rtlCol="0" anchor="t"/>
          <a:lstStyle/>
          <a:p>
            <a:pPr algn="ctr">
              <a:buNone/>
            </a:pPr>
            <a:r>
              <a:rPr lang="en-US" sz="1800">
                <a:solidFill>
                  <a:srgbClr val="F9E795"/>
                </a:solidFill>
                <a:latin typeface="Calibri" pitchFamily="34" charset="0"/>
              </a:rPr>
              <a:t>❯</a:t>
            </a:r>
          </a:p>
          <a:p>
            <a:pPr algn="ctr">
              <a:buNone/>
            </a:pPr>
            <a:r>
              <a:rPr lang="en-US" sz="1800">
                <a:solidFill>
                  <a:srgbClr val="F9E795"/>
                </a:solidFill>
                <a:latin typeface="Calibri" pitchFamily="34" charset="0"/>
              </a:rPr>
              <a:t>❯</a:t>
            </a:r>
          </a:p>
          <a:p>
            <a:pPr algn="ctr">
              <a:buNone/>
            </a:pPr>
            <a:r>
              <a:rPr lang="en-US" sz="1800">
                <a:solidFill>
                  <a:srgbClr val="F9E795"/>
                </a:solidFill>
                <a:latin typeface="Calibri" pitchFamily="34" charset="0"/>
              </a:rPr>
              <a:t>❯</a:t>
            </a:r>
          </a:p>
        </p:txBody>
      </p:sp>
      <p:sp>
        <p:nvSpPr>
          <p:cNvPr id="96" name="TypeAnno"/>
          <p:cNvSpPr/>
          <p:nvPr/>
        </p:nvSpPr>
        <p:spPr>
          <a:xfrm>
            <a:off x="6675120" y="2834640"/>
            <a:ext cx="1737360" cy="1280160"/>
          </a:xfrm>
          <a:prstGeom prst="rect">
            <a:avLst/>
          </a:prstGeom>
          <a:noFill/>
          <a:ln/>
        </p:spPr>
        <p:txBody>
          <a:bodyPr wrap="square" lIns="68580" tIns="45720" rIns="68580" bIns="45720" rtlCol="0" anchor="t"/>
          <a:lstStyle/>
          <a:p>
            <a:pPr algn="l">
              <a:buNone/>
            </a:pPr>
            <a:r>
              <a:rPr lang="en-US" sz="800">
                <a:solidFill>
                  <a:srgbClr val="94A3B8"/>
                </a:solidFill>
                <a:latin typeface="Calibri" pitchFamily="34" charset="0"/>
              </a:rPr>
              <a:t>← </a:t>
            </a:r>
            <a:r>
              <a:rPr lang="en-US" sz="800">
                <a:solidFill>
                  <a:srgbClr val="34D399"/>
                </a:solidFill>
                <a:latin typeface="Calibri" pitchFamily="34" charset="0"/>
              </a:rPr>
              <a:t>string</a:t>
            </a:r>
          </a:p>
          <a:p>
            <a:pPr algn="l">
              <a:buNone/>
            </a:pPr>
            <a:endParaRPr lang="en-US" sz="800"/>
          </a:p>
          <a:p>
            <a:pPr algn="l">
              <a:buNone/>
            </a:pPr>
            <a:endParaRPr lang="en-US" sz="650"/>
          </a:p>
          <a:p>
            <a:pPr algn="l">
              <a:buNone/>
            </a:pPr>
            <a:r>
              <a:rPr lang="en-US" sz="800">
                <a:solidFill>
                  <a:srgbClr val="94A3B8"/>
                </a:solidFill>
                <a:latin typeface="Calibri" pitchFamily="34" charset="0"/>
              </a:rPr>
              <a:t>← </a:t>
            </a:r>
            <a:r>
              <a:rPr lang="en-US" sz="800">
                <a:solidFill>
                  <a:srgbClr val="F9E795"/>
                </a:solidFill>
                <a:latin typeface="Calibri" pitchFamily="34" charset="0"/>
              </a:rPr>
              <a:t>integer</a:t>
            </a:r>
          </a:p>
          <a:p>
            <a:pPr algn="l">
              <a:buNone/>
            </a:pPr>
            <a:endParaRPr lang="en-US" sz="800"/>
          </a:p>
          <a:p>
            <a:pPr algn="l">
              <a:buNone/>
            </a:pPr>
            <a:endParaRPr lang="en-US" sz="650"/>
          </a:p>
          <a:p>
            <a:pPr algn="l">
              <a:buNone/>
            </a:pPr>
            <a:r>
              <a:rPr lang="en-US" sz="800">
                <a:solidFill>
                  <a:srgbClr val="94A3B8"/>
                </a:solidFill>
                <a:latin typeface="Calibri" pitchFamily="34" charset="0"/>
              </a:rPr>
              <a:t>← </a:t>
            </a:r>
            <a:r>
              <a:rPr lang="en-US" sz="800">
                <a:solidFill>
                  <a:srgbClr val="34D399"/>
                </a:solidFill>
                <a:latin typeface="Calibri" pitchFamily="34" charset="0"/>
              </a:rPr>
              <a:t>string</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Key Insight:  </a:t>
            </a:r>
            <a:r>
              <a:rPr lang="en-US" sz="900">
                <a:solidFill>
                  <a:srgbClr val="CBD5E1"/>
                </a:solidFill>
                <a:latin typeface="Calibri" pitchFamily="34" charset="0"/>
              </a:rPr>
              <a:t>Lists use </a:t>
            </a:r>
            <a:r>
              <a:rPr lang="en-US" sz="900" b="1">
                <a:solidFill>
                  <a:srgbClr val="F96167"/>
                </a:solidFill>
                <a:latin typeface="Consolas" pitchFamily="49" charset="0"/>
              </a:rPr>
              <a:t>-</a:t>
            </a:r>
            <a:r>
              <a:rPr lang="en-US" sz="900">
                <a:solidFill>
                  <a:srgbClr val="CBD5E1"/>
                </a:solidFill>
                <a:latin typeface="Calibri" pitchFamily="34" charset="0"/>
              </a:rPr>
              <a:t> (dash) for ordered items  •  Dictionaries use </a:t>
            </a:r>
            <a:r>
              <a:rPr lang="en-US" sz="900" b="1">
                <a:solidFill>
                  <a:srgbClr val="21D4FD"/>
                </a:solidFill>
                <a:latin typeface="Consolas" pitchFamily="49" charset="0"/>
              </a:rPr>
              <a:t>key: value</a:t>
            </a:r>
            <a:r>
              <a:rPr lang="en-US" sz="900">
                <a:solidFill>
                  <a:srgbClr val="CBD5E1"/>
                </a:solidFill>
                <a:latin typeface="Calibri" pitchFamily="34" charset="0"/>
              </a:rPr>
              <a:t> for named properties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Combining Lists &amp;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real power of YAML — nesting lists inside dictionaries and vice versa</a:t>
            </a:r>
          </a:p>
        </p:txBody>
      </p:sp>
      <p:sp>
        <p:nvSpPr>
          <p:cNvPr id="10" name="L1Label"/>
          <p:cNvSpPr/>
          <p:nvPr/>
        </p:nvSpPr>
        <p:spPr>
          <a:xfrm>
            <a:off x="548640" y="868680"/>
            <a:ext cx="41148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 of Dictionaries</a:t>
            </a:r>
          </a:p>
        </p:txBody>
      </p:sp>
      <p:sp>
        <p:nvSpPr>
          <p:cNvPr id="11" name="L1Code"/>
          <p:cNvSpPr/>
          <p:nvPr/>
        </p:nvSpPr>
        <p:spPr>
          <a:xfrm>
            <a:off x="548640" y="1143000"/>
            <a:ext cx="4114800" cy="1691640"/>
          </a:xfrm>
          <a:prstGeom prst="roundRect">
            <a:avLst>
              <a:gd name="adj" fmla="val 4000"/>
            </a:avLst>
          </a:prstGeom>
          <a:solidFill>
            <a:srgbClr val="0A1628"/>
          </a:solidFill>
          <a:ln w="15875">
            <a:solidFill>
              <a:srgbClr val="34D399"/>
            </a:solidFill>
          </a:ln>
        </p:spPr>
        <p:txBody>
          <a:bodyPr wrap="square" lIns="114300" tIns="68580" rIns="114300" bIns="68580" rtlCol="0" anchor="t"/>
          <a:lstStyle/>
          <a:p>
            <a:pPr algn="l">
              <a:buNone/>
            </a:pPr>
            <a:r>
              <a:rPr lang="en-US" sz="850">
                <a:solidFill>
                  <a:srgbClr val="21D4FD"/>
                </a:solidFill>
                <a:latin typeface="Consolas" pitchFamily="49" charset="0"/>
              </a:rPr>
              <a:t>employees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Engineer</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active</a:t>
            </a:r>
            <a:r>
              <a:rPr lang="en-US" sz="850">
                <a:solidFill>
                  <a:srgbClr val="CBD5E1"/>
                </a:solidFill>
                <a:latin typeface="Consolas" pitchFamily="49" charset="0"/>
              </a:rPr>
              <a:t>: </a:t>
            </a:r>
            <a:r>
              <a:rPr lang="en-US" sz="850">
                <a:solidFill>
                  <a:srgbClr val="F9E795"/>
                </a:solidFill>
                <a:latin typeface="Consolas" pitchFamily="49" charset="0"/>
              </a:rPr>
              <a:t>true</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Bob</a:t>
            </a:r>
          </a:p>
          <a:p>
            <a:pPr algn="l">
              <a:buNone/>
            </a:pPr>
            <a:r>
              <a:rPr lang="en-US" sz="850">
                <a:solidFill>
                  <a:srgbClr val="CBD5E1"/>
                </a:solidFill>
                <a:latin typeface="Consolas" pitchFamily="49" charset="0"/>
              </a:rPr>
              <a:t>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Designer</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active</a:t>
            </a:r>
            <a:r>
              <a:rPr lang="en-US" sz="850">
                <a:solidFill>
                  <a:srgbClr val="CBD5E1"/>
                </a:solidFill>
                <a:latin typeface="Consolas" pitchFamily="49" charset="0"/>
              </a:rPr>
              <a:t>: </a:t>
            </a:r>
            <a:r>
              <a:rPr lang="en-US" sz="850">
                <a:solidFill>
                  <a:srgbClr val="F9E795"/>
                </a:solidFill>
                <a:latin typeface="Consolas" pitchFamily="49" charset="0"/>
              </a:rPr>
              <a:t>false</a:t>
            </a:r>
          </a:p>
          <a:p>
            <a:pPr algn="l">
              <a:buNone/>
            </a:pPr>
            <a:endParaRPr lang="en-US" sz="350"/>
          </a:p>
          <a:p>
            <a:pPr algn="l">
              <a:buNone/>
            </a:pPr>
            <a:r>
              <a:rPr lang="en-US" sz="700" i="1">
                <a:solidFill>
                  <a:srgbClr val="94A3B8"/>
                </a:solidFill>
                <a:latin typeface="Calibri" pitchFamily="34" charset="0"/>
              </a:rPr>
              <a:t>Each </a:t>
            </a:r>
            <a:r>
              <a:rPr lang="en-US" sz="700" i="1">
                <a:solidFill>
                  <a:srgbClr val="F96167"/>
                </a:solidFill>
                <a:latin typeface="Calibri" pitchFamily="34" charset="0"/>
              </a:rPr>
              <a:t>-</a:t>
            </a:r>
            <a:r>
              <a:rPr lang="en-US" sz="700" i="1">
                <a:solidFill>
                  <a:srgbClr val="94A3B8"/>
                </a:solidFill>
                <a:latin typeface="Calibri" pitchFamily="34" charset="0"/>
              </a:rPr>
              <a:t> starts a new dictionary item in the list</a:t>
            </a:r>
          </a:p>
        </p:txBody>
      </p:sp>
      <p:sp>
        <p:nvSpPr>
          <p:cNvPr id="20" name="R1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Dictionary with Lists</a:t>
            </a:r>
          </a:p>
        </p:txBody>
      </p:sp>
      <p:sp>
        <p:nvSpPr>
          <p:cNvPr id="21" name="R1Code"/>
          <p:cNvSpPr/>
          <p:nvPr/>
        </p:nvSpPr>
        <p:spPr>
          <a:xfrm>
            <a:off x="4937760" y="1143000"/>
            <a:ext cx="3657600" cy="1691640"/>
          </a:xfrm>
          <a:prstGeom prst="roundRect">
            <a:avLst>
              <a:gd name="adj" fmla="val 4000"/>
            </a:avLst>
          </a:prstGeom>
          <a:solidFill>
            <a:srgbClr val="0A1628"/>
          </a:solidFill>
          <a:ln w="15875">
            <a:solidFill>
              <a:srgbClr val="21D4FD"/>
            </a:solidFill>
          </a:ln>
        </p:spPr>
        <p:txBody>
          <a:bodyPr wrap="square" lIns="114300" tIns="68580" rIns="114300" bIns="68580" rtlCol="0" anchor="t"/>
          <a:lstStyle/>
          <a:p>
            <a:pPr algn="l">
              <a:buNone/>
            </a:pPr>
            <a:r>
              <a:rPr lang="en-US" sz="850">
                <a:solidFill>
                  <a:srgbClr val="21D4FD"/>
                </a:solidFill>
                <a:latin typeface="Consolas" pitchFamily="49" charset="0"/>
              </a:rPr>
              <a:t>team</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Platform Team</a:t>
            </a:r>
          </a:p>
          <a:p>
            <a:pPr algn="l">
              <a:buNone/>
            </a:pPr>
            <a:r>
              <a:rPr lang="en-US" sz="850">
                <a:solidFill>
                  <a:srgbClr val="CBD5E1"/>
                </a:solidFill>
                <a:latin typeface="Consolas" pitchFamily="49" charset="0"/>
              </a:rPr>
              <a:t>  </a:t>
            </a:r>
            <a:r>
              <a:rPr lang="en-US" sz="850">
                <a:solidFill>
                  <a:srgbClr val="21D4FD"/>
                </a:solidFill>
                <a:latin typeface="Consolas" pitchFamily="49" charset="0"/>
              </a:rPr>
              <a:t>members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Bob</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Charlie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tools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Docker</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Terraform</a:t>
            </a:r>
          </a:p>
          <a:p>
            <a:pPr algn="l">
              <a:buNone/>
            </a:pPr>
            <a:endParaRPr lang="en-US" sz="350"/>
          </a:p>
          <a:p>
            <a:pPr algn="l">
              <a:buNone/>
            </a:pPr>
            <a:r>
              <a:rPr lang="en-US" sz="700" i="1">
                <a:solidFill>
                  <a:srgbClr val="94A3B8"/>
                </a:solidFill>
                <a:latin typeface="Calibri" pitchFamily="34" charset="0"/>
              </a:rPr>
              <a:t>A dict can have multiple list-valued keys</a:t>
            </a:r>
          </a:p>
        </p:txBody>
      </p:sp>
      <p:sp>
        <p:nvSpPr>
          <p:cNvPr id="30" name="DiagLabel"/>
          <p:cNvSpPr/>
          <p:nvPr/>
        </p:nvSpPr>
        <p:spPr>
          <a:xfrm>
            <a:off x="548640" y="29260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Visual: How Lists &amp; Dicts Compose</a:t>
            </a:r>
          </a:p>
        </p:txBody>
      </p:sp>
      <p:sp>
        <p:nvSpPr>
          <p:cNvPr id="31" name="DiagBG"/>
          <p:cNvSpPr/>
          <p:nvPr/>
        </p:nvSpPr>
        <p:spPr>
          <a:xfrm>
            <a:off x="548640" y="3200400"/>
            <a:ext cx="8046720" cy="1097280"/>
          </a:xfrm>
          <a:prstGeom prst="roundRect">
            <a:avLst>
              <a:gd name="adj" fmla="val 4000"/>
            </a:avLst>
          </a:prstGeom>
          <a:solidFill>
            <a:srgbClr val="0A1628"/>
          </a:solidFill>
          <a:ln w="12700">
            <a:solidFill>
              <a:srgbClr val="1A2A44"/>
            </a:solidFill>
          </a:ln>
        </p:spPr>
        <p:txBody>
          <a:bodyPr/>
          <a:lstStyle/>
          <a:p>
            <a:endParaRPr lang="en-US"/>
          </a:p>
        </p:txBody>
      </p:sp>
      <p:sp>
        <p:nvSpPr>
          <p:cNvPr id="40" name="DRoot"/>
          <p:cNvSpPr/>
          <p:nvPr/>
        </p:nvSpPr>
        <p:spPr>
          <a:xfrm>
            <a:off x="685800" y="3337560"/>
            <a:ext cx="1280160" cy="822960"/>
          </a:xfrm>
          <a:prstGeom prst="roundRect">
            <a:avLst>
              <a:gd name="adj" fmla="val 12000"/>
            </a:avLst>
          </a:prstGeom>
          <a:solidFill>
            <a:srgbClr val="162D50"/>
          </a:solidFill>
          <a:ln w="15875">
            <a:solidFill>
              <a:srgbClr val="F9E795"/>
            </a:solidFill>
          </a:ln>
        </p:spPr>
        <p:txBody>
          <a:bodyPr wrap="square" lIns="0" tIns="0" rIns="0" bIns="0" rtlCol="0" anchor="ctr"/>
          <a:lstStyle/>
          <a:p>
            <a:pPr algn="ctr">
              <a:buNone/>
            </a:pPr>
            <a:r>
              <a:rPr lang="en-US" sz="1000" b="1">
                <a:solidFill>
                  <a:srgbClr val="F9E795"/>
                </a:solidFill>
                <a:latin typeface="Consolas" pitchFamily="49" charset="0"/>
              </a:rPr>
              <a:t>employees</a:t>
            </a:r>
          </a:p>
          <a:p>
            <a:pPr algn="ctr">
              <a:buNone/>
            </a:pPr>
            <a:r>
              <a:rPr lang="en-US" sz="700">
                <a:solidFill>
                  <a:srgbClr val="94A3B8"/>
                </a:solidFill>
                <a:latin typeface="Calibri" pitchFamily="34" charset="0"/>
              </a:rPr>
              <a:t>(list)</a:t>
            </a:r>
          </a:p>
        </p:txBody>
      </p:sp>
      <p:sp>
        <p:nvSpPr>
          <p:cNvPr id="41" name="RootArr"/>
          <p:cNvSpPr/>
          <p:nvPr/>
        </p:nvSpPr>
        <p:spPr>
          <a:xfrm>
            <a:off x="1965960" y="3337560"/>
            <a:ext cx="548640" cy="822960"/>
          </a:xfrm>
          <a:prstGeom prst="rect">
            <a:avLst/>
          </a:prstGeom>
          <a:noFill/>
          <a:ln/>
        </p:spPr>
        <p:txBody>
          <a:bodyPr wrap="square" lIns="0" tIns="0" rIns="0" bIns="0" rtlCol="0" anchor="ctr"/>
          <a:lstStyle/>
          <a:p>
            <a:pPr algn="ctr">
              <a:buNone/>
            </a:pPr>
            <a:r>
              <a:rPr lang="en-US" sz="1600">
                <a:solidFill>
                  <a:srgbClr val="F9E795"/>
                </a:solidFill>
                <a:latin typeface="Calibri" pitchFamily="34" charset="0"/>
              </a:rPr>
              <a:t>❯</a:t>
            </a:r>
          </a:p>
          <a:p>
            <a:pPr algn="ctr">
              <a:buNone/>
            </a:pPr>
            <a:r>
              <a:rPr lang="en-US" sz="1600">
                <a:solidFill>
                  <a:srgbClr val="F9E795"/>
                </a:solidFill>
                <a:latin typeface="Calibri" pitchFamily="34" charset="0"/>
              </a:rPr>
              <a:t>❯</a:t>
            </a:r>
          </a:p>
        </p:txBody>
      </p:sp>
      <p:sp>
        <p:nvSpPr>
          <p:cNvPr id="42" name="D0"/>
          <p:cNvSpPr/>
          <p:nvPr/>
        </p:nvSpPr>
        <p:spPr>
          <a:xfrm>
            <a:off x="2514600" y="3291840"/>
            <a:ext cx="2560320" cy="365760"/>
          </a:xfrm>
          <a:prstGeom prst="roundRect">
            <a:avLst>
              <a:gd name="adj" fmla="val 12000"/>
            </a:avLst>
          </a:prstGeom>
          <a:solidFill>
            <a:srgbClr val="162D50"/>
          </a:solidFill>
          <a:ln w="15875">
            <a:solidFill>
              <a:srgbClr val="34D399"/>
            </a:solidFill>
          </a:ln>
        </p:spPr>
        <p:txBody>
          <a:bodyPr wrap="square" lIns="68580" tIns="0" rIns="68580" bIns="0" rtlCol="0" anchor="ctr"/>
          <a:lstStyle/>
          <a:p>
            <a:pPr algn="ctr">
              <a:buNone/>
            </a:pPr>
            <a:r>
              <a:rPr lang="en-US" sz="800">
                <a:solidFill>
                  <a:srgbClr val="94A3B8"/>
                </a:solidFill>
                <a:latin typeface="Calibri" pitchFamily="34" charset="0"/>
              </a:rPr>
              <a:t>[0]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r>
              <a:rPr lang="en-US" sz="850">
                <a:solidFill>
                  <a:srgbClr val="94A3B8"/>
                </a:solidFill>
                <a:latin typeface="Consolas" pitchFamily="49" charset="0"/>
              </a:rPr>
              <a:t>  |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Engineer</a:t>
            </a:r>
          </a:p>
        </p:txBody>
      </p:sp>
      <p:sp>
        <p:nvSpPr>
          <p:cNvPr id="43" name="D1"/>
          <p:cNvSpPr/>
          <p:nvPr/>
        </p:nvSpPr>
        <p:spPr>
          <a:xfrm>
            <a:off x="2514600" y="3749040"/>
            <a:ext cx="2560320" cy="365760"/>
          </a:xfrm>
          <a:prstGeom prst="roundRect">
            <a:avLst>
              <a:gd name="adj" fmla="val 12000"/>
            </a:avLst>
          </a:prstGeom>
          <a:solidFill>
            <a:srgbClr val="162D50"/>
          </a:solidFill>
          <a:ln w="15875">
            <a:solidFill>
              <a:srgbClr val="34D399"/>
            </a:solidFill>
          </a:ln>
        </p:spPr>
        <p:txBody>
          <a:bodyPr wrap="square" lIns="68580" tIns="0" rIns="68580" bIns="0" rtlCol="0" anchor="ctr"/>
          <a:lstStyle/>
          <a:p>
            <a:pPr algn="ctr">
              <a:buNone/>
            </a:pPr>
            <a:r>
              <a:rPr lang="en-US" sz="800">
                <a:solidFill>
                  <a:srgbClr val="94A3B8"/>
                </a:solidFill>
                <a:latin typeface="Calibri" pitchFamily="34" charset="0"/>
              </a:rPr>
              <a:t>[1]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Bob</a:t>
            </a:r>
            <a:r>
              <a:rPr lang="en-US" sz="850">
                <a:solidFill>
                  <a:srgbClr val="94A3B8"/>
                </a:solidFill>
                <a:latin typeface="Consolas" pitchFamily="49" charset="0"/>
              </a:rPr>
              <a:t>  |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Designer</a:t>
            </a:r>
          </a:p>
        </p:txBody>
      </p:sp>
      <p:sp>
        <p:nvSpPr>
          <p:cNvPr id="44" name="TypeLbl1"/>
          <p:cNvSpPr/>
          <p:nvPr/>
        </p:nvSpPr>
        <p:spPr>
          <a:xfrm>
            <a:off x="5257800" y="3291840"/>
            <a:ext cx="2880360" cy="365760"/>
          </a:xfrm>
          <a:prstGeom prst="rect">
            <a:avLst/>
          </a:prstGeom>
          <a:noFill/>
          <a:ln/>
        </p:spPr>
        <p:txBody>
          <a:bodyPr wrap="square" lIns="68580" tIns="0" rIns="0" bIns="0" rtlCol="0" anchor="ctr"/>
          <a:lstStyle/>
          <a:p>
            <a:pPr algn="l">
              <a:buNone/>
            </a:pPr>
            <a:r>
              <a:rPr lang="en-US" sz="800">
                <a:solidFill>
                  <a:srgbClr val="94A3B8"/>
                </a:solidFill>
                <a:latin typeface="Calibri" pitchFamily="34" charset="0"/>
              </a:rPr>
              <a:t>← </a:t>
            </a:r>
            <a:r>
              <a:rPr lang="en-US" sz="800">
                <a:solidFill>
                  <a:srgbClr val="34D399"/>
                </a:solidFill>
                <a:latin typeface="Calibri" pitchFamily="34" charset="0"/>
              </a:rPr>
              <a:t>dict</a:t>
            </a:r>
            <a:r>
              <a:rPr lang="en-US" sz="800">
                <a:solidFill>
                  <a:srgbClr val="94A3B8"/>
                </a:solidFill>
                <a:latin typeface="Calibri" pitchFamily="34" charset="0"/>
              </a:rPr>
              <a:t> (each list item is a full dictionary)</a:t>
            </a:r>
          </a:p>
        </p:txBody>
      </p:sp>
      <p:sp>
        <p:nvSpPr>
          <p:cNvPr id="45" name="TypeLbl2"/>
          <p:cNvSpPr/>
          <p:nvPr/>
        </p:nvSpPr>
        <p:spPr>
          <a:xfrm>
            <a:off x="5257800" y="3749040"/>
            <a:ext cx="2880360" cy="365760"/>
          </a:xfrm>
          <a:prstGeom prst="rect">
            <a:avLst/>
          </a:prstGeom>
          <a:noFill/>
          <a:ln/>
        </p:spPr>
        <p:txBody>
          <a:bodyPr wrap="square" lIns="68580" tIns="0" rIns="0" bIns="0" rtlCol="0" anchor="ctr"/>
          <a:lstStyle/>
          <a:p>
            <a:pPr algn="l">
              <a:buNone/>
            </a:pPr>
            <a:r>
              <a:rPr lang="en-US" sz="800">
                <a:solidFill>
                  <a:srgbClr val="94A3B8"/>
                </a:solidFill>
                <a:latin typeface="Calibri" pitchFamily="34" charset="0"/>
              </a:rPr>
              <a:t>← </a:t>
            </a:r>
            <a:r>
              <a:rPr lang="en-US" sz="800">
                <a:solidFill>
                  <a:srgbClr val="34D399"/>
                </a:solidFill>
                <a:latin typeface="Calibri" pitchFamily="34" charset="0"/>
              </a:rPr>
              <a:t>dict</a:t>
            </a:r>
            <a:r>
              <a:rPr lang="en-US" sz="800">
                <a:solidFill>
                  <a:srgbClr val="94A3B8"/>
                </a:solidFill>
                <a:latin typeface="Calibri" pitchFamily="34" charset="0"/>
              </a:rPr>
              <a:t> (same structure, different data)</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Pattern:  </a:t>
            </a:r>
            <a:r>
              <a:rPr lang="en-US" sz="900">
                <a:solidFill>
                  <a:srgbClr val="CBD5E1"/>
                </a:solidFill>
                <a:latin typeface="Calibri" pitchFamily="34" charset="0"/>
              </a:rPr>
              <a:t>A </a:t>
            </a:r>
            <a:r>
              <a:rPr lang="en-US" sz="900" b="1">
                <a:solidFill>
                  <a:srgbClr val="F96167"/>
                </a:solidFill>
                <a:latin typeface="Consolas" pitchFamily="49" charset="0"/>
              </a:rPr>
              <a:t>-</a:t>
            </a:r>
            <a:r>
              <a:rPr lang="en-US" sz="900">
                <a:solidFill>
                  <a:srgbClr val="CBD5E1"/>
                </a:solidFill>
                <a:latin typeface="Calibri" pitchFamily="34" charset="0"/>
              </a:rPr>
              <a:t> followed by </a:t>
            </a:r>
            <a:r>
              <a:rPr lang="en-US" sz="900" b="1">
                <a:solidFill>
                  <a:srgbClr val="21D4FD"/>
                </a:solidFill>
                <a:latin typeface="Consolas" pitchFamily="49" charset="0"/>
              </a:rPr>
              <a:t>key: value</a:t>
            </a:r>
            <a:r>
              <a:rPr lang="en-US" sz="900">
                <a:solidFill>
                  <a:srgbClr val="CBD5E1"/>
                </a:solidFill>
                <a:latin typeface="Calibri" pitchFamily="34" charset="0"/>
              </a:rPr>
              <a:t> means "a list where each item is a dictionary" — the most common YAML combo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502920"/>
          </a:xfrm>
          <a:prstGeom prst="rect">
            <a:avLst/>
          </a:prstGeom>
          <a:noFill/>
          <a:ln/>
        </p:spPr>
        <p:txBody>
          <a:bodyPr wrap="square" lIns="0" tIns="0" rIns="0" bIns="0" rtlCol="0" anchor="ctr"/>
          <a:lstStyle/>
          <a:p>
            <a:pPr algn="l">
              <a:buNone/>
            </a:pPr>
            <a:r>
              <a:rPr lang="en-US" sz="2600" b="1">
                <a:solidFill>
                  <a:srgbClr val="FFFFFF"/>
                </a:solidFill>
                <a:latin typeface="Trebuchet MS" pitchFamily="34" charset="0"/>
              </a:rPr>
              <a:t>XML vs JSON vs YAML</a:t>
            </a:r>
          </a:p>
        </p:txBody>
      </p:sp>
      <p:sp>
        <p:nvSpPr>
          <p:cNvPr id="3" name="Sub"/>
          <p:cNvSpPr/>
          <p:nvPr/>
        </p:nvSpPr>
        <p:spPr>
          <a:xfrm>
            <a:off x="548640" y="640080"/>
            <a:ext cx="8046720" cy="228600"/>
          </a:xfrm>
          <a:prstGeom prst="rect">
            <a:avLst/>
          </a:prstGeom>
          <a:noFill/>
          <a:ln/>
        </p:spPr>
        <p:txBody>
          <a:bodyPr wrap="square" lIns="0" tIns="0" rIns="0" bIns="0" rtlCol="0" anchor="ctr"/>
          <a:lstStyle/>
          <a:p>
            <a:pPr algn="l">
              <a:buNone/>
            </a:pPr>
            <a:r>
              <a:rPr lang="en-US" sz="1100">
                <a:solidFill>
                  <a:srgbClr val="21D4FD"/>
                </a:solidFill>
                <a:latin typeface="Calibri" pitchFamily="34" charset="0"/>
              </a:rPr>
              <a:t>Same data, three formats — representing a Kubernetes-style container definition</a:t>
            </a:r>
          </a:p>
        </p:txBody>
      </p:sp>
      <p:sp>
        <p:nvSpPr>
          <p:cNvPr id="10" name="XmlLabel"/>
          <p:cNvSpPr/>
          <p:nvPr/>
        </p:nvSpPr>
        <p:spPr>
          <a:xfrm>
            <a:off x="548640" y="914400"/>
            <a:ext cx="2743200" cy="228600"/>
          </a:xfrm>
          <a:prstGeom prst="rect">
            <a:avLst/>
          </a:prstGeom>
          <a:noFill/>
          <a:ln/>
        </p:spPr>
        <p:txBody>
          <a:bodyPr wrap="square" lIns="0" tIns="0" rIns="0" bIns="0" rtlCol="0" anchor="b"/>
          <a:lstStyle/>
          <a:p>
            <a:pPr algn="ctr">
              <a:buNone/>
            </a:pPr>
            <a:r>
              <a:rPr lang="en-US" sz="1200" b="1">
                <a:solidFill>
                  <a:srgbClr val="F96167"/>
                </a:solidFill>
                <a:latin typeface="Trebuchet MS" pitchFamily="34" charset="0"/>
              </a:rPr>
              <a:t>XML</a:t>
            </a:r>
          </a:p>
        </p:txBody>
      </p:sp>
      <p:sp>
        <p:nvSpPr>
          <p:cNvPr id="11" name="XmlBg"/>
          <p:cNvSpPr/>
          <p:nvPr/>
        </p:nvSpPr>
        <p:spPr>
          <a:xfrm>
            <a:off x="548640" y="1188720"/>
            <a:ext cx="2743200" cy="2194560"/>
          </a:xfrm>
          <a:prstGeom prst="rect">
            <a:avLst/>
          </a:prstGeom>
          <a:solidFill>
            <a:srgbClr val="0A1628"/>
          </a:solidFill>
          <a:ln>
            <a:solidFill>
              <a:srgbClr val="F96167"/>
            </a:solidFill>
          </a:ln>
        </p:spPr>
        <p:txBody>
          <a:bodyPr/>
          <a:lstStyle/>
          <a:p>
            <a:endParaRPr lang="en-US"/>
          </a:p>
        </p:txBody>
      </p:sp>
      <p:sp>
        <p:nvSpPr>
          <p:cNvPr id="12" name="XmlCode"/>
          <p:cNvSpPr/>
          <p:nvPr/>
        </p:nvSpPr>
        <p:spPr>
          <a:xfrm>
            <a:off x="640080" y="1234440"/>
            <a:ext cx="2560320" cy="2103120"/>
          </a:xfrm>
          <a:prstGeom prst="rect">
            <a:avLst/>
          </a:prstGeom>
          <a:noFill/>
          <a:ln/>
        </p:spPr>
        <p:txBody>
          <a:bodyPr wrap="square" lIns="0" tIns="0" rIns="0" bIns="0" rtlCol="0" anchor="t"/>
          <a:lstStyle/>
          <a:p>
            <a:pPr algn="l">
              <a:buNone/>
            </a:pPr>
            <a:r>
              <a:rPr lang="en-US" sz="700">
                <a:solidFill>
                  <a:srgbClr val="94A3B8"/>
                </a:solidFill>
                <a:latin typeface="Consolas" pitchFamily="34" charset="0"/>
              </a:rPr>
              <a:t>&lt;container&gt;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&lt;name&gt;</a:t>
            </a:r>
            <a:r>
              <a:rPr lang="en-US" sz="700">
                <a:solidFill>
                  <a:srgbClr val="FFFFFF"/>
                </a:solidFill>
                <a:latin typeface="Consolas" pitchFamily="34" charset="0"/>
              </a:rPr>
              <a:t>nginx</a:t>
            </a:r>
            <a:r>
              <a:rPr lang="en-US" sz="700">
                <a:solidFill>
                  <a:srgbClr val="94A3B8"/>
                </a:solidFill>
                <a:latin typeface="Consolas" pitchFamily="34" charset="0"/>
              </a:rPr>
              <a:t>&lt;/name&gt;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&lt;image&gt;</a:t>
            </a:r>
            <a:r>
              <a:rPr lang="en-US" sz="700">
                <a:solidFill>
                  <a:srgbClr val="FFFFFF"/>
                </a:solidFill>
                <a:latin typeface="Consolas" pitchFamily="34" charset="0"/>
              </a:rPr>
              <a:t>nginx:1.25</a:t>
            </a:r>
            <a:r>
              <a:rPr lang="en-US" sz="700">
                <a:solidFill>
                  <a:srgbClr val="94A3B8"/>
                </a:solidFill>
                <a:latin typeface="Consolas" pitchFamily="34" charset="0"/>
              </a:rPr>
              <a:t>&lt;/image&gt;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&lt;ports&gt;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&lt;containerPort&gt;</a:t>
            </a:r>
          </a:p>
          <a:p>
            <a:pPr algn="l">
              <a:buNone/>
            </a:pPr>
            <a:r>
              <a:rPr lang="en-US" sz="700">
                <a:solidFill>
                  <a:srgbClr val="FFFFFF"/>
                </a:solidFill>
                <a:latin typeface="Consolas" pitchFamily="34" charset="0"/>
              </a:rPr>
              <a:t>        80</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&lt;/containerPort&gt;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&lt;/ports&gt;</a:t>
            </a:r>
          </a:p>
          <a:p>
            <a:pPr algn="l">
              <a:buNone/>
            </a:pPr>
            <a:r>
              <a:rPr lang="en-US" sz="700">
                <a:solidFill>
                  <a:srgbClr val="94A3B8"/>
                </a:solidFill>
                <a:latin typeface="Consolas" pitchFamily="34" charset="0"/>
              </a:rPr>
              <a:t>&lt;/container&gt;</a:t>
            </a:r>
          </a:p>
          <a:p>
            <a:pPr algn="l">
              <a:buNone/>
            </a:pPr>
            <a:endParaRPr lang="en-US" sz="700"/>
          </a:p>
          <a:p>
            <a:pPr algn="l">
              <a:buNone/>
            </a:pPr>
            <a:r>
              <a:rPr lang="en-US" sz="700" b="1">
                <a:solidFill>
                  <a:srgbClr val="F96167"/>
                </a:solidFill>
                <a:latin typeface="Consolas" pitchFamily="34" charset="0"/>
              </a:rPr>
              <a:t>11 lines</a:t>
            </a:r>
          </a:p>
        </p:txBody>
      </p:sp>
      <p:sp>
        <p:nvSpPr>
          <p:cNvPr id="20" name="JsonLabel"/>
          <p:cNvSpPr/>
          <p:nvPr/>
        </p:nvSpPr>
        <p:spPr>
          <a:xfrm>
            <a:off x="3429000" y="914400"/>
            <a:ext cx="2743200" cy="228600"/>
          </a:xfrm>
          <a:prstGeom prst="rect">
            <a:avLst/>
          </a:prstGeom>
          <a:noFill/>
          <a:ln/>
        </p:spPr>
        <p:txBody>
          <a:bodyPr wrap="square" lIns="0" tIns="0" rIns="0" bIns="0" rtlCol="0" anchor="b"/>
          <a:lstStyle/>
          <a:p>
            <a:pPr algn="ctr">
              <a:buNone/>
            </a:pPr>
            <a:r>
              <a:rPr lang="en-US" sz="1200" b="1">
                <a:solidFill>
                  <a:srgbClr val="F9E795"/>
                </a:solidFill>
                <a:latin typeface="Trebuchet MS" pitchFamily="34" charset="0"/>
              </a:rPr>
              <a:t>JSON</a:t>
            </a:r>
          </a:p>
        </p:txBody>
      </p:sp>
      <p:sp>
        <p:nvSpPr>
          <p:cNvPr id="21" name="JsonBg"/>
          <p:cNvSpPr/>
          <p:nvPr/>
        </p:nvSpPr>
        <p:spPr>
          <a:xfrm>
            <a:off x="3429000" y="1188720"/>
            <a:ext cx="2743200" cy="2194560"/>
          </a:xfrm>
          <a:prstGeom prst="rect">
            <a:avLst/>
          </a:prstGeom>
          <a:solidFill>
            <a:srgbClr val="0A1628"/>
          </a:solidFill>
          <a:ln>
            <a:solidFill>
              <a:srgbClr val="F9E795"/>
            </a:solidFill>
          </a:ln>
        </p:spPr>
        <p:txBody>
          <a:bodyPr/>
          <a:lstStyle/>
          <a:p>
            <a:endParaRPr lang="en-US"/>
          </a:p>
        </p:txBody>
      </p:sp>
      <p:sp>
        <p:nvSpPr>
          <p:cNvPr id="22" name="JsonCode"/>
          <p:cNvSpPr/>
          <p:nvPr/>
        </p:nvSpPr>
        <p:spPr>
          <a:xfrm>
            <a:off x="3520440" y="1234440"/>
            <a:ext cx="2560320" cy="2103120"/>
          </a:xfrm>
          <a:prstGeom prst="rect">
            <a:avLst/>
          </a:prstGeom>
          <a:noFill/>
          <a:ln/>
        </p:spPr>
        <p:txBody>
          <a:bodyPr wrap="square" lIns="0" tIns="0" rIns="0" bIns="0" rtlCol="0" anchor="t"/>
          <a:lstStyle/>
          <a:p>
            <a:pPr algn="l">
              <a:buNone/>
            </a:pPr>
            <a:r>
              <a:rPr lang="en-US" sz="700">
                <a:solidFill>
                  <a:srgbClr val="F9E795"/>
                </a:solidFill>
                <a:latin typeface="Consolas" pitchFamily="34" charset="0"/>
              </a:rPr>
              <a:t>{</a:t>
            </a:r>
          </a:p>
          <a:p>
            <a:pPr algn="l">
              <a:buNone/>
            </a:pPr>
            <a:r>
              <a:rPr lang="en-US" sz="700">
                <a:solidFill>
                  <a:srgbClr val="FFFFFF"/>
                </a:solidFill>
                <a:latin typeface="Consolas" pitchFamily="34" charset="0"/>
              </a:rPr>
              <a:t>  </a:t>
            </a:r>
            <a:r>
              <a:rPr lang="en-US" sz="700">
                <a:solidFill>
                  <a:srgbClr val="34D399"/>
                </a:solidFill>
                <a:latin typeface="Consolas" pitchFamily="34" charset="0"/>
              </a:rPr>
              <a:t>"name"</a:t>
            </a:r>
            <a:r>
              <a:rPr lang="en-US" sz="700">
                <a:solidFill>
                  <a:srgbClr val="FFFFFF"/>
                </a:solidFill>
                <a:latin typeface="Consolas" pitchFamily="34" charset="0"/>
              </a:rPr>
              <a:t>: "nginx",</a:t>
            </a:r>
          </a:p>
          <a:p>
            <a:pPr algn="l">
              <a:buNone/>
            </a:pPr>
            <a:r>
              <a:rPr lang="en-US" sz="700">
                <a:solidFill>
                  <a:srgbClr val="FFFFFF"/>
                </a:solidFill>
                <a:latin typeface="Consolas" pitchFamily="34" charset="0"/>
              </a:rPr>
              <a:t>  </a:t>
            </a:r>
            <a:r>
              <a:rPr lang="en-US" sz="700">
                <a:solidFill>
                  <a:srgbClr val="34D399"/>
                </a:solidFill>
                <a:latin typeface="Consolas" pitchFamily="34" charset="0"/>
              </a:rPr>
              <a:t>"image"</a:t>
            </a:r>
            <a:r>
              <a:rPr lang="en-US" sz="700">
                <a:solidFill>
                  <a:srgbClr val="FFFFFF"/>
                </a:solidFill>
                <a:latin typeface="Consolas" pitchFamily="34" charset="0"/>
              </a:rPr>
              <a:t>: "nginx:1.25",</a:t>
            </a:r>
          </a:p>
          <a:p>
            <a:pPr algn="l">
              <a:buNone/>
            </a:pPr>
            <a:r>
              <a:rPr lang="en-US" sz="700">
                <a:solidFill>
                  <a:srgbClr val="FFFFFF"/>
                </a:solidFill>
                <a:latin typeface="Consolas" pitchFamily="34" charset="0"/>
              </a:rPr>
              <a:t>  </a:t>
            </a:r>
            <a:r>
              <a:rPr lang="en-US" sz="700">
                <a:solidFill>
                  <a:srgbClr val="34D399"/>
                </a:solidFill>
                <a:latin typeface="Consolas" pitchFamily="34" charset="0"/>
              </a:rPr>
              <a:t>"ports"</a:t>
            </a: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r>
              <a:rPr lang="en-US" sz="700">
                <a:solidFill>
                  <a:srgbClr val="34D399"/>
                </a:solidFill>
                <a:latin typeface="Consolas" pitchFamily="34" charset="0"/>
              </a:rPr>
              <a:t>"containerPort"</a:t>
            </a:r>
            <a:r>
              <a:rPr lang="en-US" sz="700">
                <a:solidFill>
                  <a:srgbClr val="FFFFFF"/>
                </a:solidFill>
                <a:latin typeface="Consolas" pitchFamily="34" charset="0"/>
              </a:rPr>
              <a:t>: 80</a:t>
            </a:r>
          </a:p>
          <a:p>
            <a:pPr algn="l">
              <a:buNone/>
            </a:pP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p>
          <a:p>
            <a:pPr algn="l">
              <a:buNone/>
            </a:pPr>
            <a:r>
              <a:rPr lang="en-US" sz="700">
                <a:solidFill>
                  <a:srgbClr val="F9E795"/>
                </a:solidFill>
                <a:latin typeface="Consolas" pitchFamily="34" charset="0"/>
              </a:rPr>
              <a:t>}</a:t>
            </a:r>
          </a:p>
          <a:p>
            <a:pPr algn="l">
              <a:buNone/>
            </a:pPr>
            <a:endParaRPr lang="en-US" sz="700"/>
          </a:p>
          <a:p>
            <a:pPr algn="l">
              <a:buNone/>
            </a:pPr>
            <a:endParaRPr lang="en-US" sz="700"/>
          </a:p>
          <a:p>
            <a:pPr algn="l">
              <a:buNone/>
            </a:pPr>
            <a:endParaRPr lang="en-US" sz="700"/>
          </a:p>
          <a:p>
            <a:pPr algn="l">
              <a:buNone/>
            </a:pPr>
            <a:r>
              <a:rPr lang="en-US" sz="700" b="1">
                <a:solidFill>
                  <a:srgbClr val="F9E795"/>
                </a:solidFill>
                <a:latin typeface="Consolas" pitchFamily="34" charset="0"/>
              </a:rPr>
              <a:t>9 lines</a:t>
            </a:r>
          </a:p>
        </p:txBody>
      </p:sp>
      <p:sp>
        <p:nvSpPr>
          <p:cNvPr id="30" name="YamlLabel"/>
          <p:cNvSpPr/>
          <p:nvPr/>
        </p:nvSpPr>
        <p:spPr>
          <a:xfrm>
            <a:off x="6309360" y="914400"/>
            <a:ext cx="2286000" cy="228600"/>
          </a:xfrm>
          <a:prstGeom prst="rect">
            <a:avLst/>
          </a:prstGeom>
          <a:noFill/>
          <a:ln/>
        </p:spPr>
        <p:txBody>
          <a:bodyPr wrap="square" lIns="0" tIns="0" rIns="0" bIns="0" rtlCol="0" anchor="b"/>
          <a:lstStyle/>
          <a:p>
            <a:pPr algn="ctr">
              <a:buNone/>
            </a:pPr>
            <a:r>
              <a:rPr lang="en-US" sz="1200" b="1">
                <a:solidFill>
                  <a:srgbClr val="34D399"/>
                </a:solidFill>
                <a:latin typeface="Trebuchet MS" pitchFamily="34" charset="0"/>
              </a:rPr>
              <a:t>YAML ✓</a:t>
            </a:r>
          </a:p>
        </p:txBody>
      </p:sp>
      <p:sp>
        <p:nvSpPr>
          <p:cNvPr id="31" name="YamlBg"/>
          <p:cNvSpPr/>
          <p:nvPr/>
        </p:nvSpPr>
        <p:spPr>
          <a:xfrm>
            <a:off x="6309360" y="1188720"/>
            <a:ext cx="2286000" cy="2194560"/>
          </a:xfrm>
          <a:prstGeom prst="rect">
            <a:avLst/>
          </a:prstGeom>
          <a:solidFill>
            <a:srgbClr val="0A1628"/>
          </a:solidFill>
          <a:ln w="25400">
            <a:solidFill>
              <a:srgbClr val="34D399"/>
            </a:solidFill>
          </a:ln>
        </p:spPr>
        <p:txBody>
          <a:bodyPr/>
          <a:lstStyle/>
          <a:p>
            <a:endParaRPr lang="en-US"/>
          </a:p>
        </p:txBody>
      </p:sp>
      <p:sp>
        <p:nvSpPr>
          <p:cNvPr id="32" name="YamlCode"/>
          <p:cNvSpPr/>
          <p:nvPr/>
        </p:nvSpPr>
        <p:spPr>
          <a:xfrm>
            <a:off x="6400800" y="1234440"/>
            <a:ext cx="2103120" cy="2103120"/>
          </a:xfrm>
          <a:prstGeom prst="rect">
            <a:avLst/>
          </a:prstGeom>
          <a:noFill/>
          <a:ln/>
        </p:spPr>
        <p:txBody>
          <a:bodyPr wrap="square" lIns="0" tIns="0" rIns="0" bIns="0" rtlCol="0" anchor="t"/>
          <a:lstStyle/>
          <a:p>
            <a:pPr algn="l">
              <a:buNone/>
            </a:pPr>
            <a:r>
              <a:rPr lang="en-US" sz="700">
                <a:solidFill>
                  <a:srgbClr val="34D399"/>
                </a:solidFill>
                <a:latin typeface="Consolas" pitchFamily="34" charset="0"/>
              </a:rPr>
              <a:t>name</a:t>
            </a:r>
            <a:r>
              <a:rPr lang="en-US" sz="700">
                <a:solidFill>
                  <a:srgbClr val="FFFFFF"/>
                </a:solidFill>
                <a:latin typeface="Consolas" pitchFamily="34" charset="0"/>
              </a:rPr>
              <a:t>: nginx</a:t>
            </a:r>
          </a:p>
          <a:p>
            <a:pPr algn="l">
              <a:buNone/>
            </a:pPr>
            <a:r>
              <a:rPr lang="en-US" sz="700">
                <a:solidFill>
                  <a:srgbClr val="34D399"/>
                </a:solidFill>
                <a:latin typeface="Consolas" pitchFamily="34" charset="0"/>
              </a:rPr>
              <a:t>image</a:t>
            </a:r>
            <a:r>
              <a:rPr lang="en-US" sz="700">
                <a:solidFill>
                  <a:srgbClr val="FFFFFF"/>
                </a:solidFill>
                <a:latin typeface="Consolas" pitchFamily="34" charset="0"/>
              </a:rPr>
              <a:t>: nginx:1.25</a:t>
            </a:r>
          </a:p>
          <a:p>
            <a:pPr algn="l">
              <a:buNone/>
            </a:pPr>
            <a:r>
              <a:rPr lang="en-US" sz="700">
                <a:solidFill>
                  <a:srgbClr val="34D399"/>
                </a:solidFill>
                <a:latin typeface="Consolas" pitchFamily="34" charset="0"/>
              </a:rPr>
              <a:t>ports</a:t>
            </a:r>
            <a:r>
              <a:rPr lang="en-US" sz="700">
                <a:solidFill>
                  <a:srgbClr val="FFFFFF"/>
                </a:solidFill>
                <a:latin typeface="Consolas" pitchFamily="34" charset="0"/>
              </a:rPr>
              <a:t>:</a:t>
            </a:r>
          </a:p>
          <a:p>
            <a:pPr algn="l">
              <a:buNone/>
            </a:pPr>
            <a:r>
              <a:rPr lang="en-US" sz="700">
                <a:solidFill>
                  <a:srgbClr val="FFFFFF"/>
                </a:solidFill>
                <a:latin typeface="Consolas" pitchFamily="34" charset="0"/>
              </a:rPr>
              <a:t>  - </a:t>
            </a:r>
            <a:r>
              <a:rPr lang="en-US" sz="700">
                <a:solidFill>
                  <a:srgbClr val="34D399"/>
                </a:solidFill>
                <a:latin typeface="Consolas" pitchFamily="34" charset="0"/>
              </a:rPr>
              <a:t>containerPort</a:t>
            </a:r>
            <a:r>
              <a:rPr lang="en-US" sz="700">
                <a:solidFill>
                  <a:srgbClr val="FFFFFF"/>
                </a:solidFill>
                <a:latin typeface="Consolas" pitchFamily="34" charset="0"/>
              </a:rPr>
              <a:t>: 80</a:t>
            </a:r>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r>
              <a:rPr lang="en-US" sz="700" b="1">
                <a:solidFill>
                  <a:srgbClr val="34D399"/>
                </a:solidFill>
                <a:latin typeface="Consolas" pitchFamily="34" charset="0"/>
              </a:rPr>
              <a:t>4 lines</a:t>
            </a:r>
          </a:p>
        </p:txBody>
      </p:sp>
      <p:sp>
        <p:nvSpPr>
          <p:cNvPr id="40" name="TableLabel"/>
          <p:cNvSpPr/>
          <p:nvPr/>
        </p:nvSpPr>
        <p:spPr>
          <a:xfrm>
            <a:off x="548640" y="3474720"/>
            <a:ext cx="804672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Feature Comparison</a:t>
            </a:r>
          </a:p>
        </p:txBody>
      </p:sp>
      <p:sp>
        <p:nvSpPr>
          <p:cNvPr id="41" name="TH"/>
          <p:cNvSpPr/>
          <p:nvPr/>
        </p:nvSpPr>
        <p:spPr>
          <a:xfrm>
            <a:off x="548640" y="3749040"/>
            <a:ext cx="8046720" cy="228600"/>
          </a:xfrm>
          <a:prstGeom prst="rect">
            <a:avLst/>
          </a:prstGeom>
          <a:solidFill>
            <a:srgbClr val="162D50"/>
          </a:solidFill>
          <a:ln/>
        </p:spPr>
        <p:txBody>
          <a:bodyPr wrap="square" lIns="137160" tIns="34290" rIns="137160" bIns="34290" rtlCol="0" anchor="ctr"/>
          <a:lstStyle/>
          <a:p>
            <a:pPr algn="l">
              <a:buNone/>
            </a:pPr>
            <a:r>
              <a:rPr lang="en-US" sz="800" b="1">
                <a:solidFill>
                  <a:srgbClr val="21D4FD"/>
                </a:solidFill>
                <a:latin typeface="Calibri" pitchFamily="34" charset="0"/>
              </a:rPr>
              <a:t>Feature                                              XML                                        JSON                                       YAML</a:t>
            </a:r>
          </a:p>
        </p:txBody>
      </p:sp>
      <p:sp>
        <p:nvSpPr>
          <p:cNvPr id="42" name="R1"/>
          <p:cNvSpPr/>
          <p:nvPr/>
        </p:nvSpPr>
        <p:spPr>
          <a:xfrm>
            <a:off x="548640" y="3977640"/>
            <a:ext cx="8046720" cy="228600"/>
          </a:xfrm>
          <a:prstGeom prst="rect">
            <a:avLst/>
          </a:prstGeom>
          <a:solidFill>
            <a:srgbClr val="0A1628"/>
          </a:solidFill>
          <a:ln/>
        </p:spPr>
        <p:txBody>
          <a:bodyPr wrap="square" lIns="137160" tIns="34290" rIns="137160" bIns="34290" rtlCol="0" anchor="ctr"/>
          <a:lstStyle/>
          <a:p>
            <a:pPr algn="l">
              <a:buNone/>
            </a:pPr>
            <a:r>
              <a:rPr lang="en-US" sz="800">
                <a:solidFill>
                  <a:srgbClr val="CBD5E1"/>
                </a:solidFill>
                <a:latin typeface="Calibri" pitchFamily="34" charset="0"/>
              </a:rPr>
              <a:t>Readability                                         Low (verbose tags)                     Medium (brackets)                     High (minimal syntax)</a:t>
            </a:r>
          </a:p>
        </p:txBody>
      </p:sp>
      <p:sp>
        <p:nvSpPr>
          <p:cNvPr id="43" name="R2"/>
          <p:cNvSpPr/>
          <p:nvPr/>
        </p:nvSpPr>
        <p:spPr>
          <a:xfrm>
            <a:off x="548640" y="4206240"/>
            <a:ext cx="8046720" cy="228600"/>
          </a:xfrm>
          <a:prstGeom prst="rect">
            <a:avLst/>
          </a:prstGeom>
          <a:solidFill>
            <a:srgbClr val="0F1B2D"/>
          </a:solidFill>
          <a:ln/>
        </p:spPr>
        <p:txBody>
          <a:bodyPr wrap="square" lIns="137160" tIns="34290" rIns="137160" bIns="34290" rtlCol="0" anchor="ctr"/>
          <a:lstStyle/>
          <a:p>
            <a:pPr algn="l">
              <a:buNone/>
            </a:pPr>
            <a:r>
              <a:rPr lang="en-US" sz="800">
                <a:solidFill>
                  <a:srgbClr val="CBD5E1"/>
                </a:solidFill>
                <a:latin typeface="Calibri" pitchFamily="34" charset="0"/>
              </a:rPr>
              <a:t>Comments                                          ✓ Supported                               ✗ Not supported                       ✓ Supported (#)</a:t>
            </a:r>
          </a:p>
        </p:txBody>
      </p:sp>
      <p:sp>
        <p:nvSpPr>
          <p:cNvPr id="44" name="R3"/>
          <p:cNvSpPr/>
          <p:nvPr/>
        </p:nvSpPr>
        <p:spPr>
          <a:xfrm>
            <a:off x="548640" y="4434840"/>
            <a:ext cx="8046720" cy="228600"/>
          </a:xfrm>
          <a:prstGeom prst="rect">
            <a:avLst/>
          </a:prstGeom>
          <a:solidFill>
            <a:srgbClr val="0A1628"/>
          </a:solidFill>
          <a:ln/>
        </p:spPr>
        <p:txBody>
          <a:bodyPr wrap="square" lIns="137160" tIns="34290" rIns="137160" bIns="34290" rtlCol="0" anchor="ctr"/>
          <a:lstStyle/>
          <a:p>
            <a:pPr algn="l">
              <a:buNone/>
            </a:pPr>
            <a:r>
              <a:rPr lang="en-US" sz="800">
                <a:solidFill>
                  <a:srgbClr val="CBD5E1"/>
                </a:solidFill>
                <a:latin typeface="Calibri" pitchFamily="34" charset="0"/>
              </a:rPr>
              <a:t>Data types                                           String only                                 String, number, bool              String, number, bool</a:t>
            </a:r>
          </a:p>
        </p:txBody>
      </p:sp>
      <p:sp>
        <p:nvSpPr>
          <p:cNvPr id="45" name="R4"/>
          <p:cNvSpPr/>
          <p:nvPr/>
        </p:nvSpPr>
        <p:spPr>
          <a:xfrm>
            <a:off x="548640" y="4663440"/>
            <a:ext cx="8046720" cy="228600"/>
          </a:xfrm>
          <a:prstGeom prst="rect">
            <a:avLst/>
          </a:prstGeom>
          <a:solidFill>
            <a:srgbClr val="0F1B2D"/>
          </a:solidFill>
          <a:ln/>
        </p:spPr>
        <p:txBody>
          <a:bodyPr wrap="square" lIns="137160" tIns="34290" rIns="137160" bIns="34290" rtlCol="0" anchor="ctr"/>
          <a:lstStyle/>
          <a:p>
            <a:pPr algn="l">
              <a:buNone/>
            </a:pPr>
            <a:r>
              <a:rPr lang="en-US" sz="800">
                <a:solidFill>
                  <a:srgbClr val="CBD5E1"/>
                </a:solidFill>
                <a:latin typeface="Calibri" pitchFamily="34" charset="0"/>
              </a:rPr>
              <a:t>K8s usage                                            Not used                                   kubectl output only               All manifests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Key-Value Pairs</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building block of every YAML file — and why indentation is everything</a:t>
            </a:r>
          </a:p>
        </p:txBody>
      </p:sp>
      <p:sp>
        <p:nvSpPr>
          <p:cNvPr id="10" name="LLabel"/>
          <p:cNvSpPr/>
          <p:nvPr/>
        </p:nvSpPr>
        <p:spPr>
          <a:xfrm>
            <a:off x="548640" y="105156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Simple Key-Value Pairs</a:t>
            </a:r>
          </a:p>
        </p:txBody>
      </p:sp>
      <p:sp>
        <p:nvSpPr>
          <p:cNvPr id="11" name="LCode"/>
          <p:cNvSpPr/>
          <p:nvPr/>
        </p:nvSpPr>
        <p:spPr>
          <a:xfrm>
            <a:off x="548640" y="1371600"/>
            <a:ext cx="3886200" cy="118872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my-app</a:t>
            </a:r>
          </a:p>
          <a:p>
            <a:pPr algn="l">
              <a:buNone/>
            </a:pPr>
            <a:r>
              <a:rPr lang="en-US" sz="900">
                <a:solidFill>
                  <a:srgbClr val="21D4FD"/>
                </a:solidFill>
                <a:latin typeface="Consolas" pitchFamily="49" charset="0"/>
              </a:rPr>
              <a:t>image</a:t>
            </a:r>
            <a:r>
              <a:rPr lang="en-US" sz="900">
                <a:solidFill>
                  <a:srgbClr val="CBD5E1"/>
                </a:solidFill>
                <a:latin typeface="Consolas" pitchFamily="49" charset="0"/>
              </a:rPr>
              <a:t>: </a:t>
            </a:r>
            <a:r>
              <a:rPr lang="en-US" sz="900">
                <a:solidFill>
                  <a:srgbClr val="34D399"/>
                </a:solidFill>
                <a:latin typeface="Consolas" pitchFamily="49" charset="0"/>
              </a:rPr>
              <a:t>nginx:1.25</a:t>
            </a:r>
          </a:p>
          <a:p>
            <a:pPr algn="l">
              <a:buNone/>
            </a:pPr>
            <a:r>
              <a:rPr lang="en-US" sz="900">
                <a:solidFill>
                  <a:srgbClr val="21D4FD"/>
                </a:solidFill>
                <a:latin typeface="Consolas" pitchFamily="49" charset="0"/>
              </a:rPr>
              <a:t>replicas</a:t>
            </a:r>
            <a:r>
              <a:rPr lang="en-US" sz="900">
                <a:solidFill>
                  <a:srgbClr val="CBD5E1"/>
                </a:solidFill>
                <a:latin typeface="Consolas" pitchFamily="49" charset="0"/>
              </a:rPr>
              <a:t>: </a:t>
            </a:r>
            <a:r>
              <a:rPr lang="en-US" sz="900">
                <a:solidFill>
                  <a:srgbClr val="F9E795"/>
                </a:solidFill>
                <a:latin typeface="Consolas" pitchFamily="49" charset="0"/>
              </a:rPr>
              <a:t>3</a:t>
            </a:r>
          </a:p>
          <a:p>
            <a:pPr algn="l">
              <a:buNone/>
            </a:pPr>
            <a:r>
              <a:rPr lang="en-US" sz="900">
                <a:solidFill>
                  <a:srgbClr val="21D4FD"/>
                </a:solidFill>
                <a:latin typeface="Consolas" pitchFamily="49" charset="0"/>
              </a:rPr>
              <a:t>enabled</a:t>
            </a:r>
            <a:r>
              <a:rPr lang="en-US" sz="900">
                <a:solidFill>
                  <a:srgbClr val="CBD5E1"/>
                </a:solidFill>
                <a:latin typeface="Consolas" pitchFamily="49" charset="0"/>
              </a:rPr>
              <a:t>: </a:t>
            </a:r>
            <a:r>
              <a:rPr lang="en-US" sz="900">
                <a:solidFill>
                  <a:srgbClr val="F9E795"/>
                </a:solidFill>
                <a:latin typeface="Consolas" pitchFamily="49" charset="0"/>
              </a:rPr>
              <a:t>true</a:t>
            </a:r>
          </a:p>
          <a:p>
            <a:pPr algn="l">
              <a:buNone/>
            </a:pPr>
            <a:endParaRPr lang="en-US" sz="400"/>
          </a:p>
          <a:p>
            <a:pPr algn="l">
              <a:buNone/>
            </a:pPr>
            <a:r>
              <a:rPr lang="en-US" sz="750" i="1">
                <a:solidFill>
                  <a:srgbClr val="94A3B8"/>
                </a:solidFill>
                <a:latin typeface="Calibri" pitchFamily="34" charset="0"/>
              </a:rPr>
              <a:t>↑ key: value  (space after colon is required)</a:t>
            </a:r>
          </a:p>
        </p:txBody>
      </p:sp>
      <p:sp>
        <p:nvSpPr>
          <p:cNvPr id="20" name="RLabel"/>
          <p:cNvSpPr/>
          <p:nvPr/>
        </p:nvSpPr>
        <p:spPr>
          <a:xfrm>
            <a:off x="4709160" y="1051560"/>
            <a:ext cx="38862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Nested Keys (Indentation = Structure)</a:t>
            </a:r>
          </a:p>
        </p:txBody>
      </p:sp>
      <p:sp>
        <p:nvSpPr>
          <p:cNvPr id="21" name="RCode"/>
          <p:cNvSpPr/>
          <p:nvPr/>
        </p:nvSpPr>
        <p:spPr>
          <a:xfrm>
            <a:off x="4709160" y="1371600"/>
            <a:ext cx="3886200" cy="1188720"/>
          </a:xfrm>
          <a:prstGeom prst="roundRect">
            <a:avLst>
              <a:gd name="adj" fmla="val 5000"/>
            </a:avLst>
          </a:prstGeom>
          <a:solidFill>
            <a:srgbClr val="0A1628"/>
          </a:solidFill>
          <a:ln w="15875">
            <a:solidFill>
              <a:srgbClr val="21D4FD"/>
            </a:solidFill>
          </a:ln>
        </p:spPr>
        <p:txBody>
          <a:bodyPr wrap="square" lIns="114300" tIns="68580" rIns="114300" bIns="68580" rtlCol="0" anchor="t"/>
          <a:lstStyle/>
          <a:p>
            <a:pPr algn="l">
              <a:buNone/>
            </a:pPr>
            <a:r>
              <a:rPr lang="en-US" sz="900">
                <a:solidFill>
                  <a:srgbClr val="21D4FD"/>
                </a:solidFill>
                <a:latin typeface="Consolas" pitchFamily="49" charset="0"/>
              </a:rPr>
              <a:t>metadata</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my-pod</a:t>
            </a:r>
          </a:p>
          <a:p>
            <a:pPr algn="l">
              <a:buNone/>
            </a:pPr>
            <a:r>
              <a:rPr lang="en-US" sz="900">
                <a:solidFill>
                  <a:srgbClr val="CBD5E1"/>
                </a:solidFill>
                <a:latin typeface="Consolas" pitchFamily="49" charset="0"/>
              </a:rPr>
              <a:t>  </a:t>
            </a:r>
            <a:r>
              <a:rPr lang="en-US" sz="900">
                <a:solidFill>
                  <a:srgbClr val="21D4FD"/>
                </a:solidFill>
                <a:latin typeface="Consolas" pitchFamily="49" charset="0"/>
              </a:rPr>
              <a:t>labels</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app</a:t>
            </a:r>
            <a:r>
              <a:rPr lang="en-US" sz="900">
                <a:solidFill>
                  <a:srgbClr val="CBD5E1"/>
                </a:solidFill>
                <a:latin typeface="Consolas" pitchFamily="49" charset="0"/>
              </a:rPr>
              <a:t>: </a:t>
            </a:r>
            <a:r>
              <a:rPr lang="en-US" sz="900">
                <a:solidFill>
                  <a:srgbClr val="34D399"/>
                </a:solidFill>
                <a:latin typeface="Consolas" pitchFamily="49" charset="0"/>
              </a:rPr>
              <a:t>web</a:t>
            </a:r>
          </a:p>
          <a:p>
            <a:pPr algn="l">
              <a:buNone/>
            </a:pPr>
            <a:r>
              <a:rPr lang="en-US" sz="900">
                <a:solidFill>
                  <a:srgbClr val="CBD5E1"/>
                </a:solidFill>
                <a:latin typeface="Consolas" pitchFamily="49" charset="0"/>
              </a:rPr>
              <a:t>    </a:t>
            </a:r>
            <a:r>
              <a:rPr lang="en-US" sz="900">
                <a:solidFill>
                  <a:srgbClr val="21D4FD"/>
                </a:solidFill>
                <a:latin typeface="Consolas" pitchFamily="49" charset="0"/>
              </a:rPr>
              <a:t>env</a:t>
            </a:r>
            <a:r>
              <a:rPr lang="en-US" sz="900">
                <a:solidFill>
                  <a:srgbClr val="CBD5E1"/>
                </a:solidFill>
                <a:latin typeface="Consolas" pitchFamily="49" charset="0"/>
              </a:rPr>
              <a:t>: </a:t>
            </a:r>
            <a:r>
              <a:rPr lang="en-US" sz="900">
                <a:solidFill>
                  <a:srgbClr val="34D399"/>
                </a:solidFill>
                <a:latin typeface="Consolas" pitchFamily="49" charset="0"/>
              </a:rPr>
              <a:t>production</a:t>
            </a:r>
          </a:p>
          <a:p>
            <a:pPr algn="l">
              <a:buNone/>
            </a:pPr>
            <a:endParaRPr lang="en-US" sz="400"/>
          </a:p>
          <a:p>
            <a:pPr algn="l">
              <a:buNone/>
            </a:pPr>
            <a:r>
              <a:rPr lang="en-US" sz="750" i="1">
                <a:solidFill>
                  <a:srgbClr val="94A3B8"/>
                </a:solidFill>
                <a:latin typeface="Calibri" pitchFamily="34" charset="0"/>
              </a:rPr>
              <a:t>↑ 2-space indent creates parent → child hierarchy</a:t>
            </a:r>
          </a:p>
        </p:txBody>
      </p:sp>
      <p:sp>
        <p:nvSpPr>
          <p:cNvPr id="30" name="SpaceLabel"/>
          <p:cNvSpPr/>
          <p:nvPr/>
        </p:nvSpPr>
        <p:spPr>
          <a:xfrm>
            <a:off x="548640" y="26974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  Why Spaces Matter in YAML</a:t>
            </a:r>
          </a:p>
        </p:txBody>
      </p:sp>
      <p:sp>
        <p:nvSpPr>
          <p:cNvPr id="31" name="WrongCard"/>
          <p:cNvSpPr/>
          <p:nvPr/>
        </p:nvSpPr>
        <p:spPr>
          <a:xfrm>
            <a:off x="548640" y="3017520"/>
            <a:ext cx="3886200" cy="1371600"/>
          </a:xfrm>
          <a:prstGeom prst="roundRect">
            <a:avLst>
              <a:gd name="adj" fmla="val 5000"/>
            </a:avLst>
          </a:prstGeom>
          <a:solidFill>
            <a:srgbClr val="0A1628"/>
          </a:solidFill>
          <a:ln w="15875">
            <a:solidFill>
              <a:srgbClr val="F96167"/>
            </a:solidFill>
          </a:ln>
        </p:spPr>
        <p:txBody>
          <a:bodyPr wrap="square" lIns="114300" tIns="68580" rIns="114300" bIns="68580" rtlCol="0" anchor="t"/>
          <a:lstStyle/>
          <a:p>
            <a:pPr algn="l">
              <a:buNone/>
            </a:pPr>
            <a:r>
              <a:rPr lang="en-US" sz="1000" b="1">
                <a:solidFill>
                  <a:srgbClr val="F96167"/>
                </a:solidFill>
                <a:latin typeface="Calibri" pitchFamily="34" charset="0"/>
              </a:rPr>
              <a:t>✗  Common Mistakes</a:t>
            </a:r>
          </a:p>
          <a:p>
            <a:pPr algn="l">
              <a:buNone/>
            </a:pPr>
            <a:endParaRPr lang="en-US" sz="400"/>
          </a:p>
          <a:p>
            <a:pPr algn="l">
              <a:buNone/>
            </a:pPr>
            <a:r>
              <a:rPr lang="en-US" sz="850">
                <a:solidFill>
                  <a:srgbClr val="F96167"/>
                </a:solidFill>
                <a:latin typeface="Consolas" pitchFamily="49" charset="0"/>
              </a:rPr>
              <a:t>name:my-app</a:t>
            </a:r>
            <a:r>
              <a:rPr lang="en-US" sz="850">
                <a:solidFill>
                  <a:srgbClr val="94A3B8"/>
                </a:solidFill>
                <a:latin typeface="Calibri" pitchFamily="34" charset="0"/>
              </a:rPr>
              <a:t>    ← missing space after colon</a:t>
            </a:r>
          </a:p>
          <a:p>
            <a:pPr algn="l">
              <a:buNone/>
            </a:pPr>
            <a:endParaRPr lang="en-US" sz="300"/>
          </a:p>
          <a:p>
            <a:pPr algn="l">
              <a:buNone/>
            </a:pPr>
            <a:r>
              <a:rPr lang="en-US" sz="850">
                <a:solidFill>
                  <a:srgbClr val="F96167"/>
                </a:solidFill>
                <a:latin typeface="Consolas" pitchFamily="49" charset="0"/>
              </a:rPr>
              <a:t>	name: my-app</a:t>
            </a:r>
            <a:r>
              <a:rPr lang="en-US" sz="850">
                <a:solidFill>
                  <a:srgbClr val="94A3B8"/>
                </a:solidFill>
                <a:latin typeface="Calibri" pitchFamily="34" charset="0"/>
              </a:rPr>
              <a:t>  ← tabs are not allowed</a:t>
            </a:r>
          </a:p>
          <a:p>
            <a:pPr algn="l">
              <a:buNone/>
            </a:pPr>
            <a:endParaRPr lang="en-US" sz="300"/>
          </a:p>
          <a:p>
            <a:pPr algn="l">
              <a:buNone/>
            </a:pPr>
            <a:r>
              <a:rPr lang="en-US" sz="850">
                <a:solidFill>
                  <a:srgbClr val="F96167"/>
                </a:solidFill>
                <a:latin typeface="Consolas" pitchFamily="49" charset="0"/>
              </a:rPr>
              <a:t>metadata:</a:t>
            </a:r>
          </a:p>
          <a:p>
            <a:pPr algn="l">
              <a:buNone/>
            </a:pPr>
            <a:r>
              <a:rPr lang="en-US" sz="850">
                <a:solidFill>
                  <a:srgbClr val="F96167"/>
                </a:solidFill>
                <a:latin typeface="Consolas" pitchFamily="49" charset="0"/>
              </a:rPr>
              <a:t>name: my-pod</a:t>
            </a:r>
            <a:r>
              <a:rPr lang="en-US" sz="850">
                <a:solidFill>
                  <a:srgbClr val="94A3B8"/>
                </a:solidFill>
                <a:latin typeface="Calibri" pitchFamily="34" charset="0"/>
              </a:rPr>
              <a:t>     ← missing indent (not nested)</a:t>
            </a:r>
          </a:p>
        </p:txBody>
      </p:sp>
      <p:sp>
        <p:nvSpPr>
          <p:cNvPr id="32" name="RightCard"/>
          <p:cNvSpPr/>
          <p:nvPr/>
        </p:nvSpPr>
        <p:spPr>
          <a:xfrm>
            <a:off x="4709160" y="3017520"/>
            <a:ext cx="3886200" cy="137160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1000" b="1">
                <a:solidFill>
                  <a:srgbClr val="34D399"/>
                </a:solidFill>
                <a:latin typeface="Calibri" pitchFamily="34" charset="0"/>
              </a:rPr>
              <a:t>✓  Golden Rules</a:t>
            </a:r>
          </a:p>
          <a:p>
            <a:pPr algn="l">
              <a:buNone/>
            </a:pPr>
            <a:endParaRPr lang="en-US" sz="400"/>
          </a:p>
          <a:p>
            <a:pPr algn="l">
              <a:buNone/>
            </a:pPr>
            <a:r>
              <a:rPr lang="en-US" sz="900">
                <a:solidFill>
                  <a:srgbClr val="CBD5E1"/>
                </a:solidFill>
                <a:latin typeface="Calibri" pitchFamily="34" charset="0"/>
              </a:rPr>
              <a:t>•  Always use </a:t>
            </a:r>
            <a:r>
              <a:rPr lang="en-US" sz="900" b="1">
                <a:solidFill>
                  <a:srgbClr val="FFFFFF"/>
                </a:solidFill>
                <a:latin typeface="Calibri" pitchFamily="34" charset="0"/>
              </a:rPr>
              <a:t>spaces</a:t>
            </a:r>
            <a:r>
              <a:rPr lang="en-US" sz="900">
                <a:solidFill>
                  <a:srgbClr val="CBD5E1"/>
                </a:solidFill>
                <a:latin typeface="Calibri" pitchFamily="34" charset="0"/>
              </a:rPr>
              <a:t>, never tabs</a:t>
            </a:r>
          </a:p>
          <a:p>
            <a:pPr algn="l">
              <a:buNone/>
            </a:pPr>
            <a:endParaRPr lang="en-US" sz="300"/>
          </a:p>
          <a:p>
            <a:pPr algn="l">
              <a:buNone/>
            </a:pPr>
            <a:r>
              <a:rPr lang="en-US" sz="900">
                <a:solidFill>
                  <a:srgbClr val="CBD5E1"/>
                </a:solidFill>
                <a:latin typeface="Calibri" pitchFamily="34" charset="0"/>
              </a:rPr>
              <a:t>•  </a:t>
            </a:r>
            <a:r>
              <a:rPr lang="en-US" sz="900" b="1">
                <a:solidFill>
                  <a:srgbClr val="FFFFFF"/>
                </a:solidFill>
                <a:latin typeface="Calibri" pitchFamily="34" charset="0"/>
              </a:rPr>
              <a:t>2 spaces</a:t>
            </a:r>
            <a:r>
              <a:rPr lang="en-US" sz="900">
                <a:solidFill>
                  <a:srgbClr val="CBD5E1"/>
                </a:solidFill>
                <a:latin typeface="Calibri" pitchFamily="34" charset="0"/>
              </a:rPr>
              <a:t> per indent level (K8s standard)</a:t>
            </a:r>
          </a:p>
          <a:p>
            <a:pPr algn="l">
              <a:buNone/>
            </a:pPr>
            <a:endParaRPr lang="en-US" sz="300"/>
          </a:p>
          <a:p>
            <a:pPr algn="l">
              <a:buNone/>
            </a:pPr>
            <a:r>
              <a:rPr lang="en-US" sz="900">
                <a:solidFill>
                  <a:srgbClr val="CBD5E1"/>
                </a:solidFill>
                <a:latin typeface="Calibri" pitchFamily="34" charset="0"/>
              </a:rPr>
              <a:t>•  One </a:t>
            </a:r>
            <a:r>
              <a:rPr lang="en-US" sz="900" b="1">
                <a:solidFill>
                  <a:srgbClr val="FFFFFF"/>
                </a:solidFill>
                <a:latin typeface="Calibri" pitchFamily="34" charset="0"/>
              </a:rPr>
              <a:t>space after the colon</a:t>
            </a:r>
            <a:r>
              <a:rPr lang="en-US" sz="900">
                <a:solidFill>
                  <a:srgbClr val="CBD5E1"/>
                </a:solidFill>
                <a:latin typeface="Calibri" pitchFamily="34" charset="0"/>
              </a:rPr>
              <a:t> is mandatory</a:t>
            </a:r>
          </a:p>
          <a:p>
            <a:pPr algn="l">
              <a:buNone/>
            </a:pPr>
            <a:endParaRPr lang="en-US" sz="300"/>
          </a:p>
          <a:p>
            <a:pPr algn="l">
              <a:buNone/>
            </a:pPr>
            <a:r>
              <a:rPr lang="en-US" sz="900">
                <a:solidFill>
                  <a:srgbClr val="CBD5E1"/>
                </a:solidFill>
                <a:latin typeface="Calibri" pitchFamily="34" charset="0"/>
              </a:rPr>
              <a:t>•  Indentation defines </a:t>
            </a:r>
            <a:r>
              <a:rPr lang="en-US" sz="900" b="1">
                <a:solidFill>
                  <a:srgbClr val="FFFFFF"/>
                </a:solidFill>
                <a:latin typeface="Calibri" pitchFamily="34" charset="0"/>
              </a:rPr>
              <a:t>structure</a:t>
            </a:r>
            <a:r>
              <a:rPr lang="en-US" sz="900">
                <a:solidFill>
                  <a:srgbClr val="CBD5E1"/>
                </a:solidFill>
                <a:latin typeface="Calibri" pitchFamily="34" charset="0"/>
              </a:rPr>
              <a:t>, not braces or tags</a:t>
            </a:r>
          </a:p>
        </p:txBody>
      </p:sp>
      <p:sp>
        <p:nvSpPr>
          <p:cNvPr id="40" name="Takeaway"/>
          <p:cNvSpPr/>
          <p:nvPr/>
        </p:nvSpPr>
        <p:spPr>
          <a:xfrm>
            <a:off x="548640" y="452628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F9E795"/>
                </a:solidFill>
                <a:latin typeface="Calibri" pitchFamily="34" charset="0"/>
              </a:rPr>
              <a:t>Pro Tip:  </a:t>
            </a:r>
            <a:r>
              <a:rPr lang="en-US" sz="900">
                <a:solidFill>
                  <a:srgbClr val="CBD5E1"/>
                </a:solidFill>
                <a:latin typeface="Calibri" pitchFamily="34" charset="0"/>
              </a:rPr>
              <a:t>Most YAML errors in Kubernetes are caused by incorrect indentation — use an editor with YAML linting enabled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Nested Structures — Deep Hierarchy</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Real configs go multiple levels deep — indentation is the only way to know where you are</a:t>
            </a:r>
          </a:p>
        </p:txBody>
      </p:sp>
      <p:sp>
        <p:nvSpPr>
          <p:cNvPr id="10" name="CodeLabel"/>
          <p:cNvSpPr/>
          <p:nvPr/>
        </p:nvSpPr>
        <p:spPr>
          <a:xfrm>
            <a:off x="548640" y="868680"/>
            <a:ext cx="41148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Company Config — 4 Levels Deep</a:t>
            </a:r>
          </a:p>
        </p:txBody>
      </p:sp>
      <p:sp>
        <p:nvSpPr>
          <p:cNvPr id="11" name="CodeBlock"/>
          <p:cNvSpPr/>
          <p:nvPr/>
        </p:nvSpPr>
        <p:spPr>
          <a:xfrm>
            <a:off x="548640" y="1143000"/>
            <a:ext cx="4114800" cy="3200400"/>
          </a:xfrm>
          <a:prstGeom prst="roundRect">
            <a:avLst>
              <a:gd name="adj" fmla="val 3000"/>
            </a:avLst>
          </a:prstGeom>
          <a:solidFill>
            <a:srgbClr val="0A1628"/>
          </a:solidFill>
          <a:ln w="15875">
            <a:solidFill>
              <a:srgbClr val="34D399"/>
            </a:solidFill>
          </a:ln>
        </p:spPr>
        <p:txBody>
          <a:bodyPr wrap="square" lIns="114300" tIns="68580" rIns="114300" bIns="68580" rtlCol="0" anchor="t"/>
          <a:lstStyle/>
          <a:p>
            <a:pPr algn="l">
              <a:buNone/>
            </a:pPr>
            <a:r>
              <a:rPr lang="en-US" sz="800">
                <a:solidFill>
                  <a:srgbClr val="21D4FD"/>
                </a:solidFill>
                <a:latin typeface="Consolas" pitchFamily="49" charset="0"/>
              </a:rPr>
              <a:t>company</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Acme Corp</a:t>
            </a:r>
          </a:p>
          <a:p>
            <a:pPr algn="l">
              <a:buNone/>
            </a:pPr>
            <a:r>
              <a:rPr lang="en-US" sz="800">
                <a:solidFill>
                  <a:srgbClr val="CBD5E1"/>
                </a:solidFill>
                <a:latin typeface="Consolas" pitchFamily="49" charset="0"/>
              </a:rPr>
              <a:t>  </a:t>
            </a:r>
            <a:r>
              <a:rPr lang="en-US" sz="800">
                <a:solidFill>
                  <a:srgbClr val="21D4FD"/>
                </a:solidFill>
                <a:latin typeface="Consolas" pitchFamily="49" charset="0"/>
              </a:rPr>
              <a:t>departments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Engineering</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lead</a:t>
            </a:r>
            <a:r>
              <a:rPr lang="en-US" sz="800">
                <a:solidFill>
                  <a:srgbClr val="CBD5E1"/>
                </a:solidFill>
                <a:latin typeface="Consolas" pitchFamily="49" charset="0"/>
              </a:rPr>
              <a:t>: </a:t>
            </a:r>
            <a:r>
              <a:rPr lang="en-US" sz="800">
                <a:solidFill>
                  <a:srgbClr val="34D399"/>
                </a:solidFill>
                <a:latin typeface="Consolas" pitchFamily="49" charset="0"/>
              </a:rPr>
              <a:t>Alice</a:t>
            </a:r>
          </a:p>
          <a:p>
            <a:pPr algn="l">
              <a:buNone/>
            </a:pPr>
            <a:r>
              <a:rPr lang="en-US" sz="800">
                <a:solidFill>
                  <a:srgbClr val="CBD5E1"/>
                </a:solidFill>
                <a:latin typeface="Consolas" pitchFamily="49" charset="0"/>
              </a:rPr>
              <a:t>      </a:t>
            </a:r>
            <a:r>
              <a:rPr lang="en-US" sz="800">
                <a:solidFill>
                  <a:srgbClr val="21D4FD"/>
                </a:solidFill>
                <a:latin typeface="Consolas" pitchFamily="49" charset="0"/>
              </a:rPr>
              <a:t>teams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Backend</a:t>
            </a:r>
          </a:p>
          <a:p>
            <a:pPr algn="l">
              <a:buNone/>
            </a:pPr>
            <a:r>
              <a:rPr lang="en-US" sz="800">
                <a:solidFill>
                  <a:srgbClr val="CBD5E1"/>
                </a:solidFill>
                <a:latin typeface="Consolas" pitchFamily="49" charset="0"/>
              </a:rPr>
              <a:t>          </a:t>
            </a:r>
            <a:r>
              <a:rPr lang="en-US" sz="800">
                <a:solidFill>
                  <a:srgbClr val="21D4FD"/>
                </a:solidFill>
                <a:latin typeface="Consolas" pitchFamily="49" charset="0"/>
              </a:rPr>
              <a:t>size</a:t>
            </a:r>
            <a:r>
              <a:rPr lang="en-US" sz="800">
                <a:solidFill>
                  <a:srgbClr val="CBD5E1"/>
                </a:solidFill>
                <a:latin typeface="Consolas" pitchFamily="49" charset="0"/>
              </a:rPr>
              <a:t>: </a:t>
            </a:r>
            <a:r>
              <a:rPr lang="en-US" sz="800">
                <a:solidFill>
                  <a:srgbClr val="F9E795"/>
                </a:solidFill>
                <a:latin typeface="Consolas" pitchFamily="49" charset="0"/>
              </a:rPr>
              <a:t>5</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languages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Python</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Go</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Frontend</a:t>
            </a:r>
          </a:p>
          <a:p>
            <a:pPr algn="l">
              <a:buNone/>
            </a:pPr>
            <a:r>
              <a:rPr lang="en-US" sz="800">
                <a:solidFill>
                  <a:srgbClr val="CBD5E1"/>
                </a:solidFill>
                <a:latin typeface="Consolas" pitchFamily="49" charset="0"/>
              </a:rPr>
              <a:t>          </a:t>
            </a:r>
            <a:r>
              <a:rPr lang="en-US" sz="800">
                <a:solidFill>
                  <a:srgbClr val="21D4FD"/>
                </a:solidFill>
                <a:latin typeface="Consolas" pitchFamily="49" charset="0"/>
              </a:rPr>
              <a:t>size</a:t>
            </a:r>
            <a:r>
              <a:rPr lang="en-US" sz="800">
                <a:solidFill>
                  <a:srgbClr val="CBD5E1"/>
                </a:solidFill>
                <a:latin typeface="Consolas" pitchFamily="49" charset="0"/>
              </a:rPr>
              <a:t>: </a:t>
            </a:r>
            <a:r>
              <a:rPr lang="en-US" sz="800">
                <a:solidFill>
                  <a:srgbClr val="F9E795"/>
                </a:solidFill>
                <a:latin typeface="Consolas" pitchFamily="49" charset="0"/>
              </a:rPr>
              <a:t>3</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languages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TypeScript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React</a:t>
            </a:r>
          </a:p>
        </p:txBody>
      </p:sp>
      <p:sp>
        <p:nvSpPr>
          <p:cNvPr id="20" name="Tree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Hierarchy Tree View</a:t>
            </a:r>
          </a:p>
        </p:txBody>
      </p:sp>
      <p:sp>
        <p:nvSpPr>
          <p:cNvPr id="21" name="TreeBG"/>
          <p:cNvSpPr/>
          <p:nvPr/>
        </p:nvSpPr>
        <p:spPr>
          <a:xfrm>
            <a:off x="4937760" y="1143000"/>
            <a:ext cx="3657600" cy="2468880"/>
          </a:xfrm>
          <a:prstGeom prst="roundRect">
            <a:avLst>
              <a:gd name="adj" fmla="val 3000"/>
            </a:avLst>
          </a:prstGeom>
          <a:solidFill>
            <a:srgbClr val="0A1628"/>
          </a:solidFill>
          <a:ln w="15875">
            <a:solidFill>
              <a:srgbClr val="21D4FD"/>
            </a:solidFill>
          </a:ln>
        </p:spPr>
        <p:txBody>
          <a:bodyPr/>
          <a:lstStyle/>
          <a:p>
            <a:endParaRPr lang="en-US"/>
          </a:p>
        </p:txBody>
      </p:sp>
      <p:sp>
        <p:nvSpPr>
          <p:cNvPr id="50" name="N0"/>
          <p:cNvSpPr/>
          <p:nvPr/>
        </p:nvSpPr>
        <p:spPr>
          <a:xfrm>
            <a:off x="5074920" y="1234440"/>
            <a:ext cx="1188720" cy="274320"/>
          </a:xfrm>
          <a:prstGeom prst="roundRect">
            <a:avLst>
              <a:gd name="adj" fmla="val 20000"/>
            </a:avLst>
          </a:prstGeom>
          <a:solidFill>
            <a:srgbClr val="162D50"/>
          </a:solidFill>
          <a:ln w="12700">
            <a:solidFill>
              <a:srgbClr val="F9E795"/>
            </a:solidFill>
          </a:ln>
        </p:spPr>
        <p:txBody>
          <a:bodyPr wrap="square" lIns="0" tIns="0" rIns="0" bIns="0" rtlCol="0" anchor="ctr"/>
          <a:lstStyle/>
          <a:p>
            <a:pPr algn="ctr">
              <a:buNone/>
            </a:pPr>
            <a:r>
              <a:rPr lang="en-US" sz="800" b="1">
                <a:solidFill>
                  <a:srgbClr val="F9E795"/>
                </a:solidFill>
                <a:latin typeface="Consolas" pitchFamily="49" charset="0"/>
              </a:rPr>
              <a:t>company</a:t>
            </a:r>
          </a:p>
        </p:txBody>
      </p:sp>
      <p:sp>
        <p:nvSpPr>
          <p:cNvPr id="51" name="L0Lbl"/>
          <p:cNvSpPr/>
          <p:nvPr/>
        </p:nvSpPr>
        <p:spPr>
          <a:xfrm>
            <a:off x="7498080" y="123444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0</a:t>
            </a:r>
          </a:p>
        </p:txBody>
      </p:sp>
      <p:sp>
        <p:nvSpPr>
          <p:cNvPr id="52" name="A01"/>
          <p:cNvSpPr/>
          <p:nvPr/>
        </p:nvSpPr>
        <p:spPr>
          <a:xfrm>
            <a:off x="5531640" y="1508760"/>
            <a:ext cx="274320" cy="228600"/>
          </a:xfrm>
          <a:prstGeom prst="rect">
            <a:avLst/>
          </a:prstGeom>
          <a:noFill/>
          <a:ln/>
        </p:spPr>
        <p:txBody>
          <a:bodyPr wrap="square" lIns="0" tIns="0" rIns="0" bIns="0" rtlCol="0" anchor="ctr"/>
          <a:lstStyle/>
          <a:p>
            <a:pPr algn="ctr">
              <a:buNone/>
            </a:pPr>
            <a:r>
              <a:rPr lang="en-US" sz="1100">
                <a:solidFill>
                  <a:srgbClr val="F9E795"/>
                </a:solidFill>
                <a:latin typeface="Calibri" pitchFamily="34" charset="0"/>
              </a:rPr>
              <a:t>↓</a:t>
            </a:r>
          </a:p>
        </p:txBody>
      </p:sp>
      <p:sp>
        <p:nvSpPr>
          <p:cNvPr id="53" name="N1"/>
          <p:cNvSpPr/>
          <p:nvPr/>
        </p:nvSpPr>
        <p:spPr>
          <a:xfrm>
            <a:off x="5074920" y="1737360"/>
            <a:ext cx="1188720" cy="274320"/>
          </a:xfrm>
          <a:prstGeom prst="roundRect">
            <a:avLst>
              <a:gd name="adj" fmla="val 20000"/>
            </a:avLst>
          </a:prstGeom>
          <a:solidFill>
            <a:srgbClr val="162D50"/>
          </a:solidFill>
          <a:ln w="12700">
            <a:solidFill>
              <a:srgbClr val="21D4FD"/>
            </a:solidFill>
          </a:ln>
        </p:spPr>
        <p:txBody>
          <a:bodyPr wrap="square" lIns="0" tIns="0" rIns="0" bIns="0" rtlCol="0" anchor="ctr"/>
          <a:lstStyle/>
          <a:p>
            <a:pPr algn="ctr">
              <a:buNone/>
            </a:pPr>
            <a:r>
              <a:rPr lang="en-US" sz="800" b="1">
                <a:solidFill>
                  <a:srgbClr val="21D4FD"/>
                </a:solidFill>
                <a:latin typeface="Consolas" pitchFamily="49" charset="0"/>
              </a:rPr>
              <a:t>departments</a:t>
            </a:r>
          </a:p>
        </p:txBody>
      </p:sp>
      <p:sp>
        <p:nvSpPr>
          <p:cNvPr id="54" name="L1Lbl"/>
          <p:cNvSpPr/>
          <p:nvPr/>
        </p:nvSpPr>
        <p:spPr>
          <a:xfrm>
            <a:off x="7498080" y="173736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1</a:t>
            </a:r>
          </a:p>
        </p:txBody>
      </p:sp>
      <p:sp>
        <p:nvSpPr>
          <p:cNvPr id="55" name="A12"/>
          <p:cNvSpPr/>
          <p:nvPr/>
        </p:nvSpPr>
        <p:spPr>
          <a:xfrm>
            <a:off x="5531640" y="2011680"/>
            <a:ext cx="274320" cy="228600"/>
          </a:xfrm>
          <a:prstGeom prst="rect">
            <a:avLst/>
          </a:prstGeom>
          <a:noFill/>
          <a:ln/>
        </p:spPr>
        <p:txBody>
          <a:bodyPr wrap="square" lIns="0" tIns="0" rIns="0" bIns="0" rtlCol="0" anchor="ctr"/>
          <a:lstStyle/>
          <a:p>
            <a:pPr algn="ctr">
              <a:buNone/>
            </a:pPr>
            <a:r>
              <a:rPr lang="en-US" sz="1100">
                <a:solidFill>
                  <a:srgbClr val="21D4FD"/>
                </a:solidFill>
                <a:latin typeface="Calibri" pitchFamily="34" charset="0"/>
              </a:rPr>
              <a:t>↓</a:t>
            </a:r>
          </a:p>
        </p:txBody>
      </p:sp>
      <p:sp>
        <p:nvSpPr>
          <p:cNvPr id="56" name="N2a"/>
          <p:cNvSpPr/>
          <p:nvPr/>
        </p:nvSpPr>
        <p:spPr>
          <a:xfrm>
            <a:off x="5074920" y="2240280"/>
            <a:ext cx="1188720" cy="274320"/>
          </a:xfrm>
          <a:prstGeom prst="roundRect">
            <a:avLst>
              <a:gd name="adj" fmla="val 20000"/>
            </a:avLst>
          </a:prstGeom>
          <a:solidFill>
            <a:srgbClr val="162D50"/>
          </a:solidFill>
          <a:ln w="12700">
            <a:solidFill>
              <a:srgbClr val="34D399"/>
            </a:solidFill>
          </a:ln>
        </p:spPr>
        <p:txBody>
          <a:bodyPr wrap="square" lIns="0" tIns="0" rIns="0" bIns="0" rtlCol="0" anchor="ctr"/>
          <a:lstStyle/>
          <a:p>
            <a:pPr algn="ctr">
              <a:buNone/>
            </a:pPr>
            <a:r>
              <a:rPr lang="en-US" sz="750" b="1">
                <a:solidFill>
                  <a:srgbClr val="34D399"/>
                </a:solidFill>
                <a:latin typeface="Consolas" pitchFamily="49" charset="0"/>
              </a:rPr>
              <a:t>Engineering</a:t>
            </a:r>
          </a:p>
        </p:txBody>
      </p:sp>
      <p:sp>
        <p:nvSpPr>
          <p:cNvPr id="57" name="N2b"/>
          <p:cNvSpPr/>
          <p:nvPr/>
        </p:nvSpPr>
        <p:spPr>
          <a:xfrm>
            <a:off x="6401280" y="2240280"/>
            <a:ext cx="1188720" cy="274320"/>
          </a:xfrm>
          <a:prstGeom prst="roundRect">
            <a:avLst>
              <a:gd name="adj" fmla="val 20000"/>
            </a:avLst>
          </a:prstGeom>
          <a:solidFill>
            <a:srgbClr val="162D50"/>
          </a:solidFill>
          <a:ln w="12700">
            <a:solidFill>
              <a:srgbClr val="34D399"/>
            </a:solidFill>
          </a:ln>
        </p:spPr>
        <p:txBody>
          <a:bodyPr wrap="square" lIns="0" tIns="0" rIns="0" bIns="0" rtlCol="0" anchor="ctr"/>
          <a:lstStyle/>
          <a:p>
            <a:pPr algn="ctr">
              <a:buNone/>
            </a:pPr>
            <a:r>
              <a:rPr lang="en-US" sz="750" b="1">
                <a:solidFill>
                  <a:srgbClr val="34D399"/>
                </a:solidFill>
                <a:latin typeface="Consolas" pitchFamily="49" charset="0"/>
              </a:rPr>
              <a:t>Frontend</a:t>
            </a:r>
          </a:p>
        </p:txBody>
      </p:sp>
      <p:sp>
        <p:nvSpPr>
          <p:cNvPr id="58" name="L2Lbl"/>
          <p:cNvSpPr/>
          <p:nvPr/>
        </p:nvSpPr>
        <p:spPr>
          <a:xfrm>
            <a:off x="7498080" y="224028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2</a:t>
            </a:r>
          </a:p>
        </p:txBody>
      </p:sp>
      <p:sp>
        <p:nvSpPr>
          <p:cNvPr id="59" name="A23"/>
          <p:cNvSpPr/>
          <p:nvPr/>
        </p:nvSpPr>
        <p:spPr>
          <a:xfrm>
            <a:off x="5531640" y="2514600"/>
            <a:ext cx="274320" cy="228600"/>
          </a:xfrm>
          <a:prstGeom prst="rect">
            <a:avLst/>
          </a:prstGeom>
          <a:noFill/>
          <a:ln/>
        </p:spPr>
        <p:txBody>
          <a:bodyPr wrap="square" lIns="0" tIns="0" rIns="0" bIns="0" rtlCol="0" anchor="ctr"/>
          <a:lstStyle/>
          <a:p>
            <a:pPr algn="ctr">
              <a:buNone/>
            </a:pPr>
            <a:r>
              <a:rPr lang="en-US" sz="1100">
                <a:solidFill>
                  <a:srgbClr val="34D399"/>
                </a:solidFill>
                <a:latin typeface="Calibri" pitchFamily="34" charset="0"/>
              </a:rPr>
              <a:t>↓</a:t>
            </a:r>
          </a:p>
        </p:txBody>
      </p:sp>
      <p:sp>
        <p:nvSpPr>
          <p:cNvPr id="60" name="N3a"/>
          <p:cNvSpPr/>
          <p:nvPr/>
        </p:nvSpPr>
        <p:spPr>
          <a:xfrm>
            <a:off x="5074920" y="2743200"/>
            <a:ext cx="1188720" cy="274320"/>
          </a:xfrm>
          <a:prstGeom prst="roundRect">
            <a:avLst>
              <a:gd name="adj" fmla="val 20000"/>
            </a:avLst>
          </a:prstGeom>
          <a:solidFill>
            <a:srgbClr val="162D50"/>
          </a:solidFill>
          <a:ln w="12700">
            <a:solidFill>
              <a:srgbClr val="F96167"/>
            </a:solidFill>
          </a:ln>
        </p:spPr>
        <p:txBody>
          <a:bodyPr wrap="square" lIns="0" tIns="0" rIns="0" bIns="0" rtlCol="0" anchor="ctr"/>
          <a:lstStyle/>
          <a:p>
            <a:pPr algn="ctr">
              <a:buNone/>
            </a:pPr>
            <a:r>
              <a:rPr lang="en-US" sz="750" b="1">
                <a:solidFill>
                  <a:srgbClr val="F96167"/>
                </a:solidFill>
                <a:latin typeface="Consolas" pitchFamily="49" charset="0"/>
              </a:rPr>
              <a:t>Backend</a:t>
            </a:r>
          </a:p>
        </p:txBody>
      </p:sp>
      <p:sp>
        <p:nvSpPr>
          <p:cNvPr id="61" name="L3Lbl"/>
          <p:cNvSpPr/>
          <p:nvPr/>
        </p:nvSpPr>
        <p:spPr>
          <a:xfrm>
            <a:off x="7498080" y="274320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3</a:t>
            </a:r>
          </a:p>
        </p:txBody>
      </p:sp>
      <p:sp>
        <p:nvSpPr>
          <p:cNvPr id="62" name="A34"/>
          <p:cNvSpPr/>
          <p:nvPr/>
        </p:nvSpPr>
        <p:spPr>
          <a:xfrm>
            <a:off x="5531640" y="3017520"/>
            <a:ext cx="274320" cy="228600"/>
          </a:xfrm>
          <a:prstGeom prst="rect">
            <a:avLst/>
          </a:prstGeom>
          <a:noFill/>
          <a:ln/>
        </p:spPr>
        <p:txBody>
          <a:bodyPr wrap="square" lIns="0" tIns="0" rIns="0" bIns="0" rtlCol="0" anchor="ctr"/>
          <a:lstStyle/>
          <a:p>
            <a:pPr algn="ctr">
              <a:buNone/>
            </a:pPr>
            <a:r>
              <a:rPr lang="en-US" sz="1100">
                <a:solidFill>
                  <a:srgbClr val="F96167"/>
                </a:solidFill>
                <a:latin typeface="Calibri" pitchFamily="34" charset="0"/>
              </a:rPr>
              <a:t>↓</a:t>
            </a:r>
          </a:p>
        </p:txBody>
      </p:sp>
      <p:sp>
        <p:nvSpPr>
          <p:cNvPr id="63" name="N4a"/>
          <p:cNvSpPr/>
          <p:nvPr/>
        </p:nvSpPr>
        <p:spPr>
          <a:xfrm>
            <a:off x="5074920" y="3246120"/>
            <a:ext cx="822960" cy="274320"/>
          </a:xfrm>
          <a:prstGeom prst="roundRect">
            <a:avLst>
              <a:gd name="adj" fmla="val 20000"/>
            </a:avLst>
          </a:prstGeom>
          <a:solidFill>
            <a:srgbClr val="162D50"/>
          </a:solidFill>
          <a:ln w="12700">
            <a:solidFill>
              <a:srgbClr val="94A3B8"/>
            </a:solidFill>
          </a:ln>
        </p:spPr>
        <p:txBody>
          <a:bodyPr wrap="square" lIns="0" tIns="0" rIns="0" bIns="0" rtlCol="0" anchor="ctr"/>
          <a:lstStyle/>
          <a:p>
            <a:pPr algn="ctr">
              <a:buNone/>
            </a:pPr>
            <a:r>
              <a:rPr lang="en-US" sz="750">
                <a:solidFill>
                  <a:srgbClr val="CBD5E1"/>
                </a:solidFill>
                <a:latin typeface="Consolas" pitchFamily="49" charset="0"/>
              </a:rPr>
              <a:t>Python</a:t>
            </a:r>
          </a:p>
        </p:txBody>
      </p:sp>
      <p:sp>
        <p:nvSpPr>
          <p:cNvPr id="64" name="N4b"/>
          <p:cNvSpPr/>
          <p:nvPr/>
        </p:nvSpPr>
        <p:spPr>
          <a:xfrm>
            <a:off x="5989320" y="3246120"/>
            <a:ext cx="822960" cy="274320"/>
          </a:xfrm>
          <a:prstGeom prst="roundRect">
            <a:avLst>
              <a:gd name="adj" fmla="val 20000"/>
            </a:avLst>
          </a:prstGeom>
          <a:solidFill>
            <a:srgbClr val="162D50"/>
          </a:solidFill>
          <a:ln w="12700">
            <a:solidFill>
              <a:srgbClr val="94A3B8"/>
            </a:solidFill>
          </a:ln>
        </p:spPr>
        <p:txBody>
          <a:bodyPr wrap="square" lIns="0" tIns="0" rIns="0" bIns="0" rtlCol="0" anchor="ctr"/>
          <a:lstStyle/>
          <a:p>
            <a:pPr algn="ctr">
              <a:buNone/>
            </a:pPr>
            <a:r>
              <a:rPr lang="en-US" sz="750">
                <a:solidFill>
                  <a:srgbClr val="CBD5E1"/>
                </a:solidFill>
                <a:latin typeface="Consolas" pitchFamily="49" charset="0"/>
              </a:rPr>
              <a:t>Go</a:t>
            </a:r>
          </a:p>
        </p:txBody>
      </p:sp>
      <p:sp>
        <p:nvSpPr>
          <p:cNvPr id="65" name="L4Lbl"/>
          <p:cNvSpPr/>
          <p:nvPr/>
        </p:nvSpPr>
        <p:spPr>
          <a:xfrm>
            <a:off x="7498080" y="324612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4</a:t>
            </a:r>
          </a:p>
        </p:txBody>
      </p:sp>
      <p:sp>
        <p:nvSpPr>
          <p:cNvPr id="70" name="Guide"/>
          <p:cNvSpPr/>
          <p:nvPr/>
        </p:nvSpPr>
        <p:spPr>
          <a:xfrm>
            <a:off x="4937760" y="3703320"/>
            <a:ext cx="3657600" cy="640080"/>
          </a:xfrm>
          <a:prstGeom prst="roundRect">
            <a:avLst>
              <a:gd name="adj" fmla="val 8000"/>
            </a:avLst>
          </a:prstGeom>
          <a:solidFill>
            <a:srgbClr val="0A1628"/>
          </a:solidFill>
          <a:ln w="12700">
            <a:solidFill>
              <a:srgbClr val="F9E795"/>
            </a:solidFill>
          </a:ln>
        </p:spPr>
        <p:txBody>
          <a:bodyPr wrap="square" lIns="91440" tIns="45720" rIns="91440" bIns="45720" rtlCol="0" anchor="ctr"/>
          <a:lstStyle/>
          <a:p>
            <a:pPr algn="l">
              <a:buNone/>
            </a:pPr>
            <a:r>
              <a:rPr lang="en-US" sz="850" b="1">
                <a:solidFill>
                  <a:srgbClr val="F9E795"/>
                </a:solidFill>
                <a:latin typeface="Calibri" pitchFamily="34" charset="0"/>
              </a:rPr>
              <a:t>Reading Tip</a:t>
            </a:r>
          </a:p>
          <a:p>
            <a:pPr algn="l">
              <a:buNone/>
            </a:pPr>
            <a:r>
              <a:rPr lang="en-US" sz="800">
                <a:solidFill>
                  <a:srgbClr val="CBD5E1"/>
                </a:solidFill>
                <a:latin typeface="Calibri" pitchFamily="34" charset="0"/>
              </a:rPr>
              <a:t>Count the leading spaces to know your depth:</a:t>
            </a:r>
          </a:p>
          <a:p>
            <a:pPr algn="l">
              <a:buNone/>
            </a:pPr>
            <a:r>
              <a:rPr lang="en-US" sz="800">
                <a:solidFill>
                  <a:srgbClr val="94A3B8"/>
                </a:solidFill>
                <a:latin typeface="Consolas" pitchFamily="49" charset="0"/>
              </a:rPr>
              <a:t>0 sp = root  •  2 sp = child  •  4 sp = grandchild ...</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Key Takeaway:  </a:t>
            </a:r>
            <a:r>
              <a:rPr lang="en-US" sz="900">
                <a:solidFill>
                  <a:srgbClr val="CBD5E1"/>
                </a:solidFill>
                <a:latin typeface="Calibri" pitchFamily="34" charset="0"/>
              </a:rPr>
              <a:t>YAML nests dicts inside lists inside dicts — endlessly. Indentation is the only delimiter, so every 2-space shift changes meaning.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600" b="1">
                <a:solidFill>
                  <a:srgbClr val="FFFFFF"/>
                </a:solidFill>
                <a:latin typeface="Trebuchet MS" pitchFamily="34" charset="0"/>
              </a:rPr>
              <a:t>Ordered Lists vs Unordered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Position matters in lists, but not in dictionaries — a critical difference</a:t>
            </a:r>
          </a:p>
        </p:txBody>
      </p:sp>
      <p:sp>
        <p:nvSpPr>
          <p:cNvPr id="10" name="LLabel"/>
          <p:cNvSpPr/>
          <p:nvPr/>
        </p:nvSpPr>
        <p:spPr>
          <a:xfrm>
            <a:off x="548640" y="8686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 = Ordered  (position matters)</a:t>
            </a:r>
          </a:p>
        </p:txBody>
      </p:sp>
      <p:sp>
        <p:nvSpPr>
          <p:cNvPr id="11" name="ListA"/>
          <p:cNvSpPr/>
          <p:nvPr/>
        </p:nvSpPr>
        <p:spPr>
          <a:xfrm>
            <a:off x="548640" y="1143000"/>
            <a:ext cx="1828800" cy="822960"/>
          </a:xfrm>
          <a:prstGeom prst="roundRect">
            <a:avLst>
              <a:gd name="adj" fmla="val 5000"/>
            </a:avLst>
          </a:prstGeom>
          <a:solidFill>
            <a:srgbClr val="0A1628"/>
          </a:solidFill>
          <a:ln w="15875">
            <a:solidFill>
              <a:srgbClr val="34D399"/>
            </a:solidFill>
          </a:ln>
        </p:spPr>
        <p:txBody>
          <a:bodyPr wrap="square" lIns="91440" tIns="45720" rIns="91440" bIns="45720" rtlCol="0" anchor="t"/>
          <a:lstStyle/>
          <a:p>
            <a:pPr algn="l">
              <a:buNone/>
            </a:pPr>
            <a:r>
              <a:rPr lang="en-US" sz="850">
                <a:solidFill>
                  <a:srgbClr val="21D4FD"/>
                </a:solidFill>
                <a:latin typeface="Consolas" pitchFamily="49" charset="0"/>
              </a:rPr>
              <a:t>steps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build</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test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deploy</a:t>
            </a:r>
          </a:p>
        </p:txBody>
      </p:sp>
      <p:sp>
        <p:nvSpPr>
          <p:cNvPr id="12" name="NEQ1"/>
          <p:cNvSpPr/>
          <p:nvPr/>
        </p:nvSpPr>
        <p:spPr>
          <a:xfrm>
            <a:off x="2468880" y="1143000"/>
            <a:ext cx="457200" cy="822960"/>
          </a:xfrm>
          <a:prstGeom prst="rect">
            <a:avLst/>
          </a:prstGeom>
          <a:noFill/>
          <a:ln/>
        </p:spPr>
        <p:txBody>
          <a:bodyPr wrap="square" lIns="0" tIns="0" rIns="0" bIns="0" rtlCol="0" anchor="ctr"/>
          <a:lstStyle/>
          <a:p>
            <a:pPr algn="ctr">
              <a:buNone/>
            </a:pPr>
            <a:r>
              <a:rPr lang="en-US" sz="2000" b="1">
                <a:solidFill>
                  <a:srgbClr val="F96167"/>
                </a:solidFill>
                <a:latin typeface="Trebuchet MS" pitchFamily="34" charset="0"/>
              </a:rPr>
              <a:t>≠</a:t>
            </a:r>
          </a:p>
        </p:txBody>
      </p:sp>
      <p:sp>
        <p:nvSpPr>
          <p:cNvPr id="13" name="ListB"/>
          <p:cNvSpPr/>
          <p:nvPr/>
        </p:nvSpPr>
        <p:spPr>
          <a:xfrm>
            <a:off x="2926080" y="1143000"/>
            <a:ext cx="1828800" cy="822960"/>
          </a:xfrm>
          <a:prstGeom prst="roundRect">
            <a:avLst>
              <a:gd name="adj" fmla="val 5000"/>
            </a:avLst>
          </a:prstGeom>
          <a:solidFill>
            <a:srgbClr val="0A1628"/>
          </a:solidFill>
          <a:ln w="15875">
            <a:solidFill>
              <a:srgbClr val="F96167"/>
            </a:solidFill>
          </a:ln>
        </p:spPr>
        <p:txBody>
          <a:bodyPr wrap="square" lIns="91440" tIns="45720" rIns="91440" bIns="45720" rtlCol="0" anchor="t"/>
          <a:lstStyle/>
          <a:p>
            <a:pPr algn="l">
              <a:buNone/>
            </a:pPr>
            <a:r>
              <a:rPr lang="en-US" sz="850">
                <a:solidFill>
                  <a:srgbClr val="21D4FD"/>
                </a:solidFill>
                <a:latin typeface="Consolas" pitchFamily="49" charset="0"/>
              </a:rPr>
              <a:t>steps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deploy</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build</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test</a:t>
            </a:r>
          </a:p>
        </p:txBody>
      </p:sp>
      <p:sp>
        <p:nvSpPr>
          <p:cNvPr id="14" name="ListExp"/>
          <p:cNvSpPr/>
          <p:nvPr/>
        </p:nvSpPr>
        <p:spPr>
          <a:xfrm>
            <a:off x="548640" y="2011680"/>
            <a:ext cx="4206240" cy="365760"/>
          </a:xfrm>
          <a:prstGeom prst="roundRect">
            <a:avLst>
              <a:gd name="adj" fmla="val 10000"/>
            </a:avLst>
          </a:prstGeom>
          <a:solidFill>
            <a:srgbClr val="0A1628"/>
          </a:solidFill>
          <a:ln w="12700">
            <a:solidFill>
              <a:srgbClr val="F96167"/>
            </a:solidFill>
          </a:ln>
        </p:spPr>
        <p:txBody>
          <a:bodyPr wrap="square" lIns="91440" tIns="34290" rIns="91440" bIns="34290" rtlCol="0" anchor="ctr"/>
          <a:lstStyle/>
          <a:p>
            <a:pPr algn="ctr">
              <a:buNone/>
            </a:pPr>
            <a:r>
              <a:rPr lang="en-US" sz="850" b="1">
                <a:solidFill>
                  <a:srgbClr val="F96167"/>
                </a:solidFill>
                <a:latin typeface="Calibri" pitchFamily="34" charset="0"/>
              </a:rPr>
              <a:t>⚠ Different order = different meaning!</a:t>
            </a:r>
          </a:p>
          <a:p>
            <a:pPr algn="ctr">
              <a:buNone/>
            </a:pPr>
            <a:r>
              <a:rPr lang="en-US" sz="750">
                <a:solidFill>
                  <a:srgbClr val="CBD5E1"/>
                </a:solidFill>
                <a:latin typeface="Calibri" pitchFamily="34" charset="0"/>
              </a:rPr>
              <a:t>Deploying before building would fail the pipeline</a:t>
            </a:r>
          </a:p>
        </p:txBody>
      </p:sp>
      <p:sp>
        <p:nvSpPr>
          <p:cNvPr id="20" name="R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Dictionary = Unordered  (key matters)</a:t>
            </a:r>
          </a:p>
        </p:txBody>
      </p:sp>
      <p:sp>
        <p:nvSpPr>
          <p:cNvPr id="21" name="DictA"/>
          <p:cNvSpPr/>
          <p:nvPr/>
        </p:nvSpPr>
        <p:spPr>
          <a:xfrm>
            <a:off x="4937760" y="1143000"/>
            <a:ext cx="1554480" cy="822960"/>
          </a:xfrm>
          <a:prstGeom prst="roundRect">
            <a:avLst>
              <a:gd name="adj" fmla="val 5000"/>
            </a:avLst>
          </a:prstGeom>
          <a:solidFill>
            <a:srgbClr val="0A1628"/>
          </a:solidFill>
          <a:ln w="15875">
            <a:solidFill>
              <a:srgbClr val="21D4FD"/>
            </a:solidFill>
          </a:ln>
        </p:spPr>
        <p:txBody>
          <a:bodyPr wrap="square" lIns="91440" tIns="45720" rIns="91440" bIns="45720" rtlCol="0" anchor="t"/>
          <a:lstStyle/>
          <a:p>
            <a:pPr algn="l">
              <a:buNone/>
            </a:pPr>
            <a:r>
              <a:rPr lang="en-US" sz="850">
                <a:solidFill>
                  <a:srgbClr val="21D4FD"/>
                </a:solidFill>
                <a:latin typeface="Consolas" pitchFamily="49" charset="0"/>
              </a:rPr>
              <a:t>person</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age</a:t>
            </a:r>
            <a:r>
              <a:rPr lang="en-US" sz="850">
                <a:solidFill>
                  <a:srgbClr val="CBD5E1"/>
                </a:solidFill>
                <a:latin typeface="Consolas" pitchFamily="49" charset="0"/>
              </a:rPr>
              <a:t>: </a:t>
            </a:r>
            <a:r>
              <a:rPr lang="en-US" sz="850">
                <a:solidFill>
                  <a:srgbClr val="F9E795"/>
                </a:solidFill>
                <a:latin typeface="Consolas" pitchFamily="49" charset="0"/>
              </a:rPr>
              <a:t>30</a:t>
            </a:r>
          </a:p>
          <a:p>
            <a:pPr algn="l">
              <a:buNone/>
            </a:pPr>
            <a:r>
              <a:rPr lang="en-US" sz="850">
                <a:solidFill>
                  <a:srgbClr val="CBD5E1"/>
                </a:solidFill>
                <a:latin typeface="Consolas" pitchFamily="49" charset="0"/>
              </a:rPr>
              <a:t>  </a:t>
            </a:r>
            <a:r>
              <a:rPr lang="en-US" sz="850">
                <a:solidFill>
                  <a:srgbClr val="21D4FD"/>
                </a:solidFill>
                <a:latin typeface="Consolas" pitchFamily="49" charset="0"/>
              </a:rPr>
              <a:t>city</a:t>
            </a:r>
            <a:r>
              <a:rPr lang="en-US" sz="850">
                <a:solidFill>
                  <a:srgbClr val="CBD5E1"/>
                </a:solidFill>
                <a:latin typeface="Consolas" pitchFamily="49" charset="0"/>
              </a:rPr>
              <a:t>: </a:t>
            </a:r>
            <a:r>
              <a:rPr lang="en-US" sz="850">
                <a:solidFill>
                  <a:srgbClr val="34D399"/>
                </a:solidFill>
                <a:latin typeface="Consolas" pitchFamily="49" charset="0"/>
              </a:rPr>
              <a:t>NYC</a:t>
            </a:r>
          </a:p>
        </p:txBody>
      </p:sp>
      <p:sp>
        <p:nvSpPr>
          <p:cNvPr id="22" name="EQ1"/>
          <p:cNvSpPr/>
          <p:nvPr/>
        </p:nvSpPr>
        <p:spPr>
          <a:xfrm>
            <a:off x="6583680" y="1143000"/>
            <a:ext cx="457200" cy="822960"/>
          </a:xfrm>
          <a:prstGeom prst="rect">
            <a:avLst/>
          </a:prstGeom>
          <a:noFill/>
          <a:ln/>
        </p:spPr>
        <p:txBody>
          <a:bodyPr wrap="square" lIns="0" tIns="0" rIns="0" bIns="0" rtlCol="0" anchor="ctr"/>
          <a:lstStyle/>
          <a:p>
            <a:pPr algn="ctr">
              <a:buNone/>
            </a:pPr>
            <a:r>
              <a:rPr lang="en-US" sz="2000" b="1">
                <a:solidFill>
                  <a:srgbClr val="34D399"/>
                </a:solidFill>
                <a:latin typeface="Trebuchet MS" pitchFamily="34" charset="0"/>
              </a:rPr>
              <a:t>=</a:t>
            </a:r>
          </a:p>
        </p:txBody>
      </p:sp>
      <p:sp>
        <p:nvSpPr>
          <p:cNvPr id="23" name="DictB"/>
          <p:cNvSpPr/>
          <p:nvPr/>
        </p:nvSpPr>
        <p:spPr>
          <a:xfrm>
            <a:off x="7040880" y="1143000"/>
            <a:ext cx="1554480" cy="822960"/>
          </a:xfrm>
          <a:prstGeom prst="roundRect">
            <a:avLst>
              <a:gd name="adj" fmla="val 5000"/>
            </a:avLst>
          </a:prstGeom>
          <a:solidFill>
            <a:srgbClr val="0A1628"/>
          </a:solidFill>
          <a:ln w="15875">
            <a:solidFill>
              <a:srgbClr val="34D399"/>
            </a:solidFill>
          </a:ln>
        </p:spPr>
        <p:txBody>
          <a:bodyPr wrap="square" lIns="91440" tIns="45720" rIns="91440" bIns="45720" rtlCol="0" anchor="t"/>
          <a:lstStyle/>
          <a:p>
            <a:pPr algn="l">
              <a:buNone/>
            </a:pPr>
            <a:r>
              <a:rPr lang="en-US" sz="850">
                <a:solidFill>
                  <a:srgbClr val="21D4FD"/>
                </a:solidFill>
                <a:latin typeface="Consolas" pitchFamily="49" charset="0"/>
              </a:rPr>
              <a:t>person</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city</a:t>
            </a:r>
            <a:r>
              <a:rPr lang="en-US" sz="850">
                <a:solidFill>
                  <a:srgbClr val="CBD5E1"/>
                </a:solidFill>
                <a:latin typeface="Consolas" pitchFamily="49" charset="0"/>
              </a:rPr>
              <a:t>: </a:t>
            </a:r>
            <a:r>
              <a:rPr lang="en-US" sz="850">
                <a:solidFill>
                  <a:srgbClr val="34D399"/>
                </a:solidFill>
                <a:latin typeface="Consolas" pitchFamily="49" charset="0"/>
              </a:rPr>
              <a:t>NYC</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age</a:t>
            </a:r>
            <a:r>
              <a:rPr lang="en-US" sz="850">
                <a:solidFill>
                  <a:srgbClr val="CBD5E1"/>
                </a:solidFill>
                <a:latin typeface="Consolas" pitchFamily="49" charset="0"/>
              </a:rPr>
              <a:t>: </a:t>
            </a:r>
            <a:r>
              <a:rPr lang="en-US" sz="850">
                <a:solidFill>
                  <a:srgbClr val="F9E795"/>
                </a:solidFill>
                <a:latin typeface="Consolas" pitchFamily="49" charset="0"/>
              </a:rPr>
              <a:t>30</a:t>
            </a:r>
          </a:p>
        </p:txBody>
      </p:sp>
      <p:sp>
        <p:nvSpPr>
          <p:cNvPr id="24" name="DictExp"/>
          <p:cNvSpPr/>
          <p:nvPr/>
        </p:nvSpPr>
        <p:spPr>
          <a:xfrm>
            <a:off x="4937760" y="2011680"/>
            <a:ext cx="3657600" cy="365760"/>
          </a:xfrm>
          <a:prstGeom prst="roundRect">
            <a:avLst>
              <a:gd name="adj" fmla="val 10000"/>
            </a:avLst>
          </a:prstGeom>
          <a:solidFill>
            <a:srgbClr val="0A1628"/>
          </a:solidFill>
          <a:ln w="12700">
            <a:solidFill>
              <a:srgbClr val="34D399"/>
            </a:solidFill>
          </a:ln>
        </p:spPr>
        <p:txBody>
          <a:bodyPr wrap="square" lIns="91440" tIns="34290" rIns="91440" bIns="34290" rtlCol="0" anchor="ctr"/>
          <a:lstStyle/>
          <a:p>
            <a:pPr algn="ctr">
              <a:buNone/>
            </a:pPr>
            <a:r>
              <a:rPr lang="en-US" sz="850" b="1">
                <a:solidFill>
                  <a:srgbClr val="34D399"/>
                </a:solidFill>
                <a:latin typeface="Calibri" pitchFamily="34" charset="0"/>
              </a:rPr>
              <a:t>✓ Same data — order doesn't matter</a:t>
            </a:r>
          </a:p>
          <a:p>
            <a:pPr algn="ctr">
              <a:buNone/>
            </a:pPr>
            <a:r>
              <a:rPr lang="en-US" sz="750">
                <a:solidFill>
                  <a:srgbClr val="CBD5E1"/>
                </a:solidFill>
                <a:latin typeface="Calibri" pitchFamily="34" charset="0"/>
              </a:rPr>
              <a:t>Values are looked up by key name, not position</a:t>
            </a:r>
          </a:p>
        </p:txBody>
      </p:sp>
      <p:sp>
        <p:nvSpPr>
          <p:cNvPr id="30" name="TblLabel"/>
          <p:cNvSpPr/>
          <p:nvPr/>
        </p:nvSpPr>
        <p:spPr>
          <a:xfrm>
            <a:off x="548640" y="251460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Key Differences at a Glance</a:t>
            </a:r>
          </a:p>
        </p:txBody>
      </p:sp>
      <p:sp>
        <p:nvSpPr>
          <p:cNvPr id="31" name="TH"/>
          <p:cNvSpPr/>
          <p:nvPr/>
        </p:nvSpPr>
        <p:spPr>
          <a:xfrm>
            <a:off x="548640" y="2834640"/>
            <a:ext cx="8046720" cy="274320"/>
          </a:xfrm>
          <a:prstGeom prst="rect">
            <a:avLst/>
          </a:prstGeom>
          <a:solidFill>
            <a:srgbClr val="162D50"/>
          </a:solidFill>
          <a:ln/>
        </p:spPr>
        <p:txBody>
          <a:bodyPr wrap="square" lIns="137160" tIns="45720" rIns="137160" bIns="45720" rtlCol="0" anchor="ctr"/>
          <a:lstStyle/>
          <a:p>
            <a:pPr algn="l">
              <a:buNone/>
            </a:pPr>
            <a:r>
              <a:rPr lang="en-US" sz="900" b="1">
                <a:solidFill>
                  <a:srgbClr val="F9E795"/>
                </a:solidFill>
                <a:latin typeface="Calibri" pitchFamily="34" charset="0"/>
              </a:rPr>
              <a:t>Property                                                                    List (Array)                                                   Dictionary (Map)</a:t>
            </a:r>
          </a:p>
        </p:txBody>
      </p:sp>
      <p:sp>
        <p:nvSpPr>
          <p:cNvPr id="32" name="R1"/>
          <p:cNvSpPr/>
          <p:nvPr/>
        </p:nvSpPr>
        <p:spPr>
          <a:xfrm>
            <a:off x="548640" y="3108960"/>
            <a:ext cx="8046720" cy="274320"/>
          </a:xfrm>
          <a:prstGeom prst="rect">
            <a:avLst/>
          </a:prstGeom>
          <a:solidFill>
            <a:srgbClr val="0A1628"/>
          </a:solidFill>
          <a:ln/>
        </p:spPr>
        <p:txBody>
          <a:bodyPr wrap="square" lIns="137160" tIns="45720" rIns="137160" bIns="45720" rtlCol="0" anchor="ctr"/>
          <a:lstStyle/>
          <a:p>
            <a:pPr algn="l">
              <a:buNone/>
            </a:pPr>
            <a:r>
              <a:rPr lang="en-US" sz="850" b="1">
                <a:solidFill>
                  <a:srgbClr val="FFFFFF"/>
                </a:solidFill>
                <a:latin typeface="Calibri" pitchFamily="34" charset="0"/>
              </a:rPr>
              <a:t>Ordering                                                                   </a:t>
            </a:r>
            <a:r>
              <a:rPr lang="en-US" sz="850">
                <a:solidFill>
                  <a:srgbClr val="34D399"/>
                </a:solidFill>
                <a:latin typeface="Calibri" pitchFamily="34" charset="0"/>
              </a:rPr>
              <a:t>Preserved — position is data                           </a:t>
            </a:r>
            <a:r>
              <a:rPr lang="en-US" sz="850">
                <a:solidFill>
                  <a:srgbClr val="21D4FD"/>
                </a:solidFill>
                <a:latin typeface="Calibri" pitchFamily="34" charset="0"/>
              </a:rPr>
              <a:t>Not guaranteed — key is the lookup</a:t>
            </a:r>
          </a:p>
        </p:txBody>
      </p:sp>
      <p:sp>
        <p:nvSpPr>
          <p:cNvPr id="33" name="R2"/>
          <p:cNvSpPr/>
          <p:nvPr/>
        </p:nvSpPr>
        <p:spPr>
          <a:xfrm>
            <a:off x="548640" y="3383280"/>
            <a:ext cx="8046720" cy="274320"/>
          </a:xfrm>
          <a:prstGeom prst="rect">
            <a:avLst/>
          </a:prstGeom>
          <a:solidFill>
            <a:srgbClr val="0F1B2D"/>
          </a:solidFill>
          <a:ln/>
        </p:spPr>
        <p:txBody>
          <a:bodyPr wrap="square" lIns="137160" tIns="45720" rIns="137160" bIns="45720" rtlCol="0" anchor="ctr"/>
          <a:lstStyle/>
          <a:p>
            <a:pPr algn="l">
              <a:buNone/>
            </a:pPr>
            <a:r>
              <a:rPr lang="en-US" sz="850" b="1">
                <a:solidFill>
                  <a:srgbClr val="FFFFFF"/>
                </a:solidFill>
                <a:latin typeface="Calibri" pitchFamily="34" charset="0"/>
              </a:rPr>
              <a:t>Duplicates                                                                 </a:t>
            </a:r>
            <a:r>
              <a:rPr lang="en-US" sz="850">
                <a:solidFill>
                  <a:srgbClr val="34D399"/>
                </a:solidFill>
                <a:latin typeface="Calibri" pitchFamily="34" charset="0"/>
              </a:rPr>
              <a:t>Allowed — same value can appear twice             </a:t>
            </a:r>
            <a:r>
              <a:rPr lang="en-US" sz="850">
                <a:solidFill>
                  <a:srgbClr val="21D4FD"/>
                </a:solidFill>
                <a:latin typeface="Calibri" pitchFamily="34" charset="0"/>
              </a:rPr>
              <a:t>Keys must be unique</a:t>
            </a:r>
          </a:p>
        </p:txBody>
      </p:sp>
      <p:sp>
        <p:nvSpPr>
          <p:cNvPr id="34" name="R3"/>
          <p:cNvSpPr/>
          <p:nvPr/>
        </p:nvSpPr>
        <p:spPr>
          <a:xfrm>
            <a:off x="548640" y="3657600"/>
            <a:ext cx="8046720" cy="274320"/>
          </a:xfrm>
          <a:prstGeom prst="rect">
            <a:avLst/>
          </a:prstGeom>
          <a:solidFill>
            <a:srgbClr val="0A1628"/>
          </a:solidFill>
          <a:ln/>
        </p:spPr>
        <p:txBody>
          <a:bodyPr wrap="square" lIns="137160" tIns="45720" rIns="137160" bIns="45720" rtlCol="0" anchor="ctr"/>
          <a:lstStyle/>
          <a:p>
            <a:pPr algn="l">
              <a:buNone/>
            </a:pPr>
            <a:r>
              <a:rPr lang="en-US" sz="850" b="1">
                <a:solidFill>
                  <a:srgbClr val="FFFFFF"/>
                </a:solidFill>
                <a:latin typeface="Calibri" pitchFamily="34" charset="0"/>
              </a:rPr>
              <a:t>Access                                                                       </a:t>
            </a:r>
            <a:r>
              <a:rPr lang="en-US" sz="850">
                <a:solidFill>
                  <a:srgbClr val="34D399"/>
                </a:solidFill>
                <a:latin typeface="Calibri" pitchFamily="34" charset="0"/>
              </a:rPr>
              <a:t>By index  </a:t>
            </a:r>
            <a:r>
              <a:rPr lang="en-US" sz="850">
                <a:solidFill>
                  <a:srgbClr val="94A3B8"/>
                </a:solidFill>
                <a:latin typeface="Consolas" pitchFamily="49" charset="0"/>
              </a:rPr>
              <a:t>steps[0]</a:t>
            </a:r>
            <a:r>
              <a:rPr lang="en-US" sz="850">
                <a:solidFill>
                  <a:srgbClr val="34D399"/>
                </a:solidFill>
                <a:latin typeface="Calibri" pitchFamily="34" charset="0"/>
              </a:rPr>
              <a:t>                                                   </a:t>
            </a:r>
            <a:r>
              <a:rPr lang="en-US" sz="850">
                <a:solidFill>
                  <a:srgbClr val="21D4FD"/>
                </a:solidFill>
                <a:latin typeface="Calibri" pitchFamily="34" charset="0"/>
              </a:rPr>
              <a:t>By key  </a:t>
            </a:r>
            <a:r>
              <a:rPr lang="en-US" sz="850">
                <a:solidFill>
                  <a:srgbClr val="94A3B8"/>
                </a:solidFill>
                <a:latin typeface="Consolas" pitchFamily="49" charset="0"/>
              </a:rPr>
              <a:t>person.name</a:t>
            </a:r>
          </a:p>
        </p:txBody>
      </p:sp>
      <p:sp>
        <p:nvSpPr>
          <p:cNvPr id="35" name="R4"/>
          <p:cNvSpPr/>
          <p:nvPr/>
        </p:nvSpPr>
        <p:spPr>
          <a:xfrm>
            <a:off x="548640" y="3931920"/>
            <a:ext cx="8046720" cy="274320"/>
          </a:xfrm>
          <a:prstGeom prst="rect">
            <a:avLst/>
          </a:prstGeom>
          <a:solidFill>
            <a:srgbClr val="0F1B2D"/>
          </a:solidFill>
          <a:ln/>
        </p:spPr>
        <p:txBody>
          <a:bodyPr wrap="square" lIns="137160" tIns="45720" rIns="137160" bIns="45720" rtlCol="0" anchor="ctr"/>
          <a:lstStyle/>
          <a:p>
            <a:pPr algn="l">
              <a:buNone/>
            </a:pPr>
            <a:r>
              <a:rPr lang="en-US" sz="850" b="1">
                <a:solidFill>
                  <a:srgbClr val="FFFFFF"/>
                </a:solidFill>
                <a:latin typeface="Calibri" pitchFamily="34" charset="0"/>
              </a:rPr>
              <a:t>Use when                                                                  </a:t>
            </a:r>
            <a:r>
              <a:rPr lang="en-US" sz="850">
                <a:solidFill>
                  <a:srgbClr val="34D399"/>
                </a:solidFill>
                <a:latin typeface="Calibri" pitchFamily="34" charset="0"/>
              </a:rPr>
              <a:t>Sequence matters (steps, args, ports)          </a:t>
            </a:r>
            <a:r>
              <a:rPr lang="en-US" sz="850">
                <a:solidFill>
                  <a:srgbClr val="21D4FD"/>
                </a:solidFill>
                <a:latin typeface="Calibri" pitchFamily="34" charset="0"/>
              </a:rPr>
              <a:t>Naming matters (labels, config)</a:t>
            </a:r>
          </a:p>
        </p:txBody>
      </p:sp>
      <p:sp>
        <p:nvSpPr>
          <p:cNvPr id="99" name="Takeaway"/>
          <p:cNvSpPr/>
          <p:nvPr/>
        </p:nvSpPr>
        <p:spPr>
          <a:xfrm>
            <a:off x="548640" y="4343400"/>
            <a:ext cx="8046720" cy="457200"/>
          </a:xfrm>
          <a:prstGeom prst="roundRect">
            <a:avLst>
              <a:gd name="adj" fmla="val 8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F9E795"/>
                </a:solidFill>
                <a:latin typeface="Calibri" pitchFamily="34" charset="0"/>
              </a:rPr>
              <a:t>Why This Matters:  </a:t>
            </a:r>
            <a:r>
              <a:rPr lang="en-US" sz="900">
                <a:solidFill>
                  <a:srgbClr val="CBD5E1"/>
                </a:solidFill>
                <a:latin typeface="Calibri" pitchFamily="34" charset="0"/>
              </a:rPr>
              <a:t>Swapping two items in a list changes behavior (e.g., deploy runs before build). Swapping two keys in a dictionary is cosmetic — the result is identical.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Fundamentals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Core syntax every Kubernetes user needs to know</a:t>
            </a:r>
          </a:p>
        </p:txBody>
      </p:sp>
      <p:sp>
        <p:nvSpPr>
          <p:cNvPr id="10" name="Label1"/>
          <p:cNvSpPr/>
          <p:nvPr/>
        </p:nvSpPr>
        <p:spPr>
          <a:xfrm>
            <a:off x="548640" y="109728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Key-Value Pairs</a:t>
            </a:r>
          </a:p>
        </p:txBody>
      </p:sp>
      <p:sp>
        <p:nvSpPr>
          <p:cNvPr id="11" name="CodeBg1"/>
          <p:cNvSpPr/>
          <p:nvPr/>
        </p:nvSpPr>
        <p:spPr>
          <a:xfrm>
            <a:off x="548640" y="1371600"/>
            <a:ext cx="3886200" cy="640080"/>
          </a:xfrm>
          <a:prstGeom prst="rect">
            <a:avLst/>
          </a:prstGeom>
          <a:solidFill>
            <a:srgbClr val="0A1628"/>
          </a:solidFill>
          <a:ln>
            <a:solidFill>
              <a:srgbClr val="1A2A44"/>
            </a:solidFill>
          </a:ln>
        </p:spPr>
        <p:txBody>
          <a:bodyPr/>
          <a:lstStyle/>
          <a:p>
            <a:endParaRPr lang="en-US"/>
          </a:p>
        </p:txBody>
      </p:sp>
      <p:sp>
        <p:nvSpPr>
          <p:cNvPr id="12" name="Code1"/>
          <p:cNvSpPr/>
          <p:nvPr/>
        </p:nvSpPr>
        <p:spPr>
          <a:xfrm>
            <a:off x="685800" y="1417320"/>
            <a:ext cx="3611880" cy="54864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Simple key-value</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Pod</a:t>
            </a:r>
          </a:p>
          <a:p>
            <a:pPr algn="l">
              <a:buNone/>
            </a:pPr>
            <a:r>
              <a:rPr lang="en-US" sz="800">
                <a:solidFill>
                  <a:srgbClr val="34D399"/>
                </a:solidFill>
                <a:latin typeface="Consolas" pitchFamily="34" charset="0"/>
              </a:rPr>
              <a:t>replicas</a:t>
            </a:r>
            <a:r>
              <a:rPr lang="en-US" sz="800">
                <a:solidFill>
                  <a:srgbClr val="FFFFFF"/>
                </a:solidFill>
                <a:latin typeface="Consolas" pitchFamily="34" charset="0"/>
              </a:rPr>
              <a:t>: 3</a:t>
            </a:r>
          </a:p>
        </p:txBody>
      </p:sp>
      <p:sp>
        <p:nvSpPr>
          <p:cNvPr id="14" name="Label2"/>
          <p:cNvSpPr/>
          <p:nvPr/>
        </p:nvSpPr>
        <p:spPr>
          <a:xfrm>
            <a:off x="548640" y="210312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Lists (Sequences)</a:t>
            </a:r>
          </a:p>
        </p:txBody>
      </p:sp>
      <p:sp>
        <p:nvSpPr>
          <p:cNvPr id="15" name="CodeBg2"/>
          <p:cNvSpPr/>
          <p:nvPr/>
        </p:nvSpPr>
        <p:spPr>
          <a:xfrm>
            <a:off x="548640" y="2377440"/>
            <a:ext cx="3886200" cy="640080"/>
          </a:xfrm>
          <a:prstGeom prst="rect">
            <a:avLst/>
          </a:prstGeom>
          <a:solidFill>
            <a:srgbClr val="0A1628"/>
          </a:solidFill>
          <a:ln>
            <a:solidFill>
              <a:srgbClr val="1A2A44"/>
            </a:solidFill>
          </a:ln>
        </p:spPr>
        <p:txBody>
          <a:bodyPr/>
          <a:lstStyle/>
          <a:p>
            <a:endParaRPr lang="en-US"/>
          </a:p>
        </p:txBody>
      </p:sp>
      <p:sp>
        <p:nvSpPr>
          <p:cNvPr id="16" name="Code2"/>
          <p:cNvSpPr/>
          <p:nvPr/>
        </p:nvSpPr>
        <p:spPr>
          <a:xfrm>
            <a:off x="685800" y="2423160"/>
            <a:ext cx="3611880" cy="54864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containers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redis</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postgres</a:t>
            </a:r>
          </a:p>
        </p:txBody>
      </p:sp>
      <p:sp>
        <p:nvSpPr>
          <p:cNvPr id="20" name="Label3"/>
          <p:cNvSpPr/>
          <p:nvPr/>
        </p:nvSpPr>
        <p:spPr>
          <a:xfrm>
            <a:off x="4709160" y="109728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Nested Maps (Indentation = Structure)</a:t>
            </a:r>
          </a:p>
        </p:txBody>
      </p:sp>
      <p:sp>
        <p:nvSpPr>
          <p:cNvPr id="21" name="CodeBg3"/>
          <p:cNvSpPr/>
          <p:nvPr/>
        </p:nvSpPr>
        <p:spPr>
          <a:xfrm>
            <a:off x="4709160" y="1371600"/>
            <a:ext cx="3886200" cy="640080"/>
          </a:xfrm>
          <a:prstGeom prst="rect">
            <a:avLst/>
          </a:prstGeom>
          <a:solidFill>
            <a:srgbClr val="0A1628"/>
          </a:solidFill>
          <a:ln>
            <a:solidFill>
              <a:srgbClr val="1A2A44"/>
            </a:solidFill>
          </a:ln>
        </p:spPr>
        <p:txBody>
          <a:bodyPr/>
          <a:lstStyle/>
          <a:p>
            <a:endParaRPr lang="en-US"/>
          </a:p>
        </p:txBody>
      </p:sp>
      <p:sp>
        <p:nvSpPr>
          <p:cNvPr id="22" name="Code3"/>
          <p:cNvSpPr/>
          <p:nvPr/>
        </p:nvSpPr>
        <p:spPr>
          <a:xfrm>
            <a:off x="4846320" y="1417320"/>
            <a:ext cx="3611880" cy="54864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my-app</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web-server</a:t>
            </a:r>
          </a:p>
        </p:txBody>
      </p:sp>
      <p:sp>
        <p:nvSpPr>
          <p:cNvPr id="24" name="Label4"/>
          <p:cNvSpPr/>
          <p:nvPr/>
        </p:nvSpPr>
        <p:spPr>
          <a:xfrm>
            <a:off x="4709160" y="210312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Comments &amp; Data Types</a:t>
            </a:r>
          </a:p>
        </p:txBody>
      </p:sp>
      <p:sp>
        <p:nvSpPr>
          <p:cNvPr id="25" name="CodeBg4"/>
          <p:cNvSpPr/>
          <p:nvPr/>
        </p:nvSpPr>
        <p:spPr>
          <a:xfrm>
            <a:off x="4709160" y="2377440"/>
            <a:ext cx="3886200" cy="640080"/>
          </a:xfrm>
          <a:prstGeom prst="rect">
            <a:avLst/>
          </a:prstGeom>
          <a:solidFill>
            <a:srgbClr val="0A1628"/>
          </a:solidFill>
          <a:ln>
            <a:solidFill>
              <a:srgbClr val="1A2A44"/>
            </a:solidFill>
          </a:ln>
        </p:spPr>
        <p:txBody>
          <a:bodyPr/>
          <a:lstStyle/>
          <a:p>
            <a:endParaRPr lang="en-US"/>
          </a:p>
        </p:txBody>
      </p:sp>
      <p:sp>
        <p:nvSpPr>
          <p:cNvPr id="26" name="Code4"/>
          <p:cNvSpPr/>
          <p:nvPr/>
        </p:nvSpPr>
        <p:spPr>
          <a:xfrm>
            <a:off x="4846320" y="2423160"/>
            <a:ext cx="3611880" cy="54864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This is a comment</a:t>
            </a:r>
          </a:p>
          <a:p>
            <a:pPr algn="l">
              <a:buNone/>
            </a:pPr>
            <a:r>
              <a:rPr lang="en-US" sz="800">
                <a:solidFill>
                  <a:srgbClr val="34D399"/>
                </a:solidFill>
                <a:latin typeface="Consolas" pitchFamily="34" charset="0"/>
              </a:rPr>
              <a:t>name</a:t>
            </a:r>
            <a:r>
              <a:rPr lang="en-US" sz="800">
                <a:solidFill>
                  <a:srgbClr val="FFFFFF"/>
                </a:solidFill>
                <a:latin typeface="Consolas" pitchFamily="34" charset="0"/>
              </a:rPr>
              <a:t>: "nginx"       </a:t>
            </a:r>
            <a:r>
              <a:rPr lang="en-US" sz="800">
                <a:solidFill>
                  <a:srgbClr val="94A3B8"/>
                </a:solidFill>
                <a:latin typeface="Consolas" pitchFamily="34" charset="0"/>
              </a:rPr>
              <a:t># string</a:t>
            </a:r>
          </a:p>
          <a:p>
            <a:pPr algn="l">
              <a:buNone/>
            </a:pPr>
            <a:r>
              <a:rPr lang="en-US" sz="800">
                <a:solidFill>
                  <a:srgbClr val="34D399"/>
                </a:solidFill>
                <a:latin typeface="Consolas" pitchFamily="34" charset="0"/>
              </a:rPr>
              <a:t>replicas</a:t>
            </a:r>
            <a:r>
              <a:rPr lang="en-US" sz="800">
                <a:solidFill>
                  <a:srgbClr val="FFFFFF"/>
                </a:solidFill>
                <a:latin typeface="Consolas" pitchFamily="34" charset="0"/>
              </a:rPr>
              <a:t>: 3           </a:t>
            </a:r>
            <a:r>
              <a:rPr lang="en-US" sz="800">
                <a:solidFill>
                  <a:srgbClr val="94A3B8"/>
                </a:solidFill>
                <a:latin typeface="Consolas" pitchFamily="34" charset="0"/>
              </a:rPr>
              <a:t># integer</a:t>
            </a:r>
          </a:p>
          <a:p>
            <a:pPr algn="l">
              <a:buNone/>
            </a:pPr>
            <a:r>
              <a:rPr lang="en-US" sz="800">
                <a:solidFill>
                  <a:srgbClr val="34D399"/>
                </a:solidFill>
                <a:latin typeface="Consolas" pitchFamily="34" charset="0"/>
              </a:rPr>
              <a:t>enabled</a:t>
            </a:r>
            <a:r>
              <a:rPr lang="en-US" sz="800">
                <a:solidFill>
                  <a:srgbClr val="FFFFFF"/>
                </a:solidFill>
                <a:latin typeface="Consolas" pitchFamily="34" charset="0"/>
              </a:rPr>
              <a:t>: true        </a:t>
            </a:r>
            <a:r>
              <a:rPr lang="en-US" sz="800">
                <a:solidFill>
                  <a:srgbClr val="94A3B8"/>
                </a:solidFill>
                <a:latin typeface="Consolas" pitchFamily="34" charset="0"/>
              </a:rPr>
              <a:t># boolean</a:t>
            </a:r>
          </a:p>
        </p:txBody>
      </p:sp>
      <p:sp>
        <p:nvSpPr>
          <p:cNvPr id="30" name="Summary"/>
          <p:cNvSpPr/>
          <p:nvPr/>
        </p:nvSpPr>
        <p:spPr>
          <a:xfrm>
            <a:off x="548640" y="3200400"/>
            <a:ext cx="8046720" cy="640080"/>
          </a:xfrm>
          <a:prstGeom prst="rect">
            <a:avLst/>
          </a:prstGeom>
          <a:solidFill>
            <a:srgbClr val="0A1628"/>
          </a:solidFill>
          <a:ln>
            <a:solidFill>
              <a:srgbClr val="1A2A44"/>
            </a:solidFill>
          </a:ln>
        </p:spPr>
        <p:txBody>
          <a:bodyPr wrap="square" lIns="137160" tIns="91440" rIns="137160" bIns="91440" rtlCol="0" anchor="ctr"/>
          <a:lstStyle/>
          <a:p>
            <a:pPr algn="l">
              <a:buNone/>
            </a:pPr>
            <a:r>
              <a:rPr lang="en-US" sz="1050" b="1">
                <a:solidFill>
                  <a:srgbClr val="21D4FD"/>
                </a:solidFill>
                <a:latin typeface="Calibri" pitchFamily="34" charset="0"/>
              </a:rPr>
              <a:t>Key Rules for Kubernetes YAML</a:t>
            </a:r>
          </a:p>
          <a:p>
            <a:pPr algn="l">
              <a:buNone/>
            </a:pPr>
            <a:r>
              <a:rPr lang="en-US" sz="900">
                <a:solidFill>
                  <a:srgbClr val="CBD5E1"/>
                </a:solidFill>
                <a:latin typeface="Calibri" pitchFamily="34" charset="0"/>
              </a:rPr>
              <a:t>Use spaces (not tabs) for indentation  •  2 spaces per indent level is standard  •  Strings don't always need quotes  •  Lists use dash-space prefix  •  Every manifest needs apiVersion, kind, metadata, and spec</a:t>
            </a:r>
          </a:p>
        </p:txBody>
      </p:sp>
      <p:sp>
        <p:nvSpPr>
          <p:cNvPr id="31" name="Tip"/>
          <p:cNvSpPr/>
          <p:nvPr/>
        </p:nvSpPr>
        <p:spPr>
          <a:xfrm>
            <a:off x="548640" y="4023360"/>
            <a:ext cx="8046720" cy="274320"/>
          </a:xfrm>
          <a:prstGeom prst="rect">
            <a:avLst/>
          </a:prstGeom>
          <a:noFill/>
          <a:ln/>
        </p:spPr>
        <p:txBody>
          <a:bodyPr wrap="square" lIns="0" tIns="0" rIns="0" bIns="0" rtlCol="0" anchor="ctr"/>
          <a:lstStyle/>
          <a:p>
            <a:pPr algn="ctr">
              <a:buNone/>
            </a:pPr>
            <a:r>
              <a:rPr lang="en-US" sz="900" i="1">
                <a:solidFill>
                  <a:srgbClr val="94A3B8"/>
                </a:solidFill>
                <a:latin typeface="Calibri" pitchFamily="34" charset="0"/>
              </a:rPr>
              <a:t>YAML = "YAML Ain't Markup Language" — a human-readable data serialization format used for all Kubernetes configuration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1: Pod Manifest</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simplest Kubernetes resource — running a single container</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nginx-pod.yaml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dirty="0" err="1">
                <a:solidFill>
                  <a:srgbClr val="34D399"/>
                </a:solidFill>
                <a:latin typeface="Consolas" pitchFamily="34" charset="0"/>
              </a:rPr>
              <a:t>apiVersion</a:t>
            </a:r>
            <a:r>
              <a:rPr lang="en-US" sz="850" dirty="0">
                <a:solidFill>
                  <a:srgbClr val="FFFFFF"/>
                </a:solidFill>
                <a:latin typeface="Consolas" pitchFamily="34" charset="0"/>
              </a:rPr>
              <a:t>: v1</a:t>
            </a:r>
          </a:p>
          <a:p>
            <a:pPr algn="l">
              <a:buNone/>
            </a:pPr>
            <a:r>
              <a:rPr lang="en-US" sz="850" dirty="0">
                <a:solidFill>
                  <a:srgbClr val="34D399"/>
                </a:solidFill>
                <a:latin typeface="Consolas" pitchFamily="34" charset="0"/>
              </a:rPr>
              <a:t>kind</a:t>
            </a:r>
            <a:r>
              <a:rPr lang="en-US" sz="850" dirty="0">
                <a:solidFill>
                  <a:srgbClr val="FFFFFF"/>
                </a:solidFill>
                <a:latin typeface="Consolas" pitchFamily="34" charset="0"/>
              </a:rPr>
              <a:t>: Pod</a:t>
            </a:r>
          </a:p>
          <a:p>
            <a:pPr algn="l">
              <a:buNone/>
            </a:pPr>
            <a:r>
              <a:rPr lang="en-US" sz="850" dirty="0">
                <a:solidFill>
                  <a:srgbClr val="34D399"/>
                </a:solidFill>
                <a:latin typeface="Consolas" pitchFamily="34" charset="0"/>
              </a:rPr>
              <a:t>metadata</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name</a:t>
            </a:r>
            <a:r>
              <a:rPr lang="en-US" sz="850" dirty="0">
                <a:solidFill>
                  <a:srgbClr val="FFFFFF"/>
                </a:solidFill>
                <a:latin typeface="Consolas" pitchFamily="34" charset="0"/>
              </a:rPr>
              <a:t>: nginx-pod</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labels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app</a:t>
            </a:r>
            <a:r>
              <a:rPr lang="en-US" sz="850" dirty="0">
                <a:solidFill>
                  <a:srgbClr val="FFFFFF"/>
                </a:solidFill>
                <a:latin typeface="Consolas" pitchFamily="34" charset="0"/>
              </a:rPr>
              <a:t>: nginx</a:t>
            </a:r>
          </a:p>
          <a:p>
            <a:pPr algn="l">
              <a:buNone/>
            </a:pPr>
            <a:r>
              <a:rPr lang="en-US" sz="850" dirty="0">
                <a:solidFill>
                  <a:srgbClr val="34D399"/>
                </a:solidFill>
                <a:latin typeface="Consolas" pitchFamily="34" charset="0"/>
              </a:rPr>
              <a:t>spec</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containers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a:solidFill>
                  <a:srgbClr val="34D399"/>
                </a:solidFill>
                <a:latin typeface="Consolas" pitchFamily="34" charset="0"/>
              </a:rPr>
              <a:t>name</a:t>
            </a:r>
            <a:r>
              <a:rPr lang="en-US" sz="850" dirty="0">
                <a:solidFill>
                  <a:srgbClr val="FFFFFF"/>
                </a:solidFill>
                <a:latin typeface="Consolas" pitchFamily="34" charset="0"/>
              </a:rPr>
              <a:t>: nginx</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image</a:t>
            </a:r>
            <a:r>
              <a:rPr lang="en-US" sz="850" dirty="0">
                <a:solidFill>
                  <a:srgbClr val="FFFFFF"/>
                </a:solidFill>
                <a:latin typeface="Consolas" pitchFamily="34" charset="0"/>
              </a:rPr>
              <a:t>: nginx:1.25</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ports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err="1">
                <a:solidFill>
                  <a:srgbClr val="34D399"/>
                </a:solidFill>
                <a:latin typeface="Consolas" pitchFamily="34" charset="0"/>
              </a:rPr>
              <a:t>containerPort</a:t>
            </a:r>
            <a:r>
              <a:rPr lang="en-US" sz="850" dirty="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apiVersion &amp; kind</a:t>
            </a:r>
          </a:p>
          <a:p>
            <a:pPr algn="l">
              <a:buNone/>
            </a:pPr>
            <a:r>
              <a:rPr lang="en-US" sz="800">
                <a:solidFill>
                  <a:srgbClr val="CBD5E1"/>
                </a:solidFill>
                <a:latin typeface="Calibri" pitchFamily="34" charset="0"/>
              </a:rPr>
              <a:t>Tells K8s which API group and resource type to use. Every manifest starts here.</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metadata</a:t>
            </a:r>
          </a:p>
          <a:p>
            <a:pPr algn="l">
              <a:buNone/>
            </a:pPr>
            <a:r>
              <a:rPr lang="en-US" sz="800">
                <a:solidFill>
                  <a:srgbClr val="CBD5E1"/>
                </a:solidFill>
                <a:latin typeface="Calibri" pitchFamily="34" charset="0"/>
              </a:rPr>
              <a:t>Identifies the resource with name and labels. Labels enable selectors and grouping.</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spec.containers</a:t>
            </a:r>
          </a:p>
          <a:p>
            <a:pPr algn="l">
              <a:buNone/>
            </a:pPr>
            <a:r>
              <a:rPr lang="en-US" sz="800">
                <a:solidFill>
                  <a:srgbClr val="CBD5E1"/>
                </a:solidFill>
                <a:latin typeface="Calibri" pitchFamily="34" charset="0"/>
              </a:rPr>
              <a:t>Defines what runs inside the pod. Each container needs a name, image, and optionally ports.</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Apply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apply -f nginx-pod.yaml</a:t>
            </a:r>
          </a:p>
          <a:p>
            <a:pPr algn="l">
              <a:buNone/>
            </a:pPr>
            <a:r>
              <a:rPr lang="en-US" sz="750">
                <a:solidFill>
                  <a:srgbClr val="94A3B8"/>
                </a:solidFill>
                <a:latin typeface="Consolas" pitchFamily="34" charset="0"/>
              </a:rPr>
              <a:t>pod/nginx-pod created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2: Deployment</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Managing replicas, rolling updates, and self-healing with declarative YAML</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nginx-deployment.yaml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apps/v1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Deployment</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nginx-deployment</a:t>
            </a:r>
          </a:p>
          <a:p>
            <a:pPr algn="l">
              <a:buNone/>
            </a:pP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replicas</a:t>
            </a:r>
            <a:r>
              <a:rPr lang="en-US" sz="800">
                <a:solidFill>
                  <a:srgbClr val="FFFFFF"/>
                </a:solidFill>
                <a:latin typeface="Consolas" pitchFamily="34" charset="0"/>
              </a:rPr>
              <a:t>: 3</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selector</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matchLabels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strategy</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type</a:t>
            </a:r>
            <a:r>
              <a:rPr lang="en-US" sz="800">
                <a:solidFill>
                  <a:srgbClr val="FFFFFF"/>
                </a:solidFill>
                <a:latin typeface="Consolas" pitchFamily="34" charset="0"/>
              </a:rPr>
              <a:t>: RollingUpdate</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template</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containers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image</a:t>
            </a:r>
            <a:r>
              <a:rPr lang="en-US" sz="800">
                <a:solidFill>
                  <a:srgbClr val="FFFFFF"/>
                </a:solidFill>
                <a:latin typeface="Consolas" pitchFamily="34" charset="0"/>
              </a:rPr>
              <a:t>: nginx:1.25</a:t>
            </a:r>
          </a:p>
          <a:p>
            <a:pPr algn="l">
              <a:buNone/>
            </a:pPr>
            <a:r>
              <a:rPr lang="en-US" sz="800">
                <a:solidFill>
                  <a:srgbClr val="FFFFFF"/>
                </a:solidFill>
                <a:latin typeface="Consolas" pitchFamily="34" charset="0"/>
              </a:rPr>
              <a:t>          </a:t>
            </a:r>
            <a:r>
              <a:rPr lang="en-US" sz="800">
                <a:solidFill>
                  <a:srgbClr val="34D399"/>
                </a:solidFill>
                <a:latin typeface="Consolas" pitchFamily="34" charset="0"/>
              </a:rPr>
              <a:t>ports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containerPort</a:t>
            </a:r>
            <a:r>
              <a:rPr lang="en-US" sz="800">
                <a:solidFill>
                  <a:srgbClr val="FFFFFF"/>
                </a:solidFill>
                <a:latin typeface="Consolas" pitchFamily="34" charset="0"/>
              </a:rPr>
              <a:t>: 80</a:t>
            </a:r>
          </a:p>
        </p:txBody>
      </p:sp>
      <p:sp>
        <p:nvSpPr>
          <p:cNvPr id="20" name="Ann1"/>
          <p:cNvSpPr/>
          <p:nvPr/>
        </p:nvSpPr>
        <p:spPr>
          <a:xfrm>
            <a:off x="5394960" y="1097280"/>
            <a:ext cx="3200400" cy="59436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replicas: 3</a:t>
            </a:r>
          </a:p>
          <a:p>
            <a:pPr algn="l">
              <a:buNone/>
            </a:pPr>
            <a:r>
              <a:rPr lang="en-US" sz="800">
                <a:solidFill>
                  <a:srgbClr val="CBD5E1"/>
                </a:solidFill>
                <a:latin typeface="Calibri" pitchFamily="34" charset="0"/>
              </a:rPr>
              <a:t>Run 3 identical pod copies. K8s auto-restarts any that fail to maintain this count.</a:t>
            </a:r>
          </a:p>
        </p:txBody>
      </p:sp>
      <p:sp>
        <p:nvSpPr>
          <p:cNvPr id="21" name="Ann2"/>
          <p:cNvSpPr/>
          <p:nvPr/>
        </p:nvSpPr>
        <p:spPr>
          <a:xfrm>
            <a:off x="5394960" y="1783080"/>
            <a:ext cx="3200400" cy="59436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selector + matchLabels</a:t>
            </a:r>
          </a:p>
          <a:p>
            <a:pPr algn="l">
              <a:buNone/>
            </a:pPr>
            <a:r>
              <a:rPr lang="en-US" sz="800">
                <a:solidFill>
                  <a:srgbClr val="CBD5E1"/>
                </a:solidFill>
                <a:latin typeface="Calibri" pitchFamily="34" charset="0"/>
              </a:rPr>
              <a:t>Links the Deployment to its pods. Must match template.metadata.labels exactly.</a:t>
            </a:r>
          </a:p>
        </p:txBody>
      </p:sp>
      <p:sp>
        <p:nvSpPr>
          <p:cNvPr id="22" name="Ann3"/>
          <p:cNvSpPr/>
          <p:nvPr/>
        </p:nvSpPr>
        <p:spPr>
          <a:xfrm>
            <a:off x="5394960" y="2468880"/>
            <a:ext cx="3200400" cy="59436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strategy: RollingUpdate</a:t>
            </a:r>
          </a:p>
          <a:p>
            <a:pPr algn="l">
              <a:buNone/>
            </a:pPr>
            <a:r>
              <a:rPr lang="en-US" sz="800">
                <a:solidFill>
                  <a:srgbClr val="CBD5E1"/>
                </a:solidFill>
                <a:latin typeface="Calibri" pitchFamily="34" charset="0"/>
              </a:rPr>
              <a:t>Zero-downtime updates — replaces pods one at a time. Alternative: Recreate (all at once).</a:t>
            </a:r>
          </a:p>
        </p:txBody>
      </p:sp>
      <p:sp>
        <p:nvSpPr>
          <p:cNvPr id="23" name="Ann4"/>
          <p:cNvSpPr/>
          <p:nvPr/>
        </p:nvSpPr>
        <p:spPr>
          <a:xfrm>
            <a:off x="5394960" y="3154680"/>
            <a:ext cx="3200400" cy="594360"/>
          </a:xfrm>
          <a:prstGeom prst="roundRect">
            <a:avLst>
              <a:gd name="adj" fmla="val 8000"/>
            </a:avLst>
          </a:prstGeom>
          <a:solidFill>
            <a:srgbClr val="0A1628"/>
          </a:solidFill>
          <a:ln>
            <a:solidFill>
              <a:srgbClr val="F9E795"/>
            </a:solidFill>
          </a:ln>
        </p:spPr>
        <p:txBody>
          <a:bodyPr wrap="square" lIns="91440" tIns="45720" rIns="91440" bIns="45720" rtlCol="0" anchor="ctr"/>
          <a:lstStyle/>
          <a:p>
            <a:pPr algn="l">
              <a:buNone/>
            </a:pPr>
            <a:r>
              <a:rPr lang="en-US" sz="900" b="1">
                <a:solidFill>
                  <a:srgbClr val="F9E795"/>
                </a:solidFill>
                <a:latin typeface="Calibri" pitchFamily="34" charset="0"/>
              </a:rPr>
              <a:t>template (Pod spec)</a:t>
            </a:r>
          </a:p>
          <a:p>
            <a:pPr algn="l">
              <a:buNone/>
            </a:pPr>
            <a:r>
              <a:rPr lang="en-US" sz="800">
                <a:solidFill>
                  <a:srgbClr val="CBD5E1"/>
                </a:solidFill>
                <a:latin typeface="Calibri" pitchFamily="34" charset="0"/>
              </a:rPr>
              <a:t>A pod blueprint nested inside the Deployment. Same structure as a standalone Pod manifest.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3: Service &amp; ConfigMap</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Exposing pods to the network and externalizing configuration</a:t>
            </a:r>
          </a:p>
        </p:txBody>
      </p:sp>
      <p:sp>
        <p:nvSpPr>
          <p:cNvPr id="8" name="SvcLabel"/>
          <p:cNvSpPr/>
          <p:nvPr/>
        </p:nvSpPr>
        <p:spPr>
          <a:xfrm>
            <a:off x="548640" y="1051560"/>
            <a:ext cx="41148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Service — Expose Pods to Traffic</a:t>
            </a:r>
          </a:p>
        </p:txBody>
      </p:sp>
      <p:sp>
        <p:nvSpPr>
          <p:cNvPr id="10" name="SvcBg"/>
          <p:cNvSpPr/>
          <p:nvPr/>
        </p:nvSpPr>
        <p:spPr>
          <a:xfrm>
            <a:off x="548640" y="1325880"/>
            <a:ext cx="4114800" cy="2286000"/>
          </a:xfrm>
          <a:prstGeom prst="rect">
            <a:avLst/>
          </a:prstGeom>
          <a:solidFill>
            <a:srgbClr val="0A1628"/>
          </a:solidFill>
          <a:ln>
            <a:solidFill>
              <a:srgbClr val="1A2A44"/>
            </a:solidFill>
          </a:ln>
        </p:spPr>
        <p:txBody>
          <a:bodyPr/>
          <a:lstStyle/>
          <a:p>
            <a:endParaRPr lang="en-US"/>
          </a:p>
        </p:txBody>
      </p:sp>
      <p:sp>
        <p:nvSpPr>
          <p:cNvPr id="11" name="SvcCode"/>
          <p:cNvSpPr/>
          <p:nvPr/>
        </p:nvSpPr>
        <p:spPr>
          <a:xfrm>
            <a:off x="685800" y="1371600"/>
            <a:ext cx="3840480" cy="219456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nginx-service.yaml</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Service</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nginx-service</a:t>
            </a:r>
          </a:p>
          <a:p>
            <a:pPr algn="l">
              <a:buNone/>
            </a:pP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type</a:t>
            </a:r>
            <a:r>
              <a:rPr lang="en-US" sz="800">
                <a:solidFill>
                  <a:srgbClr val="FFFFFF"/>
                </a:solidFill>
                <a:latin typeface="Consolas" pitchFamily="34" charset="0"/>
              </a:rPr>
              <a:t>: NodePort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selector</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ports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port</a:t>
            </a:r>
            <a:r>
              <a:rPr lang="en-US" sz="800">
                <a:solidFill>
                  <a:srgbClr val="FFFFFF"/>
                </a:solidFill>
                <a:latin typeface="Consolas" pitchFamily="34" charset="0"/>
              </a:rPr>
              <a:t>: 80</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targetPort</a:t>
            </a:r>
            <a:r>
              <a:rPr lang="en-US" sz="800">
                <a:solidFill>
                  <a:srgbClr val="FFFFFF"/>
                </a:solidFill>
                <a:latin typeface="Consolas" pitchFamily="34" charset="0"/>
              </a:rPr>
              <a:t>: 80</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nodePort</a:t>
            </a:r>
            <a:r>
              <a:rPr lang="en-US" sz="800">
                <a:solidFill>
                  <a:srgbClr val="FFFFFF"/>
                </a:solidFill>
                <a:latin typeface="Consolas" pitchFamily="34" charset="0"/>
              </a:rPr>
              <a:t>: 30080</a:t>
            </a:r>
          </a:p>
        </p:txBody>
      </p:sp>
      <p:sp>
        <p:nvSpPr>
          <p:cNvPr id="18" name="CmLabel"/>
          <p:cNvSpPr/>
          <p:nvPr/>
        </p:nvSpPr>
        <p:spPr>
          <a:xfrm>
            <a:off x="4937760" y="1051560"/>
            <a:ext cx="36576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ConfigMap — Externalize Config</a:t>
            </a:r>
          </a:p>
        </p:txBody>
      </p:sp>
      <p:sp>
        <p:nvSpPr>
          <p:cNvPr id="19" name="CmBg"/>
          <p:cNvSpPr/>
          <p:nvPr/>
        </p:nvSpPr>
        <p:spPr>
          <a:xfrm>
            <a:off x="4937760" y="1325880"/>
            <a:ext cx="3657600" cy="2286000"/>
          </a:xfrm>
          <a:prstGeom prst="rect">
            <a:avLst/>
          </a:prstGeom>
          <a:solidFill>
            <a:srgbClr val="0A1628"/>
          </a:solidFill>
          <a:ln>
            <a:solidFill>
              <a:srgbClr val="1A2A44"/>
            </a:solidFill>
          </a:ln>
        </p:spPr>
        <p:txBody>
          <a:bodyPr/>
          <a:lstStyle/>
          <a:p>
            <a:endParaRPr lang="en-US"/>
          </a:p>
        </p:txBody>
      </p:sp>
      <p:sp>
        <p:nvSpPr>
          <p:cNvPr id="20" name="CmCode"/>
          <p:cNvSpPr/>
          <p:nvPr/>
        </p:nvSpPr>
        <p:spPr>
          <a:xfrm>
            <a:off x="5074920" y="1371600"/>
            <a:ext cx="3383280" cy="219456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app-config.yaml</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ConfigMap</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app-config</a:t>
            </a:r>
          </a:p>
          <a:p>
            <a:pPr algn="l">
              <a:buNone/>
            </a:pPr>
            <a:r>
              <a:rPr lang="en-US" sz="800">
                <a:solidFill>
                  <a:srgbClr val="34D399"/>
                </a:solidFill>
                <a:latin typeface="Consolas" pitchFamily="34" charset="0"/>
              </a:rPr>
              <a:t>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DATABASE_HOST</a:t>
            </a:r>
            <a:r>
              <a:rPr lang="en-US" sz="800">
                <a:solidFill>
                  <a:srgbClr val="FFFFFF"/>
                </a:solidFill>
                <a:latin typeface="Consolas" pitchFamily="34" charset="0"/>
              </a:rPr>
              <a:t>: "db.example.com"</a:t>
            </a:r>
          </a:p>
          <a:p>
            <a:pPr algn="l">
              <a:buNone/>
            </a:pPr>
            <a:r>
              <a:rPr lang="en-US" sz="800">
                <a:solidFill>
                  <a:srgbClr val="FFFFFF"/>
                </a:solidFill>
                <a:latin typeface="Consolas" pitchFamily="34" charset="0"/>
              </a:rPr>
              <a:t>  </a:t>
            </a:r>
            <a:r>
              <a:rPr lang="en-US" sz="800">
                <a:solidFill>
                  <a:srgbClr val="34D399"/>
                </a:solidFill>
                <a:latin typeface="Consolas" pitchFamily="34" charset="0"/>
              </a:rPr>
              <a:t>DATABASE_PORT</a:t>
            </a:r>
            <a:r>
              <a:rPr lang="en-US" sz="800">
                <a:solidFill>
                  <a:srgbClr val="FFFFFF"/>
                </a:solidFill>
                <a:latin typeface="Consolas" pitchFamily="34" charset="0"/>
              </a:rPr>
              <a:t>: "5432"</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LOG_LEVEL</a:t>
            </a:r>
            <a:r>
              <a:rPr lang="en-US" sz="800">
                <a:solidFill>
                  <a:srgbClr val="FFFFFF"/>
                </a:solidFill>
                <a:latin typeface="Consolas" pitchFamily="34" charset="0"/>
              </a:rPr>
              <a:t>: "info"</a:t>
            </a:r>
          </a:p>
          <a:p>
            <a:pPr algn="l">
              <a:buNone/>
            </a:pPr>
            <a:r>
              <a:rPr lang="en-US" sz="800">
                <a:solidFill>
                  <a:srgbClr val="94A3B8"/>
                </a:solidFill>
                <a:latin typeface="Consolas" pitchFamily="34" charset="0"/>
              </a:rPr>
              <a:t>---</a:t>
            </a:r>
          </a:p>
          <a:p>
            <a:pPr algn="l">
              <a:buNone/>
            </a:pPr>
            <a:r>
              <a:rPr lang="en-US" sz="800">
                <a:solidFill>
                  <a:srgbClr val="94A3B8"/>
                </a:solidFill>
                <a:latin typeface="Consolas" pitchFamily="34" charset="0"/>
              </a:rPr>
              <a:t># Reference in a Pod:</a:t>
            </a:r>
          </a:p>
          <a:p>
            <a:pPr algn="l">
              <a:buNone/>
            </a:pPr>
            <a:r>
              <a:rPr lang="en-US" sz="800">
                <a:solidFill>
                  <a:srgbClr val="34D399"/>
                </a:solidFill>
                <a:latin typeface="Consolas" pitchFamily="34" charset="0"/>
              </a:rPr>
              <a:t>envFrom</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configMapRef</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app-config</a:t>
            </a:r>
          </a:p>
        </p:txBody>
      </p:sp>
      <p:sp>
        <p:nvSpPr>
          <p:cNvPr id="30" name="Summary"/>
          <p:cNvSpPr/>
          <p:nvPr/>
        </p:nvSpPr>
        <p:spPr>
          <a:xfrm>
            <a:off x="548640" y="3749040"/>
            <a:ext cx="8046720" cy="594360"/>
          </a:xfrm>
          <a:prstGeom prst="rect">
            <a:avLst/>
          </a:prstGeom>
          <a:solidFill>
            <a:srgbClr val="0A1628"/>
          </a:solidFill>
          <a:ln>
            <a:solidFill>
              <a:srgbClr val="1A2A44"/>
            </a:solidFill>
          </a:ln>
        </p:spPr>
        <p:txBody>
          <a:bodyPr wrap="square" lIns="137160" tIns="68580" rIns="137160" bIns="68580" rtlCol="0" anchor="ctr"/>
          <a:lstStyle/>
          <a:p>
            <a:pPr algn="l">
              <a:buNone/>
            </a:pPr>
            <a:r>
              <a:rPr lang="en-US" sz="900" b="1">
                <a:solidFill>
                  <a:srgbClr val="21D4FD"/>
                </a:solidFill>
                <a:latin typeface="Calibri" pitchFamily="34" charset="0"/>
              </a:rPr>
              <a:t>Service Types:  </a:t>
            </a:r>
            <a:r>
              <a:rPr lang="en-US" sz="850">
                <a:solidFill>
                  <a:srgbClr val="CBD5E1"/>
                </a:solidFill>
                <a:latin typeface="Calibri" pitchFamily="34" charset="0"/>
              </a:rPr>
              <a:t>ClusterIP (internal only, default)  •  NodePort (external via node port 30000-32767)  •  LoadBalancer (cloud LB provisioned automatically)</a:t>
            </a:r>
          </a:p>
          <a:p>
            <a:pPr algn="l">
              <a:buNone/>
            </a:pPr>
            <a:r>
              <a:rPr lang="en-US" sz="900" b="1">
                <a:solidFill>
                  <a:srgbClr val="21D4FD"/>
                </a:solidFill>
                <a:latin typeface="Calibri" pitchFamily="34" charset="0"/>
              </a:rPr>
              <a:t>ConfigMap:  </a:t>
            </a:r>
            <a:r>
              <a:rPr lang="en-US" sz="850">
                <a:solidFill>
                  <a:srgbClr val="CBD5E1"/>
                </a:solidFill>
                <a:latin typeface="Calibri" pitchFamily="34" charset="0"/>
              </a:rPr>
              <a:t>Stores non-sensitive config as key-value pairs. Inject via envFrom or volume mounts. Use Secrets for passwords.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914400"/>
          </a:xfrm>
        </p:spPr>
        <p:txBody>
          <a:bodyPr anchor="ctr"/>
          <a:lstStyle/>
          <a:p>
            <a:pPr algn="ctr"/>
            <a:r>
              <a:rPr lang="en-US" sz="4000" b="1">
                <a:solidFill>
                  <a:srgbClr val="FFFFFF"/>
                </a:solidFill>
                <a:latin typeface="Trebuchet MS" pitchFamily="34" charset="0"/>
              </a:rPr>
              <a:t>Understanding Pods</a:t>
            </a:r>
          </a:p>
        </p:txBody>
      </p:sp>
      <p:sp>
        <p:nvSpPr>
          <p:cNvPr id="3" name="Subtitle 2"/>
          <p:cNvSpPr>
            <a:spLocks noGrp="1"/>
          </p:cNvSpPr>
          <p:nvPr>
            <p:ph type="subTitle" idx="1"/>
          </p:nvPr>
        </p:nvSpPr>
        <p:spPr>
          <a:xfrm>
            <a:off x="685800" y="2514600"/>
            <a:ext cx="7772400" cy="548640"/>
          </a:xfrm>
        </p:spPr>
        <p:txBody>
          <a:bodyPr anchor="t"/>
          <a:lstStyle/>
          <a:p>
            <a:pPr algn="ctr"/>
            <a:r>
              <a:rPr lang="en-US" sz="2000">
                <a:solidFill>
                  <a:srgbClr val="21D4FD"/>
                </a:solidFill>
                <a:latin typeface="Calibri" pitchFamily="34" charset="0"/>
              </a:rPr>
              <a:t>The Fundamental Building Block of Kubernetes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Why Pods, Not Just Containers?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abstraction layer that makes Kubernetes powerful</a:t>
            </a:r>
          </a:p>
        </p:txBody>
      </p:sp>
      <p:sp>
        <p:nvSpPr>
          <p:cNvPr id="10" name="LeftHeader"/>
          <p:cNvSpPr/>
          <p:nvPr/>
        </p:nvSpPr>
        <p:spPr>
          <a:xfrm>
            <a:off x="548640" y="1097280"/>
            <a:ext cx="3886200" cy="274320"/>
          </a:xfrm>
          <a:prstGeom prst="rect">
            <a:avLst/>
          </a:prstGeom>
          <a:noFill/>
          <a:ln/>
        </p:spPr>
        <p:txBody>
          <a:bodyPr wrap="square" lIns="0" tIns="0" rIns="0" bIns="0" rtlCol="0" anchor="b"/>
          <a:lstStyle/>
          <a:p>
            <a:pPr algn="l">
              <a:buNone/>
            </a:pPr>
            <a:r>
              <a:rPr lang="en-US" sz="1200" b="1">
                <a:solidFill>
                  <a:srgbClr val="F96167"/>
                </a:solidFill>
                <a:latin typeface="Calibri" pitchFamily="34" charset="0"/>
              </a:rPr>
              <a:t>✗  Running Containers Directly</a:t>
            </a:r>
          </a:p>
        </p:txBody>
      </p:sp>
      <p:sp>
        <p:nvSpPr>
          <p:cNvPr id="11" name="LeftBox"/>
          <p:cNvSpPr/>
          <p:nvPr/>
        </p:nvSpPr>
        <p:spPr>
          <a:xfrm>
            <a:off x="548640" y="1417320"/>
            <a:ext cx="3886200" cy="2743200"/>
          </a:xfrm>
          <a:prstGeom prst="roundRect">
            <a:avLst>
              <a:gd name="adj" fmla="val 5000"/>
            </a:avLst>
          </a:prstGeom>
          <a:solidFill>
            <a:srgbClr val="0A1628"/>
          </a:solidFill>
          <a:ln>
            <a:solidFill>
              <a:srgbClr val="F96167"/>
            </a:solidFill>
          </a:ln>
        </p:spPr>
        <p:txBody>
          <a:bodyPr wrap="square" lIns="137160" tIns="91440" rIns="137160" bIns="91440" rtlCol="0" anchor="t"/>
          <a:lstStyle/>
          <a:p>
            <a:pPr algn="l">
              <a:buNone/>
            </a:pPr>
            <a:r>
              <a:rPr lang="en-US" sz="1000" b="1">
                <a:solidFill>
                  <a:srgbClr val="F96167"/>
                </a:solidFill>
                <a:latin typeface="Calibri" pitchFamily="34" charset="0"/>
              </a:rPr>
              <a:t>No shared networking</a:t>
            </a:r>
          </a:p>
          <a:p>
            <a:pPr algn="l">
              <a:buNone/>
            </a:pPr>
            <a:r>
              <a:rPr lang="en-US" sz="900">
                <a:solidFill>
                  <a:srgbClr val="CBD5E1"/>
                </a:solidFill>
                <a:latin typeface="Calibri" pitchFamily="34" charset="0"/>
              </a:rPr>
              <a:t>Containers need separate IPs and explicit port mapping to talk to each other</a:t>
            </a:r>
          </a:p>
          <a:p>
            <a:pPr algn="l">
              <a:buNone/>
            </a:pPr>
            <a:endParaRPr lang="en-US" sz="600"/>
          </a:p>
          <a:p>
            <a:pPr algn="l">
              <a:buNone/>
            </a:pPr>
            <a:r>
              <a:rPr lang="en-US" sz="1000" b="1">
                <a:solidFill>
                  <a:srgbClr val="F96167"/>
                </a:solidFill>
                <a:latin typeface="Calibri" pitchFamily="34" charset="0"/>
              </a:rPr>
              <a:t>No co-scheduling guarantee</a:t>
            </a:r>
          </a:p>
          <a:p>
            <a:pPr algn="l">
              <a:buNone/>
            </a:pPr>
            <a:r>
              <a:rPr lang="en-US" sz="900">
                <a:solidFill>
                  <a:srgbClr val="CBD5E1"/>
                </a:solidFill>
                <a:latin typeface="Calibri" pitchFamily="34" charset="0"/>
              </a:rPr>
              <a:t>Related containers may land on different nodes, adding latency and complexity</a:t>
            </a:r>
          </a:p>
          <a:p>
            <a:pPr algn="l">
              <a:buNone/>
            </a:pPr>
            <a:endParaRPr lang="en-US" sz="600"/>
          </a:p>
          <a:p>
            <a:pPr algn="l">
              <a:buNone/>
            </a:pPr>
            <a:r>
              <a:rPr lang="en-US" sz="1000" b="1">
                <a:solidFill>
                  <a:srgbClr val="F96167"/>
                </a:solidFill>
                <a:latin typeface="Calibri" pitchFamily="34" charset="0"/>
              </a:rPr>
              <a:t>No shared storage</a:t>
            </a:r>
          </a:p>
          <a:p>
            <a:pPr algn="l">
              <a:buNone/>
            </a:pPr>
            <a:r>
              <a:rPr lang="en-US" sz="900">
                <a:solidFill>
                  <a:srgbClr val="CBD5E1"/>
                </a:solidFill>
                <a:latin typeface="Calibri" pitchFamily="34" charset="0"/>
              </a:rPr>
              <a:t>Each container has isolated filesystem; sharing files requires external mounts</a:t>
            </a:r>
          </a:p>
          <a:p>
            <a:pPr algn="l">
              <a:buNone/>
            </a:pPr>
            <a:endParaRPr lang="en-US" sz="600"/>
          </a:p>
          <a:p>
            <a:pPr algn="l">
              <a:buNone/>
            </a:pPr>
            <a:r>
              <a:rPr lang="en-US" sz="1000" b="1">
                <a:solidFill>
                  <a:srgbClr val="F96167"/>
                </a:solidFill>
                <a:latin typeface="Calibri" pitchFamily="34" charset="0"/>
              </a:rPr>
              <a:t>No lifecycle coordination</a:t>
            </a:r>
          </a:p>
          <a:p>
            <a:pPr algn="l">
              <a:buNone/>
            </a:pPr>
            <a:r>
              <a:rPr lang="en-US" sz="900">
                <a:solidFill>
                  <a:srgbClr val="CBD5E1"/>
                </a:solidFill>
                <a:latin typeface="Calibri" pitchFamily="34" charset="0"/>
              </a:rPr>
              <a:t>Starting, stopping, and restarting tightly coupled containers must be managed manually</a:t>
            </a:r>
          </a:p>
        </p:txBody>
      </p:sp>
      <p:sp>
        <p:nvSpPr>
          <p:cNvPr id="20" name="RightHeader"/>
          <p:cNvSpPr/>
          <p:nvPr/>
        </p:nvSpPr>
        <p:spPr>
          <a:xfrm>
            <a:off x="4709160" y="10972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  Pod Abstraction Solves This</a:t>
            </a:r>
          </a:p>
        </p:txBody>
      </p:sp>
      <p:sp>
        <p:nvSpPr>
          <p:cNvPr id="21" name="RightBox"/>
          <p:cNvSpPr/>
          <p:nvPr/>
        </p:nvSpPr>
        <p:spPr>
          <a:xfrm>
            <a:off x="4709160" y="1417320"/>
            <a:ext cx="3886200" cy="2743200"/>
          </a:xfrm>
          <a:prstGeom prst="roundRect">
            <a:avLst>
              <a:gd name="adj" fmla="val 5000"/>
            </a:avLst>
          </a:prstGeom>
          <a:solidFill>
            <a:srgbClr val="0A1628"/>
          </a:solidFill>
          <a:ln>
            <a:solidFill>
              <a:srgbClr val="34D399"/>
            </a:solidFill>
          </a:ln>
        </p:spPr>
        <p:txBody>
          <a:bodyPr wrap="square" lIns="137160" tIns="91440" rIns="137160" bIns="91440" rtlCol="0" anchor="t"/>
          <a:lstStyle/>
          <a:p>
            <a:pPr algn="l">
              <a:buNone/>
            </a:pPr>
            <a:r>
              <a:rPr lang="en-US" sz="1000" b="1">
                <a:solidFill>
                  <a:srgbClr val="34D399"/>
                </a:solidFill>
                <a:latin typeface="Calibri" pitchFamily="34" charset="0"/>
              </a:rPr>
              <a:t>Shared network namespace</a:t>
            </a:r>
          </a:p>
          <a:p>
            <a:pPr algn="l">
              <a:buNone/>
            </a:pPr>
            <a:r>
              <a:rPr lang="en-US" sz="900">
                <a:solidFill>
                  <a:srgbClr val="CBD5E1"/>
                </a:solidFill>
                <a:latin typeface="Calibri" pitchFamily="34" charset="0"/>
              </a:rPr>
              <a:t>All containers in a pod share one IP and can reach each other via localhost</a:t>
            </a:r>
          </a:p>
          <a:p>
            <a:pPr algn="l">
              <a:buNone/>
            </a:pPr>
            <a:endParaRPr lang="en-US" sz="600"/>
          </a:p>
          <a:p>
            <a:pPr algn="l">
              <a:buNone/>
            </a:pPr>
            <a:r>
              <a:rPr lang="en-US" sz="1000" b="1">
                <a:solidFill>
                  <a:srgbClr val="34D399"/>
                </a:solidFill>
                <a:latin typeface="Calibri" pitchFamily="34" charset="0"/>
              </a:rPr>
              <a:t>Co-located on same node</a:t>
            </a:r>
          </a:p>
          <a:p>
            <a:pPr algn="l">
              <a:buNone/>
            </a:pPr>
            <a:r>
              <a:rPr lang="en-US" sz="900">
                <a:solidFill>
                  <a:srgbClr val="CBD5E1"/>
                </a:solidFill>
                <a:latin typeface="Calibri" pitchFamily="34" charset="0"/>
              </a:rPr>
              <a:t>K8s scheduler guarantees all containers in a pod run on the same worker node</a:t>
            </a:r>
          </a:p>
          <a:p>
            <a:pPr algn="l">
              <a:buNone/>
            </a:pPr>
            <a:endParaRPr lang="en-US" sz="600"/>
          </a:p>
          <a:p>
            <a:pPr algn="l">
              <a:buNone/>
            </a:pPr>
            <a:r>
              <a:rPr lang="en-US" sz="1000" b="1">
                <a:solidFill>
                  <a:srgbClr val="34D399"/>
                </a:solidFill>
                <a:latin typeface="Calibri" pitchFamily="34" charset="0"/>
              </a:rPr>
              <a:t>Shared volumes</a:t>
            </a:r>
          </a:p>
          <a:p>
            <a:pPr algn="l">
              <a:buNone/>
            </a:pPr>
            <a:r>
              <a:rPr lang="en-US" sz="900">
                <a:solidFill>
                  <a:srgbClr val="CBD5E1"/>
                </a:solidFill>
                <a:latin typeface="Calibri" pitchFamily="34" charset="0"/>
              </a:rPr>
              <a:t>Containers within a pod can mount the same volume for seamless file sharing</a:t>
            </a:r>
          </a:p>
          <a:p>
            <a:pPr algn="l">
              <a:buNone/>
            </a:pPr>
            <a:endParaRPr lang="en-US" sz="600"/>
          </a:p>
          <a:p>
            <a:pPr algn="l">
              <a:buNone/>
            </a:pPr>
            <a:r>
              <a:rPr lang="en-US" sz="1000" b="1">
                <a:solidFill>
                  <a:srgbClr val="34D399"/>
                </a:solidFill>
                <a:latin typeface="Calibri" pitchFamily="34" charset="0"/>
              </a:rPr>
              <a:t>Unified lifecycle</a:t>
            </a:r>
          </a:p>
          <a:p>
            <a:pPr algn="l">
              <a:buNone/>
            </a:pPr>
            <a:r>
              <a:rPr lang="en-US" sz="900">
                <a:solidFill>
                  <a:srgbClr val="CBD5E1"/>
                </a:solidFill>
                <a:latin typeface="Calibri" pitchFamily="34" charset="0"/>
              </a:rPr>
              <a:t>All containers start, stop, and restart together as a single atomic unit</a:t>
            </a:r>
          </a:p>
        </p:txBody>
      </p:sp>
      <p:sp>
        <p:nvSpPr>
          <p:cNvPr id="30" name="Insight"/>
          <p:cNvSpPr/>
          <p:nvPr/>
        </p:nvSpPr>
        <p:spPr>
          <a:xfrm>
            <a:off x="548640" y="4297680"/>
            <a:ext cx="8046720" cy="365760"/>
          </a:xfrm>
          <a:prstGeom prst="rect">
            <a:avLst/>
          </a:prstGeom>
          <a:noFill/>
          <a:ln/>
        </p:spPr>
        <p:txBody>
          <a:bodyPr wrap="square" lIns="0" tIns="0" rIns="0" bIns="0" rtlCol="0" anchor="ctr"/>
          <a:lstStyle/>
          <a:p>
            <a:pPr algn="ctr">
              <a:buNone/>
            </a:pPr>
            <a:r>
              <a:rPr lang="en-US" sz="1000" i="1">
                <a:solidFill>
                  <a:srgbClr val="94A3B8"/>
                </a:solidFill>
                <a:latin typeface="Calibri" pitchFamily="34" charset="0"/>
              </a:rPr>
              <a:t>Think of a Pod as a "logical host" — like a small VM that groups tightly coupled containers with shared resources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Anatomy of a Pod</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What lives inside a Pod and how containers share resources</a:t>
            </a:r>
          </a:p>
        </p:txBody>
      </p:sp>
      <p:sp>
        <p:nvSpPr>
          <p:cNvPr id="100" name="PodBorder"/>
          <p:cNvSpPr/>
          <p:nvPr/>
        </p:nvSpPr>
        <p:spPr>
          <a:xfrm>
            <a:off x="914400" y="1143000"/>
            <a:ext cx="7315200" cy="3200400"/>
          </a:xfrm>
          <a:prstGeom prst="roundRect">
            <a:avLst>
              <a:gd name="adj" fmla="val 5000"/>
            </a:avLst>
          </a:prstGeom>
          <a:solidFill>
            <a:srgbClr val="0A1628"/>
          </a:solidFill>
          <a:ln w="25400">
            <a:solidFill>
              <a:srgbClr val="21D4FD"/>
            </a:solidFill>
            <a:prstDash val="dash"/>
          </a:ln>
        </p:spPr>
        <p:txBody>
          <a:bodyPr/>
          <a:lstStyle/>
          <a:p>
            <a:endParaRPr lang="en-US"/>
          </a:p>
        </p:txBody>
      </p:sp>
      <p:sp>
        <p:nvSpPr>
          <p:cNvPr id="101" name="PodLabel"/>
          <p:cNvSpPr/>
          <p:nvPr/>
        </p:nvSpPr>
        <p:spPr>
          <a:xfrm>
            <a:off x="1005840" y="1188720"/>
            <a:ext cx="1828800" cy="274320"/>
          </a:xfrm>
          <a:prstGeom prst="rect">
            <a:avLst/>
          </a:prstGeom>
          <a:noFill/>
          <a:ln/>
        </p:spPr>
        <p:txBody>
          <a:bodyPr wrap="square" lIns="0" tIns="0" rIns="0" bIns="0" rtlCol="0" anchor="ctr"/>
          <a:lstStyle/>
          <a:p>
            <a:pPr algn="l">
              <a:buNone/>
            </a:pPr>
            <a:r>
              <a:rPr lang="en-US" sz="1400" b="1">
                <a:solidFill>
                  <a:srgbClr val="21D4FD"/>
                </a:solidFill>
                <a:latin typeface="Trebuchet MS" pitchFamily="34" charset="0"/>
              </a:rPr>
              <a:t>Pod  (10.244.1.5)</a:t>
            </a:r>
          </a:p>
        </p:txBody>
      </p:sp>
      <p:sp>
        <p:nvSpPr>
          <p:cNvPr id="110" name="C1"/>
          <p:cNvSpPr/>
          <p:nvPr/>
        </p:nvSpPr>
        <p:spPr>
          <a:xfrm>
            <a:off x="1143000" y="1600200"/>
            <a:ext cx="2286000" cy="1143000"/>
          </a:xfrm>
          <a:prstGeom prst="roundRect">
            <a:avLst>
              <a:gd name="adj" fmla="val 8000"/>
            </a:avLst>
          </a:prstGeom>
          <a:solidFill>
            <a:srgbClr val="162D50"/>
          </a:solidFill>
          <a:ln w="19050">
            <a:solidFill>
              <a:srgbClr val="34D399"/>
            </a:solidFill>
          </a:ln>
        </p:spPr>
        <p:txBody>
          <a:bodyPr wrap="square" lIns="91440" tIns="68580" rIns="91440" bIns="68580" rtlCol="0" anchor="ctr"/>
          <a:lstStyle/>
          <a:p>
            <a:pPr algn="ctr">
              <a:buNone/>
            </a:pPr>
            <a:r>
              <a:rPr lang="en-US" sz="1100" b="1">
                <a:solidFill>
                  <a:srgbClr val="34D399"/>
                </a:solidFill>
                <a:latin typeface="Calibri" pitchFamily="34" charset="0"/>
              </a:rPr>
              <a:t>Container 1</a:t>
            </a:r>
          </a:p>
          <a:p>
            <a:pPr algn="ctr">
              <a:buNone/>
            </a:pPr>
            <a:r>
              <a:rPr lang="en-US" sz="900">
                <a:solidFill>
                  <a:srgbClr val="CBD5E1"/>
                </a:solidFill>
                <a:latin typeface="Calibri" pitchFamily="34" charset="0"/>
              </a:rPr>
              <a:t>nginx:1.25</a:t>
            </a:r>
          </a:p>
          <a:p>
            <a:pPr algn="ctr">
              <a:buNone/>
            </a:pPr>
            <a:r>
              <a:rPr lang="en-US" sz="800">
                <a:solidFill>
                  <a:srgbClr val="94A3B8"/>
                </a:solidFill>
                <a:latin typeface="Calibri" pitchFamily="34" charset="0"/>
              </a:rPr>
              <a:t>Port 80</a:t>
            </a:r>
          </a:p>
        </p:txBody>
      </p:sp>
      <p:sp>
        <p:nvSpPr>
          <p:cNvPr id="111" name="C2"/>
          <p:cNvSpPr/>
          <p:nvPr/>
        </p:nvSpPr>
        <p:spPr>
          <a:xfrm>
            <a:off x="3657600" y="1600200"/>
            <a:ext cx="2286000" cy="1143000"/>
          </a:xfrm>
          <a:prstGeom prst="roundRect">
            <a:avLst>
              <a:gd name="adj" fmla="val 8000"/>
            </a:avLst>
          </a:prstGeom>
          <a:solidFill>
            <a:srgbClr val="162D50"/>
          </a:solidFill>
          <a:ln w="19050">
            <a:solidFill>
              <a:srgbClr val="F9E795"/>
            </a:solidFill>
          </a:ln>
        </p:spPr>
        <p:txBody>
          <a:bodyPr wrap="square" lIns="91440" tIns="68580" rIns="91440" bIns="68580" rtlCol="0" anchor="ctr"/>
          <a:lstStyle/>
          <a:p>
            <a:pPr algn="ctr">
              <a:buNone/>
            </a:pPr>
            <a:r>
              <a:rPr lang="en-US" sz="1100" b="1">
                <a:solidFill>
                  <a:srgbClr val="F9E795"/>
                </a:solidFill>
                <a:latin typeface="Calibri" pitchFamily="34" charset="0"/>
              </a:rPr>
              <a:t>Container 2 (Sidecar)</a:t>
            </a:r>
          </a:p>
          <a:p>
            <a:pPr algn="ctr">
              <a:buNone/>
            </a:pPr>
            <a:r>
              <a:rPr lang="en-US" sz="900">
                <a:solidFill>
                  <a:srgbClr val="CBD5E1"/>
                </a:solidFill>
                <a:latin typeface="Calibri" pitchFamily="34" charset="0"/>
              </a:rPr>
              <a:t>fluentd:latest</a:t>
            </a:r>
          </a:p>
          <a:p>
            <a:pPr algn="ctr">
              <a:buNone/>
            </a:pPr>
            <a:r>
              <a:rPr lang="en-US" sz="800">
                <a:solidFill>
                  <a:srgbClr val="94A3B8"/>
                </a:solidFill>
                <a:latin typeface="Calibri" pitchFamily="34" charset="0"/>
              </a:rPr>
              <a:t>Log collector</a:t>
            </a:r>
          </a:p>
        </p:txBody>
      </p:sp>
      <p:sp>
        <p:nvSpPr>
          <p:cNvPr id="120" name="NetLabel"/>
          <p:cNvSpPr/>
          <p:nvPr/>
        </p:nvSpPr>
        <p:spPr>
          <a:xfrm>
            <a:off x="6172200" y="1600200"/>
            <a:ext cx="1828800" cy="502920"/>
          </a:xfrm>
          <a:prstGeom prst="roundRect">
            <a:avLst>
              <a:gd name="adj" fmla="val 10000"/>
            </a:avLst>
          </a:prstGeom>
          <a:solidFill>
            <a:srgbClr val="162D50"/>
          </a:solidFill>
          <a:ln w="12700">
            <a:solidFill>
              <a:srgbClr val="21D4FD"/>
            </a:solidFill>
          </a:ln>
        </p:spPr>
        <p:txBody>
          <a:bodyPr wrap="square" lIns="68580" tIns="34290" rIns="68580" bIns="34290" rtlCol="0" anchor="ctr"/>
          <a:lstStyle/>
          <a:p>
            <a:pPr algn="ctr">
              <a:buNone/>
            </a:pPr>
            <a:r>
              <a:rPr lang="en-US" sz="900" b="1">
                <a:solidFill>
                  <a:srgbClr val="21D4FD"/>
                </a:solidFill>
                <a:latin typeface="Calibri" pitchFamily="34" charset="0"/>
              </a:rPr>
              <a:t>Shared Network</a:t>
            </a:r>
          </a:p>
          <a:p>
            <a:pPr algn="ctr">
              <a:buNone/>
            </a:pPr>
            <a:r>
              <a:rPr lang="en-US" sz="750">
                <a:solidFill>
                  <a:srgbClr val="CBD5E1"/>
                </a:solidFill>
                <a:latin typeface="Calibri" pitchFamily="34" charset="0"/>
              </a:rPr>
              <a:t>Same IP, localhost</a:t>
            </a:r>
          </a:p>
        </p:txBody>
      </p:sp>
      <p:sp>
        <p:nvSpPr>
          <p:cNvPr id="121" name="VolLabel"/>
          <p:cNvSpPr/>
          <p:nvPr/>
        </p:nvSpPr>
        <p:spPr>
          <a:xfrm>
            <a:off x="6172200" y="2194560"/>
            <a:ext cx="1828800" cy="502920"/>
          </a:xfrm>
          <a:prstGeom prst="roundRect">
            <a:avLst>
              <a:gd name="adj" fmla="val 10000"/>
            </a:avLst>
          </a:prstGeom>
          <a:solidFill>
            <a:srgbClr val="162D50"/>
          </a:solidFill>
          <a:ln w="12700">
            <a:solidFill>
              <a:srgbClr val="34D399"/>
            </a:solidFill>
          </a:ln>
        </p:spPr>
        <p:txBody>
          <a:bodyPr wrap="square" lIns="68580" tIns="34290" rIns="68580" bIns="34290" rtlCol="0" anchor="ctr"/>
          <a:lstStyle/>
          <a:p>
            <a:pPr algn="ctr">
              <a:buNone/>
            </a:pPr>
            <a:r>
              <a:rPr lang="en-US" sz="900" b="1">
                <a:solidFill>
                  <a:srgbClr val="34D399"/>
                </a:solidFill>
                <a:latin typeface="Calibri" pitchFamily="34" charset="0"/>
              </a:rPr>
              <a:t>Shared Volumes</a:t>
            </a:r>
          </a:p>
          <a:p>
            <a:pPr algn="ctr">
              <a:buNone/>
            </a:pPr>
            <a:r>
              <a:rPr lang="en-US" sz="750">
                <a:solidFill>
                  <a:srgbClr val="CBD5E1"/>
                </a:solidFill>
                <a:latin typeface="Calibri" pitchFamily="34" charset="0"/>
              </a:rPr>
              <a:t>emptyDir, PVC</a:t>
            </a:r>
          </a:p>
        </p:txBody>
      </p:sp>
      <p:sp>
        <p:nvSpPr>
          <p:cNvPr id="130" name="VolBar"/>
          <p:cNvSpPr/>
          <p:nvPr/>
        </p:nvSpPr>
        <p:spPr>
          <a:xfrm>
            <a:off x="1143000" y="2926080"/>
            <a:ext cx="4800600" cy="365760"/>
          </a:xfrm>
          <a:prstGeom prst="roundRect">
            <a:avLst>
              <a:gd name="adj" fmla="val 15000"/>
            </a:avLst>
          </a:prstGeom>
          <a:solidFill>
            <a:srgbClr val="1A3A5C"/>
          </a:solidFill>
          <a:ln w="12700">
            <a:solidFill>
              <a:srgbClr val="34D399"/>
            </a:solidFill>
            <a:prstDash val="dash"/>
          </a:ln>
        </p:spPr>
        <p:txBody>
          <a:bodyPr wrap="square" lIns="91440" tIns="34290" rIns="91440" bIns="34290" rtlCol="0" anchor="ctr"/>
          <a:lstStyle/>
          <a:p>
            <a:pPr algn="ctr">
              <a:buNone/>
            </a:pPr>
            <a:r>
              <a:rPr lang="en-US" sz="900">
                <a:solidFill>
                  <a:srgbClr val="34D399"/>
                </a:solidFill>
                <a:latin typeface="Calibri" pitchFamily="34" charset="0"/>
              </a:rPr>
              <a:t>Volume: /var/log  (mounted by both containers)</a:t>
            </a:r>
          </a:p>
        </p:txBody>
      </p:sp>
      <p:sp>
        <p:nvSpPr>
          <p:cNvPr id="131" name="Pause"/>
          <p:cNvSpPr/>
          <p:nvPr/>
        </p:nvSpPr>
        <p:spPr>
          <a:xfrm>
            <a:off x="1143000" y="3429000"/>
            <a:ext cx="4800600" cy="365760"/>
          </a:xfrm>
          <a:prstGeom prst="roundRect">
            <a:avLst>
              <a:gd name="adj" fmla="val 15000"/>
            </a:avLst>
          </a:prstGeom>
          <a:solidFill>
            <a:srgbClr val="1A3A5C"/>
          </a:solidFill>
          <a:ln w="12700">
            <a:solidFill>
              <a:srgbClr val="94A3B8"/>
            </a:solidFill>
            <a:prstDash val="dot"/>
          </a:ln>
        </p:spPr>
        <p:txBody>
          <a:bodyPr wrap="square" lIns="91440" tIns="34290" rIns="91440" bIns="34290" rtlCol="0" anchor="ctr"/>
          <a:lstStyle/>
          <a:p>
            <a:pPr algn="ctr">
              <a:buNone/>
            </a:pPr>
            <a:r>
              <a:rPr lang="en-US" sz="900">
                <a:solidFill>
                  <a:srgbClr val="94A3B8"/>
                </a:solidFill>
                <a:latin typeface="Calibri" pitchFamily="34" charset="0"/>
              </a:rPr>
              <a:t>Pause Container  (hidden infra container that holds the network namespace)</a:t>
            </a:r>
          </a:p>
        </p:txBody>
      </p:sp>
      <p:sp>
        <p:nvSpPr>
          <p:cNvPr id="122" name="IPCLabel"/>
          <p:cNvSpPr/>
          <p:nvPr/>
        </p:nvSpPr>
        <p:spPr>
          <a:xfrm>
            <a:off x="6172200" y="2788920"/>
            <a:ext cx="1828800" cy="502920"/>
          </a:xfrm>
          <a:prstGeom prst="roundRect">
            <a:avLst>
              <a:gd name="adj" fmla="val 10000"/>
            </a:avLst>
          </a:prstGeom>
          <a:solidFill>
            <a:srgbClr val="162D50"/>
          </a:solidFill>
          <a:ln w="12700">
            <a:solidFill>
              <a:srgbClr val="F9E795"/>
            </a:solidFill>
          </a:ln>
        </p:spPr>
        <p:txBody>
          <a:bodyPr wrap="square" lIns="68580" tIns="34290" rIns="68580" bIns="34290" rtlCol="0" anchor="ctr"/>
          <a:lstStyle/>
          <a:p>
            <a:pPr algn="ctr">
              <a:buNone/>
            </a:pPr>
            <a:r>
              <a:rPr lang="en-US" sz="900" b="1">
                <a:solidFill>
                  <a:srgbClr val="F9E795"/>
                </a:solidFill>
                <a:latin typeface="Calibri" pitchFamily="34" charset="0"/>
              </a:rPr>
              <a:t>Shared IPC</a:t>
            </a:r>
          </a:p>
          <a:p>
            <a:pPr algn="ctr">
              <a:buNone/>
            </a:pPr>
            <a:r>
              <a:rPr lang="en-US" sz="750">
                <a:solidFill>
                  <a:srgbClr val="CBD5E1"/>
                </a:solidFill>
                <a:latin typeface="Calibri" pitchFamily="34" charset="0"/>
              </a:rPr>
              <a:t>Inter-process comms</a:t>
            </a:r>
          </a:p>
        </p:txBody>
      </p:sp>
      <p:sp>
        <p:nvSpPr>
          <p:cNvPr id="140" name="Note"/>
          <p:cNvSpPr/>
          <p:nvPr/>
        </p:nvSpPr>
        <p:spPr>
          <a:xfrm>
            <a:off x="548640" y="4480560"/>
            <a:ext cx="8046720" cy="274320"/>
          </a:xfrm>
          <a:prstGeom prst="rect">
            <a:avLst/>
          </a:prstGeom>
          <a:noFill/>
          <a:ln/>
        </p:spPr>
        <p:txBody>
          <a:bodyPr wrap="square" lIns="0" tIns="0" rIns="0" bIns="0" rtlCol="0" anchor="ctr"/>
          <a:lstStyle/>
          <a:p>
            <a:pPr algn="ctr">
              <a:buNone/>
            </a:pPr>
            <a:r>
              <a:rPr lang="en-US" sz="900" i="1">
                <a:solidFill>
                  <a:srgbClr val="94A3B8"/>
                </a:solidFill>
                <a:latin typeface="Calibri" pitchFamily="34" charset="0"/>
              </a:rPr>
              <a:t>Diagram: Containers within a Pod share the same network namespace (IP), storage volumes, and IPC namespace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One Container Per Pod — The Standard</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In real-world production, ~95% of pods run a single container</a:t>
            </a:r>
          </a:p>
        </p:txBody>
      </p:sp>
      <p:sp>
        <p:nvSpPr>
          <p:cNvPr id="10" name="StatBox"/>
          <p:cNvSpPr/>
          <p:nvPr/>
        </p:nvSpPr>
        <p:spPr>
          <a:xfrm>
            <a:off x="548640" y="1097280"/>
            <a:ext cx="2743200" cy="1371600"/>
          </a:xfrm>
          <a:prstGeom prst="roundRect">
            <a:avLst>
              <a:gd name="adj" fmla="val 8000"/>
            </a:avLst>
          </a:prstGeom>
          <a:solidFill>
            <a:srgbClr val="0A1628"/>
          </a:solidFill>
          <a:ln w="19050">
            <a:solidFill>
              <a:srgbClr val="21D4FD"/>
            </a:solidFill>
          </a:ln>
        </p:spPr>
        <p:txBody>
          <a:bodyPr wrap="square" lIns="91440" tIns="68580" rIns="91440" bIns="68580" rtlCol="0" anchor="ctr"/>
          <a:lstStyle/>
          <a:p>
            <a:pPr algn="ctr">
              <a:buNone/>
            </a:pPr>
            <a:r>
              <a:rPr lang="en-US" sz="4800" b="1">
                <a:solidFill>
                  <a:srgbClr val="21D4FD"/>
                </a:solidFill>
                <a:latin typeface="Trebuchet MS" pitchFamily="34" charset="0"/>
              </a:rPr>
              <a:t>1 : 1</a:t>
            </a:r>
          </a:p>
          <a:p>
            <a:pPr algn="ctr">
              <a:buNone/>
            </a:pPr>
            <a:r>
              <a:rPr lang="en-US" sz="1100">
                <a:solidFill>
                  <a:srgbClr val="CBD5E1"/>
                </a:solidFill>
                <a:latin typeface="Calibri" pitchFamily="34" charset="0"/>
              </a:rPr>
              <a:t>Container-to-Pod ratio</a:t>
            </a:r>
          </a:p>
          <a:p>
            <a:pPr algn="ctr">
              <a:buNone/>
            </a:pPr>
            <a:r>
              <a:rPr lang="en-US" sz="900">
                <a:solidFill>
                  <a:srgbClr val="94A3B8"/>
                </a:solidFill>
                <a:latin typeface="Calibri" pitchFamily="34" charset="0"/>
              </a:rPr>
              <a:t>Most common pattern</a:t>
            </a:r>
          </a:p>
        </p:txBody>
      </p:sp>
      <p:sp>
        <p:nvSpPr>
          <p:cNvPr id="11" name="DiagPodBorder"/>
          <p:cNvSpPr/>
          <p:nvPr/>
        </p:nvSpPr>
        <p:spPr>
          <a:xfrm>
            <a:off x="548640" y="2651760"/>
            <a:ext cx="2743200" cy="1005840"/>
          </a:xfrm>
          <a:prstGeom prst="roundRect">
            <a:avLst>
              <a:gd name="adj" fmla="val 8000"/>
            </a:avLst>
          </a:prstGeom>
          <a:solidFill>
            <a:srgbClr val="0A1628"/>
          </a:solidFill>
          <a:ln w="19050">
            <a:solidFill>
              <a:srgbClr val="21D4FD"/>
            </a:solidFill>
            <a:prstDash val="dash"/>
          </a:ln>
        </p:spPr>
        <p:txBody>
          <a:bodyPr/>
          <a:lstStyle/>
          <a:p>
            <a:endParaRPr lang="en-US"/>
          </a:p>
        </p:txBody>
      </p:sp>
      <p:sp>
        <p:nvSpPr>
          <p:cNvPr id="12" name="DiagPodLbl"/>
          <p:cNvSpPr/>
          <p:nvPr/>
        </p:nvSpPr>
        <p:spPr>
          <a:xfrm>
            <a:off x="640080" y="2697480"/>
            <a:ext cx="914400" cy="182880"/>
          </a:xfrm>
          <a:prstGeom prst="rect">
            <a:avLst/>
          </a:prstGeom>
          <a:noFill/>
          <a:ln/>
        </p:spPr>
        <p:txBody>
          <a:bodyPr wrap="square" lIns="0" tIns="0" rIns="0" bIns="0" rtlCol="0" anchor="ctr"/>
          <a:lstStyle/>
          <a:p>
            <a:pPr algn="l">
              <a:buNone/>
            </a:pPr>
            <a:r>
              <a:rPr lang="en-US" sz="800" b="1">
                <a:solidFill>
                  <a:srgbClr val="21D4FD"/>
                </a:solidFill>
                <a:latin typeface="Calibri" pitchFamily="34" charset="0"/>
              </a:rPr>
              <a:t>Pod</a:t>
            </a:r>
          </a:p>
        </p:txBody>
      </p:sp>
      <p:sp>
        <p:nvSpPr>
          <p:cNvPr id="13" name="DiagContainer"/>
          <p:cNvSpPr/>
          <p:nvPr/>
        </p:nvSpPr>
        <p:spPr>
          <a:xfrm>
            <a:off x="868680" y="2926080"/>
            <a:ext cx="2103120" cy="548640"/>
          </a:xfrm>
          <a:prstGeom prst="roundRect">
            <a:avLst>
              <a:gd name="adj" fmla="val 10000"/>
            </a:avLst>
          </a:prstGeom>
          <a:solidFill>
            <a:srgbClr val="162D50"/>
          </a:solidFill>
          <a:ln w="15875">
            <a:solidFill>
              <a:srgbClr val="34D399"/>
            </a:solidFill>
          </a:ln>
        </p:spPr>
        <p:txBody>
          <a:bodyPr wrap="square" lIns="68580" tIns="34290" rIns="68580" bIns="34290" rtlCol="0" anchor="ctr"/>
          <a:lstStyle/>
          <a:p>
            <a:pPr algn="ctr">
              <a:buNone/>
            </a:pPr>
            <a:r>
              <a:rPr lang="en-US" sz="1000" b="1">
                <a:solidFill>
                  <a:srgbClr val="34D399"/>
                </a:solidFill>
                <a:latin typeface="Calibri" pitchFamily="34" charset="0"/>
              </a:rPr>
              <a:t>App Container</a:t>
            </a:r>
          </a:p>
          <a:p>
            <a:pPr algn="ctr">
              <a:buNone/>
            </a:pPr>
            <a:r>
              <a:rPr lang="en-US" sz="800">
                <a:solidFill>
                  <a:srgbClr val="CBD5E1"/>
                </a:solidFill>
                <a:latin typeface="Calibri" pitchFamily="34" charset="0"/>
              </a:rPr>
              <a:t>my-api:v2.1</a:t>
            </a:r>
          </a:p>
        </p:txBody>
      </p:sp>
      <p:sp>
        <p:nvSpPr>
          <p:cNvPr id="20" name="WhenLabel"/>
          <p:cNvSpPr/>
          <p:nvPr/>
        </p:nvSpPr>
        <p:spPr>
          <a:xfrm>
            <a:off x="3566160" y="1097280"/>
            <a:ext cx="5029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When to Stick to Single Container</a:t>
            </a:r>
          </a:p>
        </p:txBody>
      </p:sp>
      <p:sp>
        <p:nvSpPr>
          <p:cNvPr id="21" name="WhenBox"/>
          <p:cNvSpPr/>
          <p:nvPr/>
        </p:nvSpPr>
        <p:spPr>
          <a:xfrm>
            <a:off x="3566160" y="1417320"/>
            <a:ext cx="5029200" cy="2560320"/>
          </a:xfrm>
          <a:prstGeom prst="roundRect">
            <a:avLst>
              <a:gd name="adj" fmla="val 5000"/>
            </a:avLst>
          </a:prstGeom>
          <a:solidFill>
            <a:srgbClr val="0A1628"/>
          </a:solidFill>
          <a:ln>
            <a:solidFill>
              <a:srgbClr val="1A2A44"/>
            </a:solidFill>
          </a:ln>
        </p:spPr>
        <p:txBody>
          <a:bodyPr wrap="square" lIns="137160" tIns="91440" rIns="137160" bIns="91440" rtlCol="0" anchor="t"/>
          <a:lstStyle/>
          <a:p>
            <a:pPr algn="l">
              <a:buNone/>
            </a:pPr>
            <a:r>
              <a:rPr lang="en-US" sz="1050" b="1">
                <a:solidFill>
                  <a:srgbClr val="FFFFFF"/>
                </a:solidFill>
                <a:latin typeface="Calibri" pitchFamily="34" charset="0"/>
              </a:rPr>
              <a:t>Microservice with independent scaling</a:t>
            </a:r>
          </a:p>
          <a:p>
            <a:pPr algn="l">
              <a:buNone/>
            </a:pPr>
            <a:r>
              <a:rPr lang="en-US" sz="900">
                <a:solidFill>
                  <a:srgbClr val="CBD5E1"/>
                </a:solidFill>
                <a:latin typeface="Calibri" pitchFamily="34" charset="0"/>
              </a:rPr>
              <a:t>Each service scales on its own — scale the API separately from the database</a:t>
            </a:r>
          </a:p>
          <a:p>
            <a:pPr algn="l">
              <a:buNone/>
            </a:pPr>
            <a:endParaRPr lang="en-US" sz="500"/>
          </a:p>
          <a:p>
            <a:pPr algn="l">
              <a:buNone/>
            </a:pPr>
            <a:r>
              <a:rPr lang="en-US" sz="1050" b="1">
                <a:solidFill>
                  <a:srgbClr val="FFFFFF"/>
                </a:solidFill>
                <a:latin typeface="Calibri" pitchFamily="34" charset="0"/>
              </a:rPr>
              <a:t>Different release cycles</a:t>
            </a:r>
          </a:p>
          <a:p>
            <a:pPr algn="l">
              <a:buNone/>
            </a:pPr>
            <a:r>
              <a:rPr lang="en-US" sz="900">
                <a:solidFill>
                  <a:srgbClr val="CBD5E1"/>
                </a:solidFill>
                <a:latin typeface="Calibri" pitchFamily="34" charset="0"/>
              </a:rPr>
              <a:t>Deploy frontend and backend independently without restarting the other</a:t>
            </a:r>
          </a:p>
          <a:p>
            <a:pPr algn="l">
              <a:buNone/>
            </a:pPr>
            <a:endParaRPr lang="en-US" sz="500"/>
          </a:p>
          <a:p>
            <a:pPr algn="l">
              <a:buNone/>
            </a:pPr>
            <a:r>
              <a:rPr lang="en-US" sz="1050" b="1">
                <a:solidFill>
                  <a:srgbClr val="FFFFFF"/>
                </a:solidFill>
                <a:latin typeface="Calibri" pitchFamily="34" charset="0"/>
              </a:rPr>
              <a:t>Different resource profiles</a:t>
            </a:r>
          </a:p>
          <a:p>
            <a:pPr algn="l">
              <a:buNone/>
            </a:pPr>
            <a:r>
              <a:rPr lang="en-US" sz="900">
                <a:solidFill>
                  <a:srgbClr val="CBD5E1"/>
                </a:solidFill>
                <a:latin typeface="Calibri" pitchFamily="34" charset="0"/>
              </a:rPr>
              <a:t>CPU-heavy vs memory-heavy containers need different node types and limits</a:t>
            </a:r>
          </a:p>
          <a:p>
            <a:pPr algn="l">
              <a:buNone/>
            </a:pPr>
            <a:endParaRPr lang="en-US" sz="500"/>
          </a:p>
          <a:p>
            <a:pPr algn="l">
              <a:buNone/>
            </a:pPr>
            <a:r>
              <a:rPr lang="en-US" sz="1050" b="1">
                <a:solidFill>
                  <a:srgbClr val="FFFFFF"/>
                </a:solidFill>
                <a:latin typeface="Calibri" pitchFamily="34" charset="0"/>
              </a:rPr>
              <a:t>Independent failure domains</a:t>
            </a:r>
          </a:p>
          <a:p>
            <a:pPr algn="l">
              <a:buNone/>
            </a:pPr>
            <a:r>
              <a:rPr lang="en-US" sz="900">
                <a:solidFill>
                  <a:srgbClr val="CBD5E1"/>
                </a:solidFill>
                <a:latin typeface="Calibri" pitchFamily="34" charset="0"/>
              </a:rPr>
              <a:t>A crash in one service shouldn't take down another — keep blast radius small</a:t>
            </a:r>
          </a:p>
          <a:p>
            <a:pPr algn="l">
              <a:buNone/>
            </a:pPr>
            <a:endParaRPr lang="en-US" sz="500"/>
          </a:p>
          <a:p>
            <a:pPr algn="l">
              <a:buNone/>
            </a:pPr>
            <a:r>
              <a:rPr lang="en-US" sz="1050" b="1">
                <a:solidFill>
                  <a:srgbClr val="FFFFFF"/>
                </a:solidFill>
                <a:latin typeface="Calibri" pitchFamily="34" charset="0"/>
              </a:rPr>
              <a:t>Simpler debugging and monitoring</a:t>
            </a:r>
          </a:p>
          <a:p>
            <a:pPr algn="l">
              <a:buNone/>
            </a:pPr>
            <a:r>
              <a:rPr lang="en-US" sz="900">
                <a:solidFill>
                  <a:srgbClr val="CBD5E1"/>
                </a:solidFill>
                <a:latin typeface="Calibri" pitchFamily="34" charset="0"/>
              </a:rPr>
              <a:t>Logs, metrics, and health checks are cleaner when each pod has one responsibility</a:t>
            </a:r>
          </a:p>
        </p:txBody>
      </p:sp>
      <p:sp>
        <p:nvSpPr>
          <p:cNvPr id="30" name="Rule"/>
          <p:cNvSpPr/>
          <p:nvPr/>
        </p:nvSpPr>
        <p:spPr>
          <a:xfrm>
            <a:off x="548640" y="4114800"/>
            <a:ext cx="8046720" cy="457200"/>
          </a:xfrm>
          <a:prstGeom prst="roundRect">
            <a:avLst>
              <a:gd name="adj" fmla="val 10000"/>
            </a:avLst>
          </a:prstGeom>
          <a:solidFill>
            <a:srgbClr val="0A1628"/>
          </a:solidFill>
          <a:ln>
            <a:solidFill>
              <a:srgbClr val="34D399"/>
            </a:solidFill>
          </a:ln>
        </p:spPr>
        <p:txBody>
          <a:bodyPr wrap="square" lIns="137160" tIns="45720" rIns="137160" bIns="45720" rtlCol="0" anchor="ctr"/>
          <a:lstStyle/>
          <a:p>
            <a:pPr algn="ctr">
              <a:buNone/>
            </a:pPr>
            <a:r>
              <a:rPr lang="en-US" sz="1050" b="1">
                <a:solidFill>
                  <a:srgbClr val="34D399"/>
                </a:solidFill>
                <a:latin typeface="Calibri" pitchFamily="34" charset="0"/>
              </a:rPr>
              <a:t>Rule of Thumb:  </a:t>
            </a:r>
            <a:r>
              <a:rPr lang="en-US" sz="1000">
                <a:solidFill>
                  <a:srgbClr val="CBD5E1"/>
                </a:solidFill>
                <a:latin typeface="Calibri" pitchFamily="34" charset="0"/>
              </a:rPr>
              <a:t>If you can answer "Can this container be deployed and scaled independently?" with Yes → give it its own Pod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Multi-Container Pod Patterns</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When and why to run 2–3 containers in a single Pod</a:t>
            </a:r>
          </a:p>
        </p:txBody>
      </p:sp>
      <p:sp>
        <p:nvSpPr>
          <p:cNvPr id="10" name="Card1"/>
          <p:cNvSpPr/>
          <p:nvPr/>
        </p:nvSpPr>
        <p:spPr>
          <a:xfrm>
            <a:off x="548640" y="1097280"/>
            <a:ext cx="2560320" cy="2651760"/>
          </a:xfrm>
          <a:prstGeom prst="roundRect">
            <a:avLst>
              <a:gd name="adj" fmla="val 5000"/>
            </a:avLst>
          </a:prstGeom>
          <a:solidFill>
            <a:srgbClr val="0A1628"/>
          </a:solidFill>
          <a:ln w="19050">
            <a:solidFill>
              <a:srgbClr val="21D4FD"/>
            </a:solidFill>
          </a:ln>
        </p:spPr>
        <p:txBody>
          <a:bodyPr wrap="square" lIns="114300" tIns="91440" rIns="114300" bIns="91440" rtlCol="0" anchor="t"/>
          <a:lstStyle/>
          <a:p>
            <a:pPr algn="ctr">
              <a:buNone/>
            </a:pPr>
            <a:r>
              <a:rPr lang="en-US" sz="1400" b="1">
                <a:solidFill>
                  <a:srgbClr val="21D4FD"/>
                </a:solidFill>
                <a:latin typeface="Trebuchet MS" pitchFamily="34" charset="0"/>
              </a:rPr>
              <a:t>Sidecar</a:t>
            </a:r>
          </a:p>
          <a:p>
            <a:pPr algn="l">
              <a:buNone/>
            </a:pPr>
            <a:endParaRPr lang="en-US" sz="400"/>
          </a:p>
          <a:p>
            <a:pPr algn="l">
              <a:buNone/>
            </a:pPr>
            <a:r>
              <a:rPr lang="en-US" sz="900">
                <a:solidFill>
                  <a:srgbClr val="CBD5E1"/>
                </a:solidFill>
                <a:latin typeface="Calibri" pitchFamily="34" charset="0"/>
              </a:rPr>
              <a:t>Helper container that extends or enhances the main app without modifying it.</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Fluentd / Filebeat log shipper</a:t>
            </a:r>
          </a:p>
          <a:p>
            <a:pPr algn="l">
              <a:buNone/>
            </a:pPr>
            <a:r>
              <a:rPr lang="en-US" sz="850">
                <a:solidFill>
                  <a:srgbClr val="CBD5E1"/>
                </a:solidFill>
                <a:latin typeface="Calibri" pitchFamily="34" charset="0"/>
              </a:rPr>
              <a:t>• Istio Envoy proxy</a:t>
            </a:r>
          </a:p>
          <a:p>
            <a:pPr algn="l">
              <a:buNone/>
            </a:pPr>
            <a:r>
              <a:rPr lang="en-US" sz="850">
                <a:solidFill>
                  <a:srgbClr val="CBD5E1"/>
                </a:solidFill>
                <a:latin typeface="Calibri" pitchFamily="34" charset="0"/>
              </a:rPr>
              <a:t>• Vault agent for secrets</a:t>
            </a:r>
          </a:p>
          <a:p>
            <a:pPr algn="l">
              <a:buNone/>
            </a:pPr>
            <a:endParaRPr lang="en-US" sz="500"/>
          </a:p>
          <a:p>
            <a:pPr algn="ctr">
              <a:buNone/>
            </a:pPr>
            <a:r>
              <a:rPr lang="en-US" sz="800" i="1">
                <a:solidFill>
                  <a:srgbClr val="94A3B8"/>
                </a:solidFill>
                <a:latin typeface="Calibri" pitchFamily="34" charset="0"/>
              </a:rPr>
              <a:t>Diagram: [App] → writes logs → [Sidecar] → ships to logging backend</a:t>
            </a:r>
          </a:p>
        </p:txBody>
      </p:sp>
      <p:sp>
        <p:nvSpPr>
          <p:cNvPr id="20" name="Card2"/>
          <p:cNvSpPr/>
          <p:nvPr/>
        </p:nvSpPr>
        <p:spPr>
          <a:xfrm>
            <a:off x="3291840" y="1097280"/>
            <a:ext cx="2560320" cy="2651760"/>
          </a:xfrm>
          <a:prstGeom prst="roundRect">
            <a:avLst>
              <a:gd name="adj" fmla="val 5000"/>
            </a:avLst>
          </a:prstGeom>
          <a:solidFill>
            <a:srgbClr val="0A1628"/>
          </a:solidFill>
          <a:ln w="19050">
            <a:solidFill>
              <a:srgbClr val="34D399"/>
            </a:solidFill>
          </a:ln>
        </p:spPr>
        <p:txBody>
          <a:bodyPr wrap="square" lIns="114300" tIns="91440" rIns="114300" bIns="91440" rtlCol="0" anchor="t"/>
          <a:lstStyle/>
          <a:p>
            <a:pPr algn="ctr">
              <a:buNone/>
            </a:pPr>
            <a:r>
              <a:rPr lang="en-US" sz="1400" b="1">
                <a:solidFill>
                  <a:srgbClr val="34D399"/>
                </a:solidFill>
                <a:latin typeface="Trebuchet MS" pitchFamily="34" charset="0"/>
              </a:rPr>
              <a:t>Ambassador</a:t>
            </a:r>
          </a:p>
          <a:p>
            <a:pPr algn="l">
              <a:buNone/>
            </a:pPr>
            <a:endParaRPr lang="en-US" sz="400"/>
          </a:p>
          <a:p>
            <a:pPr algn="l">
              <a:buNone/>
            </a:pPr>
            <a:r>
              <a:rPr lang="en-US" sz="900">
                <a:solidFill>
                  <a:srgbClr val="CBD5E1"/>
                </a:solidFill>
                <a:latin typeface="Calibri" pitchFamily="34" charset="0"/>
              </a:rPr>
              <a:t>Proxy container that simplifies how the app connects to external services.</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Redis proxy for sharding</a:t>
            </a:r>
          </a:p>
          <a:p>
            <a:pPr algn="l">
              <a:buNone/>
            </a:pPr>
            <a:r>
              <a:rPr lang="en-US" sz="850">
                <a:solidFill>
                  <a:srgbClr val="CBD5E1"/>
                </a:solidFill>
                <a:latin typeface="Calibri" pitchFamily="34" charset="0"/>
              </a:rPr>
              <a:t>• Cloud SQL Auth Proxy</a:t>
            </a:r>
          </a:p>
          <a:p>
            <a:pPr algn="l">
              <a:buNone/>
            </a:pPr>
            <a:r>
              <a:rPr lang="en-US" sz="850">
                <a:solidFill>
                  <a:srgbClr val="CBD5E1"/>
                </a:solidFill>
                <a:latin typeface="Calibri" pitchFamily="34" charset="0"/>
              </a:rPr>
              <a:t>• AWS App Mesh proxy</a:t>
            </a:r>
          </a:p>
          <a:p>
            <a:pPr algn="l">
              <a:buNone/>
            </a:pPr>
            <a:endParaRPr lang="en-US" sz="500"/>
          </a:p>
          <a:p>
            <a:pPr algn="ctr">
              <a:buNone/>
            </a:pPr>
            <a:r>
              <a:rPr lang="en-US" sz="800" i="1">
                <a:solidFill>
                  <a:srgbClr val="94A3B8"/>
                </a:solidFill>
                <a:latin typeface="Calibri" pitchFamily="34" charset="0"/>
              </a:rPr>
              <a:t>Diagram: [App] → localhost:3306 → [Proxy] → Cloud DB</a:t>
            </a:r>
          </a:p>
        </p:txBody>
      </p:sp>
      <p:sp>
        <p:nvSpPr>
          <p:cNvPr id="30" name="Card3"/>
          <p:cNvSpPr/>
          <p:nvPr/>
        </p:nvSpPr>
        <p:spPr>
          <a:xfrm>
            <a:off x="6035040" y="1097280"/>
            <a:ext cx="2560320" cy="2651760"/>
          </a:xfrm>
          <a:prstGeom prst="roundRect">
            <a:avLst>
              <a:gd name="adj" fmla="val 5000"/>
            </a:avLst>
          </a:prstGeom>
          <a:solidFill>
            <a:srgbClr val="0A1628"/>
          </a:solidFill>
          <a:ln w="19050">
            <a:solidFill>
              <a:srgbClr val="F9E795"/>
            </a:solidFill>
          </a:ln>
        </p:spPr>
        <p:txBody>
          <a:bodyPr wrap="square" lIns="114300" tIns="91440" rIns="114300" bIns="91440" rtlCol="0" anchor="t"/>
          <a:lstStyle/>
          <a:p>
            <a:pPr algn="ctr">
              <a:buNone/>
            </a:pPr>
            <a:r>
              <a:rPr lang="en-US" sz="1400" b="1">
                <a:solidFill>
                  <a:srgbClr val="F9E795"/>
                </a:solidFill>
                <a:latin typeface="Trebuchet MS" pitchFamily="34" charset="0"/>
              </a:rPr>
              <a:t>Adapter</a:t>
            </a:r>
          </a:p>
          <a:p>
            <a:pPr algn="l">
              <a:buNone/>
            </a:pPr>
            <a:endParaRPr lang="en-US" sz="400"/>
          </a:p>
          <a:p>
            <a:pPr algn="l">
              <a:buNone/>
            </a:pPr>
            <a:r>
              <a:rPr lang="en-US" sz="900">
                <a:solidFill>
                  <a:srgbClr val="CBD5E1"/>
                </a:solidFill>
                <a:latin typeface="Calibri" pitchFamily="34" charset="0"/>
              </a:rPr>
              <a:t>Transforms output from the main container into a standardized format.</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Prometheus exporter</a:t>
            </a:r>
          </a:p>
          <a:p>
            <a:pPr algn="l">
              <a:buNone/>
            </a:pPr>
            <a:r>
              <a:rPr lang="en-US" sz="850">
                <a:solidFill>
                  <a:srgbClr val="CBD5E1"/>
                </a:solidFill>
                <a:latin typeface="Calibri" pitchFamily="34" charset="0"/>
              </a:rPr>
              <a:t>• Log format normalizer</a:t>
            </a:r>
          </a:p>
          <a:p>
            <a:pPr algn="l">
              <a:buNone/>
            </a:pPr>
            <a:r>
              <a:rPr lang="en-US" sz="850">
                <a:solidFill>
                  <a:srgbClr val="CBD5E1"/>
                </a:solidFill>
                <a:latin typeface="Calibri" pitchFamily="34" charset="0"/>
              </a:rPr>
              <a:t>• Data transformer sidecar</a:t>
            </a:r>
          </a:p>
          <a:p>
            <a:pPr algn="l">
              <a:buNone/>
            </a:pPr>
            <a:endParaRPr lang="en-US" sz="500"/>
          </a:p>
          <a:p>
            <a:pPr algn="ctr">
              <a:buNone/>
            </a:pPr>
            <a:r>
              <a:rPr lang="en-US" sz="800" i="1">
                <a:solidFill>
                  <a:srgbClr val="94A3B8"/>
                </a:solidFill>
                <a:latin typeface="Calibri" pitchFamily="34" charset="0"/>
              </a:rPr>
              <a:t>Diagram: [App] → custom metrics → [Adapter] → /metrics endpoint</a:t>
            </a:r>
          </a:p>
        </p:txBody>
      </p:sp>
      <p:sp>
        <p:nvSpPr>
          <p:cNvPr id="40" name="Note"/>
          <p:cNvSpPr/>
          <p:nvPr/>
        </p:nvSpPr>
        <p:spPr>
          <a:xfrm>
            <a:off x="548640" y="3886200"/>
            <a:ext cx="8046720" cy="45720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1000" b="1">
                <a:solidFill>
                  <a:srgbClr val="21D4FD"/>
                </a:solidFill>
                <a:latin typeface="Calibri" pitchFamily="34" charset="0"/>
              </a:rPr>
              <a:t>Key Principle:  </a:t>
            </a:r>
            <a:r>
              <a:rPr lang="en-US" sz="950">
                <a:solidFill>
                  <a:srgbClr val="CBD5E1"/>
                </a:solidFill>
                <a:latin typeface="Calibri" pitchFamily="34" charset="0"/>
              </a:rPr>
              <a:t>Only add a second container when it truly cannot function independently and must share the Pod's network or storage. The helper must serve the main container, not the other way around.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Containers Per Pod in Production</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What real-world clusters actually look like — and practical limits</a:t>
            </a:r>
          </a:p>
        </p:txBody>
      </p:sp>
      <p:sp>
        <p:nvSpPr>
          <p:cNvPr id="10" name="Stat1"/>
          <p:cNvSpPr/>
          <p:nvPr/>
        </p:nvSpPr>
        <p:spPr>
          <a:xfrm>
            <a:off x="548640" y="1097280"/>
            <a:ext cx="2011680" cy="1188720"/>
          </a:xfrm>
          <a:prstGeom prst="roundRect">
            <a:avLst>
              <a:gd name="adj" fmla="val 8000"/>
            </a:avLst>
          </a:prstGeom>
          <a:solidFill>
            <a:srgbClr val="0A1628"/>
          </a:solidFill>
          <a:ln w="19050">
            <a:solidFill>
              <a:srgbClr val="34D399"/>
            </a:solidFill>
          </a:ln>
        </p:spPr>
        <p:txBody>
          <a:bodyPr wrap="square" lIns="68580" tIns="45720" rIns="68580" bIns="45720" rtlCol="0" anchor="ctr"/>
          <a:lstStyle/>
          <a:p>
            <a:pPr algn="ctr">
              <a:buNone/>
            </a:pPr>
            <a:r>
              <a:rPr lang="en-US" sz="3600" b="1">
                <a:solidFill>
                  <a:srgbClr val="34D399"/>
                </a:solidFill>
                <a:latin typeface="Trebuchet MS" pitchFamily="34" charset="0"/>
              </a:rPr>
              <a:t>~95%</a:t>
            </a:r>
          </a:p>
          <a:p>
            <a:pPr algn="ctr">
              <a:buNone/>
            </a:pPr>
            <a:r>
              <a:rPr lang="en-US" sz="1000">
                <a:solidFill>
                  <a:srgbClr val="CBD5E1"/>
                </a:solidFill>
                <a:latin typeface="Calibri" pitchFamily="34" charset="0"/>
              </a:rPr>
              <a:t>1 container per pod</a:t>
            </a:r>
          </a:p>
          <a:p>
            <a:pPr algn="ctr">
              <a:buNone/>
            </a:pPr>
            <a:r>
              <a:rPr lang="en-US" sz="800">
                <a:solidFill>
                  <a:srgbClr val="94A3B8"/>
                </a:solidFill>
                <a:latin typeface="Calibri" pitchFamily="34" charset="0"/>
              </a:rPr>
              <a:t>Standard microservices</a:t>
            </a:r>
          </a:p>
        </p:txBody>
      </p:sp>
      <p:sp>
        <p:nvSpPr>
          <p:cNvPr id="11" name="Stat2"/>
          <p:cNvSpPr/>
          <p:nvPr/>
        </p:nvSpPr>
        <p:spPr>
          <a:xfrm>
            <a:off x="2743200" y="1097280"/>
            <a:ext cx="2011680" cy="1188720"/>
          </a:xfrm>
          <a:prstGeom prst="roundRect">
            <a:avLst>
              <a:gd name="adj" fmla="val 8000"/>
            </a:avLst>
          </a:prstGeom>
          <a:solidFill>
            <a:srgbClr val="0A1628"/>
          </a:solidFill>
          <a:ln w="19050">
            <a:solidFill>
              <a:srgbClr val="21D4FD"/>
            </a:solidFill>
          </a:ln>
        </p:spPr>
        <p:txBody>
          <a:bodyPr wrap="square" lIns="68580" tIns="45720" rIns="68580" bIns="45720" rtlCol="0" anchor="ctr"/>
          <a:lstStyle/>
          <a:p>
            <a:pPr algn="ctr">
              <a:buNone/>
            </a:pPr>
            <a:r>
              <a:rPr lang="en-US" sz="3600" b="1">
                <a:solidFill>
                  <a:srgbClr val="21D4FD"/>
                </a:solidFill>
                <a:latin typeface="Trebuchet MS" pitchFamily="34" charset="0"/>
              </a:rPr>
              <a:t>~4%</a:t>
            </a:r>
          </a:p>
          <a:p>
            <a:pPr algn="ctr">
              <a:buNone/>
            </a:pPr>
            <a:r>
              <a:rPr lang="en-US" sz="1000">
                <a:solidFill>
                  <a:srgbClr val="CBD5E1"/>
                </a:solidFill>
                <a:latin typeface="Calibri" pitchFamily="34" charset="0"/>
              </a:rPr>
              <a:t>2 containers per pod</a:t>
            </a:r>
          </a:p>
          <a:p>
            <a:pPr algn="ctr">
              <a:buNone/>
            </a:pPr>
            <a:r>
              <a:rPr lang="en-US" sz="800">
                <a:solidFill>
                  <a:srgbClr val="94A3B8"/>
                </a:solidFill>
                <a:latin typeface="Calibri" pitchFamily="34" charset="0"/>
              </a:rPr>
              <a:t>App + sidecar (logging/proxy)</a:t>
            </a:r>
          </a:p>
        </p:txBody>
      </p:sp>
      <p:sp>
        <p:nvSpPr>
          <p:cNvPr id="12" name="Stat3"/>
          <p:cNvSpPr/>
          <p:nvPr/>
        </p:nvSpPr>
        <p:spPr>
          <a:xfrm>
            <a:off x="4937760" y="1097280"/>
            <a:ext cx="2011680" cy="1188720"/>
          </a:xfrm>
          <a:prstGeom prst="roundRect">
            <a:avLst>
              <a:gd name="adj" fmla="val 8000"/>
            </a:avLst>
          </a:prstGeom>
          <a:solidFill>
            <a:srgbClr val="0A1628"/>
          </a:solidFill>
          <a:ln w="19050">
            <a:solidFill>
              <a:srgbClr val="F9E795"/>
            </a:solidFill>
          </a:ln>
        </p:spPr>
        <p:txBody>
          <a:bodyPr wrap="square" lIns="68580" tIns="45720" rIns="68580" bIns="45720" rtlCol="0" anchor="ctr"/>
          <a:lstStyle/>
          <a:p>
            <a:pPr algn="ctr">
              <a:buNone/>
            </a:pPr>
            <a:r>
              <a:rPr lang="en-US" sz="3600" b="1">
                <a:solidFill>
                  <a:srgbClr val="F9E795"/>
                </a:solidFill>
                <a:latin typeface="Trebuchet MS" pitchFamily="34" charset="0"/>
              </a:rPr>
              <a:t>~1%</a:t>
            </a:r>
          </a:p>
          <a:p>
            <a:pPr algn="ctr">
              <a:buNone/>
            </a:pPr>
            <a:r>
              <a:rPr lang="en-US" sz="1000">
                <a:solidFill>
                  <a:srgbClr val="CBD5E1"/>
                </a:solidFill>
                <a:latin typeface="Calibri" pitchFamily="34" charset="0"/>
              </a:rPr>
              <a:t>3+ containers per pod</a:t>
            </a:r>
          </a:p>
          <a:p>
            <a:pPr algn="ctr">
              <a:buNone/>
            </a:pPr>
            <a:r>
              <a:rPr lang="en-US" sz="800">
                <a:solidFill>
                  <a:srgbClr val="94A3B8"/>
                </a:solidFill>
                <a:latin typeface="Calibri" pitchFamily="34" charset="0"/>
              </a:rPr>
              <a:t>Service mesh + logging</a:t>
            </a:r>
          </a:p>
        </p:txBody>
      </p:sp>
      <p:sp>
        <p:nvSpPr>
          <p:cNvPr id="13" name="Stat4"/>
          <p:cNvSpPr/>
          <p:nvPr/>
        </p:nvSpPr>
        <p:spPr>
          <a:xfrm>
            <a:off x="7132320" y="1097280"/>
            <a:ext cx="1463040" cy="1188720"/>
          </a:xfrm>
          <a:prstGeom prst="roundRect">
            <a:avLst>
              <a:gd name="adj" fmla="val 8000"/>
            </a:avLst>
          </a:prstGeom>
          <a:solidFill>
            <a:srgbClr val="0A1628"/>
          </a:solidFill>
          <a:ln w="19050">
            <a:solidFill>
              <a:srgbClr val="F96167"/>
            </a:solidFill>
          </a:ln>
        </p:spPr>
        <p:txBody>
          <a:bodyPr wrap="square" lIns="68580" tIns="45720" rIns="68580" bIns="45720" rtlCol="0" anchor="ctr"/>
          <a:lstStyle/>
          <a:p>
            <a:pPr algn="ctr">
              <a:buNone/>
            </a:pPr>
            <a:r>
              <a:rPr lang="en-US" sz="2400" b="1">
                <a:solidFill>
                  <a:srgbClr val="F96167"/>
                </a:solidFill>
                <a:latin typeface="Trebuchet MS" pitchFamily="34" charset="0"/>
              </a:rPr>
              <a:t>Max</a:t>
            </a:r>
          </a:p>
          <a:p>
            <a:pPr algn="ctr">
              <a:buNone/>
            </a:pPr>
            <a:r>
              <a:rPr lang="en-US" sz="1000">
                <a:solidFill>
                  <a:srgbClr val="CBD5E1"/>
                </a:solidFill>
                <a:latin typeface="Calibri" pitchFamily="34" charset="0"/>
              </a:rPr>
              <a:t>No hard limit</a:t>
            </a:r>
          </a:p>
          <a:p>
            <a:pPr algn="ctr">
              <a:buNone/>
            </a:pPr>
            <a:r>
              <a:rPr lang="en-US" sz="800">
                <a:solidFill>
                  <a:srgbClr val="94A3B8"/>
                </a:solidFill>
                <a:latin typeface="Calibri" pitchFamily="34" charset="0"/>
              </a:rPr>
              <a:t>But 4+ is a red flag</a:t>
            </a:r>
          </a:p>
        </p:txBody>
      </p:sp>
      <p:sp>
        <p:nvSpPr>
          <p:cNvPr id="25" name="TableLabel"/>
          <p:cNvSpPr/>
          <p:nvPr/>
        </p:nvSpPr>
        <p:spPr>
          <a:xfrm>
            <a:off x="548640" y="2423160"/>
            <a:ext cx="804672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Decision Guide: Single vs Multi-Container</a:t>
            </a:r>
          </a:p>
        </p:txBody>
      </p:sp>
      <p:sp>
        <p:nvSpPr>
          <p:cNvPr id="26" name="TH"/>
          <p:cNvSpPr/>
          <p:nvPr/>
        </p:nvSpPr>
        <p:spPr>
          <a:xfrm>
            <a:off x="548640" y="2743200"/>
            <a:ext cx="8046720" cy="274320"/>
          </a:xfrm>
          <a:prstGeom prst="rect">
            <a:avLst/>
          </a:prstGeom>
          <a:solidFill>
            <a:srgbClr val="162D50"/>
          </a:solidFill>
          <a:ln/>
        </p:spPr>
        <p:txBody>
          <a:bodyPr wrap="square" lIns="137160" tIns="45720" rIns="137160" bIns="45720" rtlCol="0" anchor="ctr"/>
          <a:lstStyle/>
          <a:p>
            <a:pPr algn="l">
              <a:buNone/>
            </a:pPr>
            <a:r>
              <a:rPr lang="en-US" sz="900" b="1">
                <a:solidFill>
                  <a:srgbClr val="21D4FD"/>
                </a:solidFill>
                <a:latin typeface="Calibri" pitchFamily="34" charset="0"/>
              </a:rPr>
              <a:t>Question                                                                                                           Single Pod          Multi-Container</a:t>
            </a:r>
          </a:p>
        </p:txBody>
      </p:sp>
      <p:sp>
        <p:nvSpPr>
          <p:cNvPr id="27" name="R1"/>
          <p:cNvSpPr/>
          <p:nvPr/>
        </p:nvSpPr>
        <p:spPr>
          <a:xfrm>
            <a:off x="548640" y="3017520"/>
            <a:ext cx="8046720" cy="274320"/>
          </a:xfrm>
          <a:prstGeom prst="rect">
            <a:avLst/>
          </a:prstGeom>
          <a:solidFill>
            <a:srgbClr val="0A1628"/>
          </a:solidFill>
          <a:ln/>
        </p:spPr>
        <p:txBody>
          <a:bodyPr wrap="square" lIns="137160" tIns="45720" rIns="137160" bIns="45720" rtlCol="0" anchor="ctr"/>
          <a:lstStyle/>
          <a:p>
            <a:pPr algn="l">
              <a:buNone/>
            </a:pPr>
            <a:r>
              <a:rPr lang="en-US" sz="850">
                <a:solidFill>
                  <a:srgbClr val="CBD5E1"/>
                </a:solidFill>
                <a:latin typeface="Calibri" pitchFamily="34" charset="0"/>
              </a:rPr>
              <a:t>Can they scale independently?                                                                            ✓ Yes                      ✗ No</a:t>
            </a:r>
          </a:p>
        </p:txBody>
      </p:sp>
      <p:sp>
        <p:nvSpPr>
          <p:cNvPr id="28" name="R2"/>
          <p:cNvSpPr/>
          <p:nvPr/>
        </p:nvSpPr>
        <p:spPr>
          <a:xfrm>
            <a:off x="548640" y="3291840"/>
            <a:ext cx="8046720" cy="274320"/>
          </a:xfrm>
          <a:prstGeom prst="rect">
            <a:avLst/>
          </a:prstGeom>
          <a:solidFill>
            <a:srgbClr val="0F1B2D"/>
          </a:solidFill>
          <a:ln/>
        </p:spPr>
        <p:txBody>
          <a:bodyPr wrap="square" lIns="137160" tIns="45720" rIns="137160" bIns="45720" rtlCol="0" anchor="ctr"/>
          <a:lstStyle/>
          <a:p>
            <a:pPr algn="l">
              <a:buNone/>
            </a:pPr>
            <a:r>
              <a:rPr lang="en-US" sz="850">
                <a:solidFill>
                  <a:srgbClr val="CBD5E1"/>
                </a:solidFill>
                <a:latin typeface="Calibri" pitchFamily="34" charset="0"/>
              </a:rPr>
              <a:t>Must they share localhost networking?                                                                ✗ No                       ✓ Yes</a:t>
            </a:r>
          </a:p>
        </p:txBody>
      </p:sp>
      <p:sp>
        <p:nvSpPr>
          <p:cNvPr id="29" name="R3"/>
          <p:cNvSpPr/>
          <p:nvPr/>
        </p:nvSpPr>
        <p:spPr>
          <a:xfrm>
            <a:off x="548640" y="3566160"/>
            <a:ext cx="8046720" cy="274320"/>
          </a:xfrm>
          <a:prstGeom prst="rect">
            <a:avLst/>
          </a:prstGeom>
          <a:solidFill>
            <a:srgbClr val="0A1628"/>
          </a:solidFill>
          <a:ln/>
        </p:spPr>
        <p:txBody>
          <a:bodyPr wrap="square" lIns="137160" tIns="45720" rIns="137160" bIns="45720" rtlCol="0" anchor="ctr"/>
          <a:lstStyle/>
          <a:p>
            <a:pPr algn="l">
              <a:buNone/>
            </a:pPr>
            <a:r>
              <a:rPr lang="en-US" sz="850">
                <a:solidFill>
                  <a:srgbClr val="CBD5E1"/>
                </a:solidFill>
                <a:latin typeface="Calibri" pitchFamily="34" charset="0"/>
              </a:rPr>
              <a:t>Do they share files on a common volume?                                                           ✗ No                       ✓ Yes</a:t>
            </a:r>
          </a:p>
        </p:txBody>
      </p:sp>
      <p:sp>
        <p:nvSpPr>
          <p:cNvPr id="31" name="R4"/>
          <p:cNvSpPr/>
          <p:nvPr/>
        </p:nvSpPr>
        <p:spPr>
          <a:xfrm>
            <a:off x="548640" y="3840480"/>
            <a:ext cx="8046720" cy="274320"/>
          </a:xfrm>
          <a:prstGeom prst="rect">
            <a:avLst/>
          </a:prstGeom>
          <a:solidFill>
            <a:srgbClr val="0F1B2D"/>
          </a:solidFill>
          <a:ln/>
        </p:spPr>
        <p:txBody>
          <a:bodyPr wrap="square" lIns="137160" tIns="45720" rIns="137160" bIns="45720" rtlCol="0" anchor="ctr"/>
          <a:lstStyle/>
          <a:p>
            <a:pPr algn="l">
              <a:buNone/>
            </a:pPr>
            <a:r>
              <a:rPr lang="en-US" sz="850">
                <a:solidFill>
                  <a:srgbClr val="CBD5E1"/>
                </a:solidFill>
                <a:latin typeface="Calibri" pitchFamily="34" charset="0"/>
              </a:rPr>
              <a:t>Must they start/stop together as one unit?                                                          ✗ No                       ✓ Yes</a:t>
            </a:r>
          </a:p>
        </p:txBody>
      </p:sp>
      <p:sp>
        <p:nvSpPr>
          <p:cNvPr id="40" name="Takeaway"/>
          <p:cNvSpPr/>
          <p:nvPr/>
        </p:nvSpPr>
        <p:spPr>
          <a:xfrm>
            <a:off x="548640" y="4251960"/>
            <a:ext cx="8046720" cy="365760"/>
          </a:xfrm>
          <a:prstGeom prst="rect">
            <a:avLst/>
          </a:prstGeom>
          <a:noFill/>
          <a:ln/>
        </p:spPr>
        <p:txBody>
          <a:bodyPr wrap="square" lIns="0" tIns="0" rIns="0" bIns="0" rtlCol="0" anchor="ctr"/>
          <a:lstStyle/>
          <a:p>
            <a:pPr algn="ctr">
              <a:buNone/>
            </a:pPr>
            <a:r>
              <a:rPr lang="en-US" sz="950" i="1">
                <a:solidFill>
                  <a:srgbClr val="94A3B8"/>
                </a:solidFill>
                <a:latin typeface="Calibri" pitchFamily="34" charset="0"/>
              </a:rPr>
              <a:t>In service mesh environments (Istio/Linkerd), most pods have exactly 2 containers: the app + the Envoy sidecar proxy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1: Create Your First Pod</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Write and deploy your first Pod manifest from scratch</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dirty="0"/>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my-first-pod.yaml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dirty="0" err="1">
                <a:solidFill>
                  <a:srgbClr val="34D399"/>
                </a:solidFill>
                <a:latin typeface="Consolas" pitchFamily="34" charset="0"/>
              </a:rPr>
              <a:t>apiVersion</a:t>
            </a:r>
            <a:r>
              <a:rPr lang="en-US" sz="850" dirty="0">
                <a:solidFill>
                  <a:srgbClr val="FFFFFF"/>
                </a:solidFill>
                <a:latin typeface="Consolas" pitchFamily="34" charset="0"/>
              </a:rPr>
              <a:t>: v1</a:t>
            </a:r>
          </a:p>
          <a:p>
            <a:pPr algn="l">
              <a:buNone/>
            </a:pPr>
            <a:r>
              <a:rPr lang="en-US" sz="850" dirty="0">
                <a:solidFill>
                  <a:srgbClr val="34D399"/>
                </a:solidFill>
                <a:latin typeface="Consolas" pitchFamily="34" charset="0"/>
              </a:rPr>
              <a:t>kind</a:t>
            </a:r>
            <a:r>
              <a:rPr lang="en-US" sz="850" dirty="0">
                <a:solidFill>
                  <a:srgbClr val="FFFFFF"/>
                </a:solidFill>
                <a:latin typeface="Consolas" pitchFamily="34" charset="0"/>
              </a:rPr>
              <a:t>: Pod</a:t>
            </a:r>
          </a:p>
          <a:p>
            <a:pPr algn="l">
              <a:buNone/>
            </a:pPr>
            <a:r>
              <a:rPr lang="en-US" sz="850" dirty="0">
                <a:solidFill>
                  <a:srgbClr val="34D399"/>
                </a:solidFill>
                <a:latin typeface="Consolas" pitchFamily="34" charset="0"/>
              </a:rPr>
              <a:t>metadata</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name</a:t>
            </a:r>
            <a:r>
              <a:rPr lang="en-US" sz="850" dirty="0">
                <a:solidFill>
                  <a:srgbClr val="FFFFFF"/>
                </a:solidFill>
                <a:latin typeface="Consolas" pitchFamily="34" charset="0"/>
              </a:rPr>
              <a:t>: hello-pod</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labels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app</a:t>
            </a:r>
            <a:r>
              <a:rPr lang="en-US" sz="850" dirty="0">
                <a:solidFill>
                  <a:srgbClr val="FFFFFF"/>
                </a:solidFill>
                <a:latin typeface="Consolas" pitchFamily="34" charset="0"/>
              </a:rPr>
              <a:t>: hello</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tier</a:t>
            </a:r>
            <a:r>
              <a:rPr lang="en-US" sz="850" dirty="0">
                <a:solidFill>
                  <a:srgbClr val="FFFFFF"/>
                </a:solidFill>
                <a:latin typeface="Consolas" pitchFamily="34" charset="0"/>
              </a:rPr>
              <a:t>: frontend</a:t>
            </a:r>
          </a:p>
          <a:p>
            <a:pPr algn="l">
              <a:buNone/>
            </a:pPr>
            <a:r>
              <a:rPr lang="en-US" sz="850" dirty="0">
                <a:solidFill>
                  <a:srgbClr val="34D399"/>
                </a:solidFill>
                <a:latin typeface="Consolas" pitchFamily="34" charset="0"/>
              </a:rPr>
              <a:t>spec</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containers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a:solidFill>
                  <a:srgbClr val="34D399"/>
                </a:solidFill>
                <a:latin typeface="Consolas" pitchFamily="34" charset="0"/>
              </a:rPr>
              <a:t>name</a:t>
            </a:r>
            <a:r>
              <a:rPr lang="en-US" sz="850" dirty="0">
                <a:solidFill>
                  <a:srgbClr val="FFFFFF"/>
                </a:solidFill>
                <a:latin typeface="Consolas" pitchFamily="34" charset="0"/>
              </a:rPr>
              <a:t>: hello</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image</a:t>
            </a:r>
            <a:r>
              <a:rPr lang="en-US" sz="850" dirty="0">
                <a:solidFill>
                  <a:srgbClr val="FFFFFF"/>
                </a:solidFill>
                <a:latin typeface="Consolas" pitchFamily="34" charset="0"/>
              </a:rPr>
              <a:t>: nginx:1.25</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ports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err="1">
                <a:solidFill>
                  <a:srgbClr val="34D399"/>
                </a:solidFill>
                <a:latin typeface="Consolas" pitchFamily="34" charset="0"/>
              </a:rPr>
              <a:t>containerPort</a:t>
            </a:r>
            <a:r>
              <a:rPr lang="en-US" sz="850" dirty="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Create the File</a:t>
            </a:r>
          </a:p>
          <a:p>
            <a:pPr algn="l">
              <a:buNone/>
            </a:pPr>
            <a:r>
              <a:rPr lang="en-US" sz="800">
                <a:solidFill>
                  <a:srgbClr val="CBD5E1"/>
                </a:solidFill>
                <a:latin typeface="Calibri" pitchFamily="34" charset="0"/>
              </a:rPr>
              <a:t>Open your terminal and create a new file called my-first-pod.yaml using any text editor.</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Apply the Manifest</a:t>
            </a:r>
          </a:p>
          <a:p>
            <a:pPr algn="l">
              <a:buNone/>
            </a:pPr>
            <a:r>
              <a:rPr lang="en-US" sz="800">
                <a:solidFill>
                  <a:srgbClr val="CBD5E1"/>
                </a:solidFill>
                <a:latin typeface="Calibri" pitchFamily="34" charset="0"/>
              </a:rPr>
              <a:t>Run kubectl apply -f my-first-pod.yaml to create the Pod in your cluster.</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Verify the Pod</a:t>
            </a:r>
          </a:p>
          <a:p>
            <a:pPr algn="l">
              <a:buNone/>
            </a:pPr>
            <a:r>
              <a:rPr lang="en-US" sz="800">
                <a:solidFill>
                  <a:srgbClr val="CBD5E1"/>
                </a:solidFill>
                <a:latin typeface="Calibri" pitchFamily="34" charset="0"/>
              </a:rPr>
              <a:t>Run kubectl get pods to confirm your Pod is running. Check status shows Running.</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Try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get pods</a:t>
            </a:r>
          </a:p>
          <a:p>
            <a:pPr algn="l">
              <a:buNone/>
            </a:pPr>
            <a:r>
              <a:rPr lang="en-US" sz="750">
                <a:solidFill>
                  <a:srgbClr val="94A3B8"/>
                </a:solidFill>
                <a:latin typeface="Consolas" pitchFamily="34" charset="0"/>
              </a:rPr>
              <a:t>NAME        READY   STATUS    AGE</a:t>
            </a:r>
          </a:p>
          <a:p>
            <a:pPr algn="l">
              <a:buNone/>
            </a:pPr>
            <a:r>
              <a:rPr lang="en-US" sz="750">
                <a:solidFill>
                  <a:srgbClr val="94A3B8"/>
                </a:solidFill>
                <a:latin typeface="Consolas" pitchFamily="34" charset="0"/>
              </a:rPr>
              <a:t>hello-pod   1/1     Running   10s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2: Pod with Env Variables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Configure containers with environment variables and named ports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env-pod.yaml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env-demo</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labels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app</a:t>
            </a:r>
            <a:r>
              <a:rPr lang="en-US" sz="850">
                <a:solidFill>
                  <a:srgbClr val="FFFFFF"/>
                </a:solidFill>
                <a:latin typeface="Consolas" pitchFamily="34" charset="0"/>
              </a:rPr>
              <a:t>: env-demo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web</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http</a:t>
            </a:r>
          </a:p>
          <a:p>
            <a:pPr algn="l">
              <a:buNone/>
            </a:pPr>
            <a:r>
              <a:rPr lang="en-US" sz="850">
                <a:solidFill>
                  <a:srgbClr val="FFFFFF"/>
                </a:solidFill>
                <a:latin typeface="Consolas" pitchFamily="34" charset="0"/>
              </a:rPr>
              <a:t>      </a:t>
            </a:r>
            <a:r>
              <a:rPr lang="en-US" sz="850">
                <a:solidFill>
                  <a:srgbClr val="34D399"/>
                </a:solidFill>
                <a:latin typeface="Consolas" pitchFamily="34" charset="0"/>
              </a:rPr>
              <a:t>env</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APP_ENV</a:t>
            </a:r>
          </a:p>
          <a:p>
            <a:pPr algn="l">
              <a:buNone/>
            </a:pPr>
            <a:r>
              <a:rPr lang="en-US" sz="850">
                <a:solidFill>
                  <a:srgbClr val="FFFFFF"/>
                </a:solidFill>
                <a:latin typeface="Consolas" pitchFamily="34" charset="0"/>
              </a:rPr>
              <a:t>          </a:t>
            </a:r>
            <a:r>
              <a:rPr lang="en-US" sz="850">
                <a:solidFill>
                  <a:srgbClr val="34D399"/>
                </a:solidFill>
                <a:latin typeface="Consolas" pitchFamily="34" charset="0"/>
              </a:rPr>
              <a:t>value</a:t>
            </a:r>
            <a:r>
              <a:rPr lang="en-US" sz="850">
                <a:solidFill>
                  <a:srgbClr val="FFFFFF"/>
                </a:solidFill>
                <a:latin typeface="Consolas" pitchFamily="34" charset="0"/>
              </a:rPr>
              <a:t>: "production"</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LOG_LEVEL</a:t>
            </a:r>
          </a:p>
          <a:p>
            <a:pPr algn="l">
              <a:buNone/>
            </a:pPr>
            <a:r>
              <a:rPr lang="en-US" sz="850">
                <a:solidFill>
                  <a:srgbClr val="FFFFFF"/>
                </a:solidFill>
                <a:latin typeface="Consolas" pitchFamily="34" charset="0"/>
              </a:rPr>
              <a:t>          </a:t>
            </a:r>
            <a:r>
              <a:rPr lang="en-US" sz="850">
                <a:solidFill>
                  <a:srgbClr val="34D399"/>
                </a:solidFill>
                <a:latin typeface="Consolas" pitchFamily="34" charset="0"/>
              </a:rPr>
              <a:t>value</a:t>
            </a:r>
            <a:r>
              <a:rPr lang="en-US" sz="850">
                <a:solidFill>
                  <a:srgbClr val="FFFFFF"/>
                </a:solidFill>
                <a:latin typeface="Consolas" pitchFamily="34" charset="0"/>
              </a:rPr>
              <a:t>: "info"</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Add Environment Variables</a:t>
            </a:r>
          </a:p>
          <a:p>
            <a:pPr algn="l">
              <a:buNone/>
            </a:pPr>
            <a:r>
              <a:rPr lang="en-US" sz="800">
                <a:solidFill>
                  <a:srgbClr val="CBD5E1"/>
                </a:solidFill>
                <a:latin typeface="Calibri" pitchFamily="34" charset="0"/>
              </a:rPr>
              <a:t>Define env vars under the container spec using name-value pairs.</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Apply and Inspect</a:t>
            </a:r>
          </a:p>
          <a:p>
            <a:pPr algn="l">
              <a:buNone/>
            </a:pPr>
            <a:r>
              <a:rPr lang="en-US" sz="800">
                <a:solidFill>
                  <a:srgbClr val="CBD5E1"/>
                </a:solidFill>
                <a:latin typeface="Calibri" pitchFamily="34" charset="0"/>
              </a:rPr>
              <a:t>Apply the manifest, then run kubectl exec env-demo -- env to verify variables are set.</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Check Named Ports</a:t>
            </a:r>
          </a:p>
          <a:p>
            <a:pPr algn="l">
              <a:buNone/>
            </a:pPr>
            <a:r>
              <a:rPr lang="en-US" sz="800">
                <a:solidFill>
                  <a:srgbClr val="CBD5E1"/>
                </a:solidFill>
                <a:latin typeface="Calibri" pitchFamily="34" charset="0"/>
              </a:rPr>
              <a:t>Run kubectl describe pod env-demo and look for the Ports section showing http:80/TCP.</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exec env-demo -- printenv APP_ENV</a:t>
            </a:r>
          </a:p>
          <a:p>
            <a:pPr algn="l">
              <a:buNone/>
            </a:pPr>
            <a:r>
              <a:rPr lang="en-US" sz="750">
                <a:solidFill>
                  <a:srgbClr val="94A3B8"/>
                </a:solidFill>
                <a:latin typeface="Consolas" pitchFamily="34" charset="0"/>
              </a:rPr>
              <a:t>production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3: Pod with Resource Limits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Control CPU and memory allocation with requests and limits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resource-pod.yaml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resource-demo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stress-test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resources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requests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memory</a:t>
            </a:r>
            <a:r>
              <a:rPr lang="en-US" sz="850">
                <a:solidFill>
                  <a:srgbClr val="FFFFFF"/>
                </a:solidFill>
                <a:latin typeface="Consolas" pitchFamily="34" charset="0"/>
              </a:rPr>
              <a:t>: "64Mi"</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cpu</a:t>
            </a:r>
            <a:r>
              <a:rPr lang="en-US" sz="850">
                <a:solidFill>
                  <a:srgbClr val="FFFFFF"/>
                </a:solidFill>
                <a:latin typeface="Consolas" pitchFamily="34" charset="0"/>
              </a:rPr>
              <a:t>: "250m"</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limits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memory</a:t>
            </a:r>
            <a:r>
              <a:rPr lang="en-US" sz="850">
                <a:solidFill>
                  <a:srgbClr val="FFFFFF"/>
                </a:solidFill>
                <a:latin typeface="Consolas" pitchFamily="34" charset="0"/>
              </a:rPr>
              <a:t>: "128Mi"</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cpu</a:t>
            </a:r>
            <a:r>
              <a:rPr lang="en-US" sz="850">
                <a:solidFill>
                  <a:srgbClr val="FFFFFF"/>
                </a:solidFill>
                <a:latin typeface="Consolas" pitchFamily="34" charset="0"/>
              </a:rPr>
              <a:t>: "500m"</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Set Resource Requests</a:t>
            </a:r>
          </a:p>
          <a:p>
            <a:pPr algn="l">
              <a:buNone/>
            </a:pPr>
            <a:r>
              <a:rPr lang="en-US" sz="800">
                <a:solidFill>
                  <a:srgbClr val="CBD5E1"/>
                </a:solidFill>
                <a:latin typeface="Calibri" pitchFamily="34" charset="0"/>
              </a:rPr>
              <a:t>Requests define the minimum guaranteed resources. The scheduler uses these for placement.</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Set Resource Limits</a:t>
            </a:r>
          </a:p>
          <a:p>
            <a:pPr algn="l">
              <a:buNone/>
            </a:pPr>
            <a:r>
              <a:rPr lang="en-US" sz="800">
                <a:solidFill>
                  <a:srgbClr val="CBD5E1"/>
                </a:solidFill>
                <a:latin typeface="Calibri" pitchFamily="34" charset="0"/>
              </a:rPr>
              <a:t>Limits cap maximum usage. Exceeding memory limits triggers an OOMKill; CPU gets throttled.</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Inspect Allocations</a:t>
            </a:r>
          </a:p>
          <a:p>
            <a:pPr algn="l">
              <a:buNone/>
            </a:pPr>
            <a:r>
              <a:rPr lang="en-US" sz="800">
                <a:solidFill>
                  <a:srgbClr val="CBD5E1"/>
                </a:solidFill>
                <a:latin typeface="Calibri" pitchFamily="34" charset="0"/>
              </a:rPr>
              <a:t>Run kubectl describe pod resource-demo and check the Requests and Limits sections.</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describe pod resource-demo | grep -A4 Limits</a:t>
            </a:r>
          </a:p>
          <a:p>
            <a:pPr algn="l">
              <a:buNone/>
            </a:pPr>
            <a:r>
              <a:rPr lang="en-US" sz="750">
                <a:solidFill>
                  <a:srgbClr val="94A3B8"/>
                </a:solidFill>
                <a:latin typeface="Consolas" pitchFamily="34" charset="0"/>
              </a:rPr>
              <a:t>cpu: 500m, memory: 128Mi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4: Pod with Health Probes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Add liveness and readiness probes to ensure container health</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health-pod.yaml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health-demo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web</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livenessProbe</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httpGet</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path</a:t>
            </a:r>
            <a:r>
              <a:rPr lang="en-US" sz="850">
                <a:solidFill>
                  <a:srgbClr val="FFFFFF"/>
                </a:solidFill>
                <a:latin typeface="Consolas" pitchFamily="34" charset="0"/>
              </a:rPr>
              <a:t>: /</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initialDelaySeconds</a:t>
            </a:r>
            <a:r>
              <a:rPr lang="en-US" sz="850">
                <a:solidFill>
                  <a:srgbClr val="FFFFFF"/>
                </a:solidFill>
                <a:latin typeface="Consolas" pitchFamily="34" charset="0"/>
              </a:rPr>
              <a:t>: 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periodSeconds</a:t>
            </a:r>
            <a:r>
              <a:rPr lang="en-US" sz="850">
                <a:solidFill>
                  <a:srgbClr val="FFFFFF"/>
                </a:solidFill>
                <a:latin typeface="Consolas" pitchFamily="34" charset="0"/>
              </a:rPr>
              <a:t>: 10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readinessProbe</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httpGet</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path</a:t>
            </a:r>
            <a:r>
              <a:rPr lang="en-US" sz="850">
                <a:solidFill>
                  <a:srgbClr val="FFFFFF"/>
                </a:solidFill>
                <a:latin typeface="Consolas" pitchFamily="34" charset="0"/>
              </a:rPr>
              <a:t>: /</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initialDelaySeconds</a:t>
            </a:r>
            <a:r>
              <a:rPr lang="en-US" sz="850">
                <a:solidFill>
                  <a:srgbClr val="FFFFFF"/>
                </a:solidFill>
                <a:latin typeface="Consolas" pitchFamily="34" charset="0"/>
              </a:rPr>
              <a:t>: 3</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periodSeconds</a:t>
            </a:r>
            <a:r>
              <a:rPr lang="en-US" sz="850">
                <a:solidFill>
                  <a:srgbClr val="FFFFFF"/>
                </a:solidFill>
                <a:latin typeface="Consolas" pitchFamily="34" charset="0"/>
              </a:rPr>
              <a:t>: 5</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Add Liveness Probe</a:t>
            </a:r>
          </a:p>
          <a:p>
            <a:pPr algn="l">
              <a:buNone/>
            </a:pPr>
            <a:r>
              <a:rPr lang="en-US" sz="800">
                <a:solidFill>
                  <a:srgbClr val="CBD5E1"/>
                </a:solidFill>
                <a:latin typeface="Calibri" pitchFamily="34" charset="0"/>
              </a:rPr>
              <a:t>Liveness probes detect stuck containers. K8s restarts the container if the probe fails.</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Add Readiness Probe</a:t>
            </a:r>
          </a:p>
          <a:p>
            <a:pPr algn="l">
              <a:buNone/>
            </a:pPr>
            <a:r>
              <a:rPr lang="en-US" sz="800">
                <a:solidFill>
                  <a:srgbClr val="CBD5E1"/>
                </a:solidFill>
                <a:latin typeface="Calibri" pitchFamily="34" charset="0"/>
              </a:rPr>
              <a:t>Readiness probes control traffic routing. The Pod only receives traffic when ready.</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Watch Probe Status</a:t>
            </a:r>
          </a:p>
          <a:p>
            <a:pPr algn="l">
              <a:buNone/>
            </a:pPr>
            <a:r>
              <a:rPr lang="en-US" sz="800">
                <a:solidFill>
                  <a:srgbClr val="CBD5E1"/>
                </a:solidFill>
                <a:latin typeface="Calibri" pitchFamily="34" charset="0"/>
              </a:rPr>
              <a:t>Run kubectl describe pod health-demo and check the Events section for probe activity.</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Monitor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describe pod health-demo | grep -A2 Liveness</a:t>
            </a:r>
          </a:p>
          <a:p>
            <a:pPr algn="l">
              <a:buNone/>
            </a:pPr>
            <a:r>
              <a:rPr lang="en-US" sz="750">
                <a:solidFill>
                  <a:srgbClr val="94A3B8"/>
                </a:solidFill>
                <a:latin typeface="Consolas" pitchFamily="34" charset="0"/>
              </a:rPr>
              <a:t>Liveness: http-get http://:80/ delay=5s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5: Multi-Container Pod</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Deploy a sidecar pattern with shared volume between containers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sidecar-pod.yaml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750">
                <a:solidFill>
                  <a:srgbClr val="34D399"/>
                </a:solidFill>
                <a:latin typeface="Consolas" pitchFamily="34" charset="0"/>
              </a:rPr>
              <a:t>apiVersion</a:t>
            </a:r>
            <a:r>
              <a:rPr lang="en-US" sz="750">
                <a:solidFill>
                  <a:srgbClr val="FFFFFF"/>
                </a:solidFill>
                <a:latin typeface="Consolas" pitchFamily="34" charset="0"/>
              </a:rPr>
              <a:t>: v1</a:t>
            </a:r>
          </a:p>
          <a:p>
            <a:pPr algn="l">
              <a:buNone/>
            </a:pPr>
            <a:r>
              <a:rPr lang="en-US" sz="750">
                <a:solidFill>
                  <a:srgbClr val="34D399"/>
                </a:solidFill>
                <a:latin typeface="Consolas" pitchFamily="34" charset="0"/>
              </a:rPr>
              <a:t>kind</a:t>
            </a:r>
            <a:r>
              <a:rPr lang="en-US" sz="750">
                <a:solidFill>
                  <a:srgbClr val="FFFFFF"/>
                </a:solidFill>
                <a:latin typeface="Consolas" pitchFamily="34" charset="0"/>
              </a:rPr>
              <a:t>: Pod</a:t>
            </a:r>
          </a:p>
          <a:p>
            <a:pPr algn="l">
              <a:buNone/>
            </a:pPr>
            <a:r>
              <a:rPr lang="en-US" sz="750">
                <a:solidFill>
                  <a:srgbClr val="34D399"/>
                </a:solidFill>
                <a:latin typeface="Consolas" pitchFamily="34" charset="0"/>
              </a:rPr>
              <a:t>metadata</a:t>
            </a:r>
            <a:r>
              <a:rPr lang="en-US" sz="750">
                <a:solidFill>
                  <a:srgbClr val="FFFFFF"/>
                </a:solidFill>
                <a:latin typeface="Consolas" pitchFamily="34" charset="0"/>
              </a:rPr>
              <a:t>:</a:t>
            </a:r>
          </a:p>
          <a:p>
            <a:pPr algn="l">
              <a:buNone/>
            </a:pPr>
            <a:r>
              <a:rPr lang="en-US" sz="750">
                <a:solidFill>
                  <a:srgbClr val="FFFFFF"/>
                </a:solidFill>
                <a:latin typeface="Consolas" pitchFamily="34" charset="0"/>
              </a:rPr>
              <a:t>  </a:t>
            </a:r>
            <a:r>
              <a:rPr lang="en-US" sz="750">
                <a:solidFill>
                  <a:srgbClr val="34D399"/>
                </a:solidFill>
                <a:latin typeface="Consolas" pitchFamily="34" charset="0"/>
              </a:rPr>
              <a:t>name</a:t>
            </a:r>
            <a:r>
              <a:rPr lang="en-US" sz="750">
                <a:solidFill>
                  <a:srgbClr val="FFFFFF"/>
                </a:solidFill>
                <a:latin typeface="Consolas" pitchFamily="34" charset="0"/>
              </a:rPr>
              <a:t>: sidecar-demo</a:t>
            </a:r>
          </a:p>
          <a:p>
            <a:pPr algn="l">
              <a:buNone/>
            </a:pPr>
            <a:r>
              <a:rPr lang="en-US" sz="750">
                <a:solidFill>
                  <a:srgbClr val="34D399"/>
                </a:solidFill>
                <a:latin typeface="Consolas" pitchFamily="34" charset="0"/>
              </a:rPr>
              <a:t>spec</a:t>
            </a:r>
            <a:r>
              <a:rPr lang="en-US" sz="750">
                <a:solidFill>
                  <a:srgbClr val="FFFFFF"/>
                </a:solidFill>
                <a:latin typeface="Consolas" pitchFamily="34" charset="0"/>
              </a:rPr>
              <a:t>:</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emptyDir</a:t>
            </a:r>
            <a:r>
              <a:rPr lang="en-US" sz="750">
                <a:solidFill>
                  <a:srgbClr val="FFFFFF"/>
                </a:solidFill>
                <a:latin typeface="Consolas" pitchFamily="34" charset="0"/>
              </a:rPr>
              <a:t>: {}</a:t>
            </a:r>
          </a:p>
          <a:p>
            <a:pPr algn="l">
              <a:buNone/>
            </a:pPr>
            <a:r>
              <a:rPr lang="en-US" sz="750">
                <a:solidFill>
                  <a:srgbClr val="FFFFFF"/>
                </a:solidFill>
                <a:latin typeface="Consolas" pitchFamily="34" charset="0"/>
              </a:rPr>
              <a:t>  </a:t>
            </a:r>
            <a:r>
              <a:rPr lang="en-US" sz="750">
                <a:solidFill>
                  <a:srgbClr val="34D399"/>
                </a:solidFill>
                <a:latin typeface="Consolas" pitchFamily="34" charset="0"/>
              </a:rPr>
              <a:t>containers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app</a:t>
            </a:r>
          </a:p>
          <a:p>
            <a:pPr algn="l">
              <a:buNone/>
            </a:pPr>
            <a:r>
              <a:rPr lang="en-US" sz="750">
                <a:solidFill>
                  <a:srgbClr val="FFFFFF"/>
                </a:solidFill>
                <a:latin typeface="Consolas" pitchFamily="34" charset="0"/>
              </a:rPr>
              <a:t>      </a:t>
            </a:r>
            <a:r>
              <a:rPr lang="en-US" sz="750">
                <a:solidFill>
                  <a:srgbClr val="34D399"/>
                </a:solidFill>
                <a:latin typeface="Consolas" pitchFamily="34" charset="0"/>
              </a:rPr>
              <a:t>image</a:t>
            </a:r>
            <a:r>
              <a:rPr lang="en-US" sz="750">
                <a:solidFill>
                  <a:srgbClr val="FFFFFF"/>
                </a:solidFill>
                <a:latin typeface="Consolas" pitchFamily="34" charset="0"/>
              </a:rPr>
              <a:t>: nginx:1.25</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volumeMounts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mountPath</a:t>
            </a:r>
            <a:r>
              <a:rPr lang="en-US" sz="750">
                <a:solidFill>
                  <a:srgbClr val="FFFFFF"/>
                </a:solidFill>
                <a:latin typeface="Consolas" pitchFamily="34" charset="0"/>
              </a:rPr>
              <a:t>: /var/log/nginx</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log-reader</a:t>
            </a:r>
          </a:p>
          <a:p>
            <a:pPr algn="l">
              <a:buNone/>
            </a:pPr>
            <a:r>
              <a:rPr lang="en-US" sz="750">
                <a:solidFill>
                  <a:srgbClr val="FFFFFF"/>
                </a:solidFill>
                <a:latin typeface="Consolas" pitchFamily="34" charset="0"/>
              </a:rPr>
              <a:t>      </a:t>
            </a:r>
            <a:r>
              <a:rPr lang="en-US" sz="750">
                <a:solidFill>
                  <a:srgbClr val="34D399"/>
                </a:solidFill>
                <a:latin typeface="Consolas" pitchFamily="34" charset="0"/>
              </a:rPr>
              <a:t>image</a:t>
            </a:r>
            <a:r>
              <a:rPr lang="en-US" sz="750">
                <a:solidFill>
                  <a:srgbClr val="FFFFFF"/>
                </a:solidFill>
                <a:latin typeface="Consolas" pitchFamily="34" charset="0"/>
              </a:rPr>
              <a:t>: busybox:1.36</a:t>
            </a:r>
          </a:p>
          <a:p>
            <a:pPr algn="l">
              <a:buNone/>
            </a:pPr>
            <a:r>
              <a:rPr lang="en-US" sz="750">
                <a:solidFill>
                  <a:srgbClr val="FFFFFF"/>
                </a:solidFill>
                <a:latin typeface="Consolas" pitchFamily="34" charset="0"/>
              </a:rPr>
              <a:t>      </a:t>
            </a:r>
            <a:r>
              <a:rPr lang="en-US" sz="750">
                <a:solidFill>
                  <a:srgbClr val="34D399"/>
                </a:solidFill>
                <a:latin typeface="Consolas" pitchFamily="34" charset="0"/>
              </a:rPr>
              <a:t>command</a:t>
            </a:r>
            <a:r>
              <a:rPr lang="en-US" sz="750">
                <a:solidFill>
                  <a:srgbClr val="FFFFFF"/>
                </a:solidFill>
                <a:latin typeface="Consolas" pitchFamily="34" charset="0"/>
              </a:rPr>
              <a:t>: ["sh","-c","tail -f</a:t>
            </a:r>
          </a:p>
          <a:p>
            <a:pPr algn="l">
              <a:buNone/>
            </a:pPr>
            <a:r>
              <a:rPr lang="en-US" sz="750">
                <a:solidFill>
                  <a:srgbClr val="FFFFFF"/>
                </a:solidFill>
                <a:latin typeface="Consolas" pitchFamily="34" charset="0"/>
              </a:rPr>
              <a:t>        /logs/access.log"]</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volumeMounts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mountPath</a:t>
            </a:r>
            <a:r>
              <a:rPr lang="en-US" sz="750">
                <a:solidFill>
                  <a:srgbClr val="FFFFFF"/>
                </a:solidFill>
                <a:latin typeface="Consolas" pitchFamily="34" charset="0"/>
              </a:rPr>
              <a:t>: /logs</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Define Shared Volume</a:t>
            </a:r>
          </a:p>
          <a:p>
            <a:pPr algn="l">
              <a:buNone/>
            </a:pPr>
            <a:r>
              <a:rPr lang="en-US" sz="800">
                <a:solidFill>
                  <a:srgbClr val="CBD5E1"/>
                </a:solidFill>
                <a:latin typeface="Calibri" pitchFamily="34" charset="0"/>
              </a:rPr>
              <a:t>Create an emptyDir volume that both containers can mount to exchange data.</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Mount in Both Containers</a:t>
            </a:r>
          </a:p>
          <a:p>
            <a:pPr algn="l">
              <a:buNone/>
            </a:pPr>
            <a:r>
              <a:rPr lang="en-US" sz="800">
                <a:solidFill>
                  <a:srgbClr val="CBD5E1"/>
                </a:solidFill>
                <a:latin typeface="Calibri" pitchFamily="34" charset="0"/>
              </a:rPr>
              <a:t>Mount the volume at different paths in each container. Nginx writes logs, sidecar reads them.</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Verify Both Containers</a:t>
            </a:r>
          </a:p>
          <a:p>
            <a:pPr algn="l">
              <a:buNone/>
            </a:pPr>
            <a:r>
              <a:rPr lang="en-US" sz="800">
                <a:solidFill>
                  <a:srgbClr val="CBD5E1"/>
                </a:solidFill>
                <a:latin typeface="Calibri" pitchFamily="34" charset="0"/>
              </a:rPr>
              <a:t>Run kubectl get pod sidecar-demo to confirm READY shows 2/2, meaning both containers run.</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logs sidecar-demo -c log-reader</a:t>
            </a:r>
          </a:p>
          <a:p>
            <a:pPr algn="l">
              <a:buNone/>
            </a:pPr>
            <a:r>
              <a:rPr lang="en-US" sz="750">
                <a:solidFill>
                  <a:srgbClr val="94A3B8"/>
                </a:solidFill>
                <a:latin typeface="Consolas" pitchFamily="34" charset="0"/>
              </a:rPr>
              <a:t>[tailing /logs/access.log...]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B49A-80F2-38EA-16FC-17B3FE7B38DB}"/>
              </a:ext>
            </a:extLst>
          </p:cNvPr>
          <p:cNvSpPr>
            <a:spLocks noGrp="1"/>
          </p:cNvSpPr>
          <p:nvPr>
            <p:ph type="ctrTitle"/>
          </p:nvPr>
        </p:nvSpPr>
        <p:spPr/>
        <p:txBody>
          <a:bodyPr/>
          <a:lstStyle/>
          <a:p>
            <a:r>
              <a:rPr lang="en-US" dirty="0"/>
              <a:t>Links to access Hands-on Guide</a:t>
            </a:r>
          </a:p>
        </p:txBody>
      </p:sp>
      <p:sp>
        <p:nvSpPr>
          <p:cNvPr id="3" name="Subtitle 2">
            <a:extLst>
              <a:ext uri="{FF2B5EF4-FFF2-40B4-BE49-F238E27FC236}">
                <a16:creationId xmlns:a16="http://schemas.microsoft.com/office/drawing/2014/main" id="{DBD7EB28-CB44-9BDD-9C9D-9DB6E84854C3}"/>
              </a:ext>
            </a:extLst>
          </p:cNvPr>
          <p:cNvSpPr>
            <a:spLocks noGrp="1"/>
          </p:cNvSpPr>
          <p:nvPr>
            <p:ph type="subTitle" idx="1"/>
          </p:nvPr>
        </p:nvSpPr>
        <p:spPr/>
        <p:txBody>
          <a:bodyPr/>
          <a:lstStyle/>
          <a:p>
            <a:r>
              <a:rPr lang="en-US" sz="1200"/>
              <a:t>https://atul-matkawala-232.github.io/K8s-material/K8s-Replicaset/k8s-rc-replicaset-handson.html</a:t>
            </a:r>
          </a:p>
          <a:p>
            <a:endParaRPr lang="en-US" sz="1200" dirty="0"/>
          </a:p>
        </p:txBody>
      </p:sp>
    </p:spTree>
    <p:extLst>
      <p:ext uri="{BB962C8B-B14F-4D97-AF65-F5344CB8AC3E}">
        <p14:creationId xmlns:p14="http://schemas.microsoft.com/office/powerpoint/2010/main" val="117957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1043</TotalTime>
  <Words>4203</Words>
  <Application>Microsoft Macintosh PowerPoint</Application>
  <PresentationFormat>On-screen Show (16:9)</PresentationFormat>
  <Paragraphs>796</Paragraphs>
  <Slides>36</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Aptos</vt:lpstr>
      <vt:lpstr>Aptos Display</vt:lpstr>
      <vt:lpstr>Arial</vt:lpstr>
      <vt:lpstr>Calibri</vt:lpstr>
      <vt:lpstr>Consolas</vt:lpstr>
      <vt:lpstr>Trebuchet MS</vt:lpstr>
      <vt:lpstr>Office Theme</vt:lpstr>
      <vt:lpstr>Office Theme</vt:lpstr>
      <vt:lpstr>PowerPoint Presentation</vt:lpstr>
      <vt:lpstr>PowerPoint Presentation</vt:lpstr>
      <vt:lpstr>PowerPoint Presentation</vt:lpstr>
      <vt:lpstr>PowerPoint Presentation</vt:lpstr>
      <vt:lpstr>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YAML for 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Pods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Links to access Hands-on Guide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Matkawala</dc:creator>
  <cp:lastModifiedBy>Atul Matkawala</cp:lastModifiedBy>
  <cp:revision>4</cp:revision>
  <dcterms:created xsi:type="dcterms:W3CDTF">2026-05-05T04:45:04Z</dcterms:created>
  <dcterms:modified xsi:type="dcterms:W3CDTF">2026-05-21T12:55:30Z</dcterms:modified>
</cp:coreProperties>
</file>